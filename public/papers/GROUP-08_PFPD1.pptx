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6"/>
  </p:notesMasterIdLst>
  <p:sldIdLst>
    <p:sldId id="256" r:id="rId2"/>
    <p:sldId id="258" r:id="rId3"/>
    <p:sldId id="257" r:id="rId4"/>
    <p:sldId id="259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60" r:id="rId14"/>
    <p:sldId id="261" r:id="rId15"/>
    <p:sldId id="265" r:id="rId16"/>
    <p:sldId id="262" r:id="rId17"/>
    <p:sldId id="263" r:id="rId18"/>
    <p:sldId id="268" r:id="rId19"/>
    <p:sldId id="267" r:id="rId20"/>
    <p:sldId id="270" r:id="rId21"/>
    <p:sldId id="271" r:id="rId22"/>
    <p:sldId id="272" r:id="rId23"/>
    <p:sldId id="269" r:id="rId24"/>
    <p:sldId id="273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3" autoAdjust="0"/>
    <p:restoredTop sz="94737" autoAdjust="0"/>
  </p:normalViewPr>
  <p:slideViewPr>
    <p:cSldViewPr snapToGrid="0">
      <p:cViewPr varScale="1">
        <p:scale>
          <a:sx n="75" d="100"/>
          <a:sy n="75" d="100"/>
        </p:scale>
        <p:origin x="1694" y="5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notesMaster" Target="notesMasters/notesMaster1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viewProps" Target="viewProps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presProps" Target="presProps.xml" /><Relationship Id="rId30" Type="http://schemas.openxmlformats.org/officeDocument/2006/relationships/tableStyles" Target="tableStyles.xml" 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6CBF4666688AC141/ProjectS6%20PPT%20Format_PMEC%202026_Pie.xlsx" TargetMode="External" /><Relationship Id="rId2" Type="http://schemas.microsoft.com/office/2011/relationships/chartColorStyle" Target="colors1.xml" /><Relationship Id="rId1" Type="http://schemas.microsoft.com/office/2011/relationships/chartStyle" Target="style1.xml" 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6CBF4666688AC141/ProjectS6%20PPT%20Format_PMEC%202026_BarClustered%201.xlsx" TargetMode="External" /><Relationship Id="rId2" Type="http://schemas.microsoft.com/office/2011/relationships/chartColorStyle" Target="colors2.xml" /><Relationship Id="rId1" Type="http://schemas.microsoft.com/office/2011/relationships/chartStyle" Target="style2.xml" 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>
                <a:solidFill>
                  <a:schemeClr val="tx1"/>
                </a:solidFill>
              </a:rPr>
              <a:t>NUMBER OF DIGITAL USERS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50"/>
      <c:rotY val="0"/>
      <c:depthPercent val="100"/>
      <c:rAngAx val="0"/>
      <c:perspective val="6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%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c:spPr>
            <c:extLst>
              <c:ext xmlns:c16="http://schemas.microsoft.com/office/drawing/2014/chart" uri="{C3380CC4-5D6E-409C-BE32-E72D297353CC}">
                <c16:uniqueId val="{00000001-2040-4E10-979E-2AF733D69154}"/>
              </c:ext>
            </c:extLst>
          </c:dPt>
          <c:dPt>
            <c:idx val="1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c:spPr>
            <c:extLst>
              <c:ext xmlns:c16="http://schemas.microsoft.com/office/drawing/2014/chart" uri="{C3380CC4-5D6E-409C-BE32-E72D297353CC}">
                <c16:uniqueId val="{00000003-2040-4E10-979E-2AF733D69154}"/>
              </c:ext>
            </c:extLst>
          </c:dPt>
          <c:dPt>
            <c:idx val="2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c:spPr>
            <c:extLst>
              <c:ext xmlns:c16="http://schemas.microsoft.com/office/drawing/2014/chart" uri="{C3380CC4-5D6E-409C-BE32-E72D297353CC}">
                <c16:uniqueId val="{00000005-2040-4E10-979E-2AF733D6915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dk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IT</c:v>
                </c:pt>
                <c:pt idx="1">
                  <c:v>Student</c:v>
                </c:pt>
                <c:pt idx="2">
                  <c:v>General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</c:v>
                </c:pt>
                <c:pt idx="1">
                  <c:v>30</c:v>
                </c:pt>
                <c:pt idx="2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040-4E10-979E-2AF733D69154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alpha val="78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pattFill prst="dkDnDiag">
      <a:fgClr>
        <a:schemeClr val="lt1">
          <a:lumMod val="95000"/>
        </a:schemeClr>
      </a:fgClr>
      <a:bgClr>
        <a:schemeClr val="lt1"/>
      </a:bgClr>
    </a:patt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62" b="1" i="0" u="none" strike="noStrike" baseline="0" dirty="0">
                <a:solidFill>
                  <a:schemeClr val="tx1"/>
                </a:solidFill>
              </a:rPr>
              <a:t>Market Comparison</a:t>
            </a:r>
            <a:endParaRPr lang="en-US" b="1" dirty="0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Price (INR)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Kinesis Advantage360 Pro</c:v>
                </c:pt>
                <c:pt idx="1">
                  <c:v>CIDOO ABM066</c:v>
                </c:pt>
                <c:pt idx="2">
                  <c:v>Royal Kludge A70</c:v>
                </c:pt>
                <c:pt idx="3">
                  <c:v>YMDK Corne Split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70000</c:v>
                </c:pt>
                <c:pt idx="1">
                  <c:v>8000</c:v>
                </c:pt>
                <c:pt idx="2">
                  <c:v>9800</c:v>
                </c:pt>
                <c:pt idx="3">
                  <c:v>10000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FFD-4F58-90D5-061A025CF5F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Budget Fit (10K)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Kinesis Advantage360 Pro</c:v>
                </c:pt>
                <c:pt idx="1">
                  <c:v>CIDOO ABM066</c:v>
                </c:pt>
                <c:pt idx="2">
                  <c:v>Royal Kludge A70</c:v>
                </c:pt>
                <c:pt idx="3">
                  <c:v>YMDK Corne Split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FFD-4F58-90D5-061A025CF5F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True Split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Kinesis Advantage360 Pro</c:v>
                </c:pt>
                <c:pt idx="1">
                  <c:v>CIDOO ABM066</c:v>
                </c:pt>
                <c:pt idx="2">
                  <c:v>Royal Kludge A70</c:v>
                </c:pt>
                <c:pt idx="3">
                  <c:v>YMDK Corne Split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FFD-4F58-90D5-061A025CF5F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Ergonomic Level (1-5)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Kinesis Advantage360 Pro</c:v>
                </c:pt>
                <c:pt idx="1">
                  <c:v>CIDOO ABM066</c:v>
                </c:pt>
                <c:pt idx="2">
                  <c:v>Royal Kludge A70</c:v>
                </c:pt>
                <c:pt idx="3">
                  <c:v>YMDK Corne Split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5</c:v>
                </c:pt>
                <c:pt idx="1">
                  <c:v>3</c:v>
                </c:pt>
                <c:pt idx="2">
                  <c:v>3</c:v>
                </c:pt>
                <c:pt idx="3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FFD-4F58-90D5-061A025CF5FA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Tenting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Kinesis Advantage360 Pro</c:v>
                </c:pt>
                <c:pt idx="1">
                  <c:v>CIDOO ABM066</c:v>
                </c:pt>
                <c:pt idx="2">
                  <c:v>Royal Kludge A70</c:v>
                </c:pt>
                <c:pt idx="3">
                  <c:v>YMDK Corne Split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FFD-4F58-90D5-061A025CF5FA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Thumb Cluster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Kinesis Advantage360 Pro</c:v>
                </c:pt>
                <c:pt idx="1">
                  <c:v>CIDOO ABM066</c:v>
                </c:pt>
                <c:pt idx="2">
                  <c:v>Royal Kludge A70</c:v>
                </c:pt>
                <c:pt idx="3">
                  <c:v>YMDK Corne Split</c:v>
                </c:pt>
              </c:strCache>
            </c: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9FFD-4F58-90D5-061A025CF5FA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Programmable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Kinesis Advantage360 Pro</c:v>
                </c:pt>
                <c:pt idx="1">
                  <c:v>CIDOO ABM066</c:v>
                </c:pt>
                <c:pt idx="2">
                  <c:v>Royal Kludge A70</c:v>
                </c:pt>
                <c:pt idx="3">
                  <c:v>YMDK Corne Split</c:v>
                </c:pt>
              </c:strCache>
            </c:strRef>
          </c:cat>
          <c:val>
            <c:numRef>
              <c:f>Sheet1!$H$2:$H$5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FFD-4F58-90D5-061A025CF5FA}"/>
            </c:ext>
          </c:extLst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Wireless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Kinesis Advantage360 Pro</c:v>
                </c:pt>
                <c:pt idx="1">
                  <c:v>CIDOO ABM066</c:v>
                </c:pt>
                <c:pt idx="2">
                  <c:v>Royal Kludge A70</c:v>
                </c:pt>
                <c:pt idx="3">
                  <c:v>YMDK Corne Split</c:v>
                </c:pt>
              </c:strCache>
            </c:strRef>
          </c:cat>
          <c:val>
            <c:numRef>
              <c:f>Sheet1!$I$2:$I$5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9FFD-4F58-90D5-061A025CF5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66954448"/>
        <c:axId val="66957808"/>
      </c:barChart>
      <c:catAx>
        <c:axId val="6695444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6957808"/>
        <c:crosses val="autoZero"/>
        <c:auto val="1"/>
        <c:lblAlgn val="ctr"/>
        <c:lblOffset val="100"/>
        <c:noMultiLvlLbl val="0"/>
      </c:catAx>
      <c:valAx>
        <c:axId val="6695780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69544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1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categoryAxis>
  <cs:chartArea>
    <cs:lnRef idx="0"/>
    <cs:fillRef idx="0"/>
    <cs:effectRef idx="0"/>
    <cs:fontRef idx="minor">
      <a:schemeClr val="dk1"/>
    </cs:fontRef>
    <cs:spPr>
      <a:pattFill prst="dkDnDiag">
        <a:fgClr>
          <a:schemeClr val="lt1">
            <a:lumMod val="95000"/>
          </a:schemeClr>
        </a:fgClr>
        <a:bgClr>
          <a:schemeClr val="lt1"/>
        </a:bgClr>
      </a:patt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5000"/>
        </a:schemeClr>
      </a:solidFill>
      <a:ln w="9525"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317500" algn="ctr" rotWithShape="0">
          <a:prstClr val="black">
            <a:alpha val="25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20000"/>
          </a:prstClr>
        </a:outerShdw>
      </a:effectLst>
      <a:scene3d>
        <a:camera prst="orthographicFront"/>
        <a:lightRig rig="threePt" dir="t"/>
      </a:scene3d>
      <a:sp3d prstMaterial="matte"/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noFill/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8000"/>
        </a:schemeClr>
      </a:solidFill>
    </cs:spPr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F472BB-7D63-4E4C-B2DE-773BEDB1F8E3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26EF31-A4E6-4819-8D8E-9DC629C243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90451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17A61E9-3242-F164-E48E-2BCA62CEB9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4892" y="1814287"/>
            <a:ext cx="3334215" cy="322942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6A805-78F9-4F4E-96DC-433EEA5D1C4B}" type="datetime1">
              <a:rPr lang="en-IN" smtClean="0"/>
              <a:t>24-04-2026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Group- ##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B3C37-01CB-40A2-9009-0533B6D8E591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19428A-5617-A290-7020-5E654670F1C1}"/>
              </a:ext>
            </a:extLst>
          </p:cNvPr>
          <p:cNvSpPr/>
          <p:nvPr userDrawn="1"/>
        </p:nvSpPr>
        <p:spPr>
          <a:xfrm>
            <a:off x="0" y="176270"/>
            <a:ext cx="9144000" cy="7491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Project Development Presentation- 2026 </a:t>
            </a:r>
            <a:endParaRPr lang="en-IN" sz="2400" b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AD9D4FF-E083-F777-00B4-EFD924DE55C3}"/>
              </a:ext>
            </a:extLst>
          </p:cNvPr>
          <p:cNvSpPr/>
          <p:nvPr userDrawn="1"/>
        </p:nvSpPr>
        <p:spPr>
          <a:xfrm>
            <a:off x="-8263" y="5932583"/>
            <a:ext cx="9144000" cy="7491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PARALA MAHARAJA ENGINEERING COLLEGE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005440160"/>
      </p:ext>
    </p:extLst>
  </p:cSld>
  <p:clrMapOvr>
    <a:masterClrMapping/>
  </p:clrMapOvr>
  <p:transition spd="med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B6549-71CD-46E1-B8A7-6F53ADD1FEE5}" type="datetime1">
              <a:rPr lang="en-IN" smtClean="0"/>
              <a:t>24-04-2026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Group- ##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B3C37-01CB-40A2-9009-0533B6D8E5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8643042"/>
      </p:ext>
    </p:extLst>
  </p:cSld>
  <p:clrMapOvr>
    <a:masterClrMapping/>
  </p:clrMapOvr>
  <p:transition spd="med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DFE9C-910F-41BF-B319-1E6DDFE41503}" type="datetime1">
              <a:rPr lang="en-IN" smtClean="0"/>
              <a:t>24-04-2026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Group- ##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B3C37-01CB-40A2-9009-0533B6D8E5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3503892"/>
      </p:ext>
    </p:extLst>
  </p:cSld>
  <p:clrMapOvr>
    <a:masterClrMapping/>
  </p:clrMapOvr>
  <p:transition spd="med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48B3A-9DD2-4EFA-BD79-C6081222CB5D}" type="datetime1">
              <a:rPr lang="en-IN" smtClean="0"/>
              <a:t>24-04-2026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Group- ##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B3C37-01CB-40A2-9009-0533B6D8E5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839725"/>
      </p:ext>
    </p:extLst>
  </p:cSld>
  <p:clrMapOvr>
    <a:masterClrMapping/>
  </p:clrMapOvr>
  <p:transition spd="med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D34AE-2DF3-41DB-B8E3-5D6F2B203858}" type="datetime1">
              <a:rPr lang="en-IN" smtClean="0"/>
              <a:t>24-04-2026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Group- ##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B3C37-01CB-40A2-9009-0533B6D8E5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825180"/>
      </p:ext>
    </p:extLst>
  </p:cSld>
  <p:clrMapOvr>
    <a:masterClrMapping/>
  </p:clrMapOvr>
  <p:transition spd="med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29172-BCFF-4D02-96FA-6E10E4B0A5C7}" type="datetime1">
              <a:rPr lang="en-IN" smtClean="0"/>
              <a:t>24-04-2026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Group- ##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B3C37-01CB-40A2-9009-0533B6D8E5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0630267"/>
      </p:ext>
    </p:extLst>
  </p:cSld>
  <p:clrMapOvr>
    <a:masterClrMapping/>
  </p:clrMapOvr>
  <p:transition spd="med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9ADFD-1937-42B1-9ADA-D26361A1643C}" type="datetime1">
              <a:rPr lang="en-IN" smtClean="0"/>
              <a:t>24-04-2026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Group- ##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B3C37-01CB-40A2-9009-0533B6D8E5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501713"/>
      </p:ext>
    </p:extLst>
  </p:cSld>
  <p:clrMapOvr>
    <a:masterClrMapping/>
  </p:clrMapOvr>
  <p:transition spd="med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7A8E3-CB11-4558-AE5E-B98C13A130D7}" type="datetime1">
              <a:rPr lang="en-IN" smtClean="0"/>
              <a:t>24-04-2026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Group- ##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B3C37-01CB-40A2-9009-0533B6D8E5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7821533"/>
      </p:ext>
    </p:extLst>
  </p:cSld>
  <p:clrMapOvr>
    <a:masterClrMapping/>
  </p:clrMapOvr>
  <p:transition spd="med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B1FD2-CC1D-41EA-978E-025D3D3CDA71}" type="datetime1">
              <a:rPr lang="en-IN" smtClean="0"/>
              <a:t>24-04-2026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Group- ##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B3C37-01CB-40A2-9009-0533B6D8E5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1466786"/>
      </p:ext>
    </p:extLst>
  </p:cSld>
  <p:clrMapOvr>
    <a:masterClrMapping/>
  </p:clrMapOvr>
  <p:transition spd="med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5C576-47F3-4996-A33E-13EB6212EA19}" type="datetime1">
              <a:rPr lang="en-IN" smtClean="0"/>
              <a:t>24-04-2026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Group- ##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B3C37-01CB-40A2-9009-0533B6D8E5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3554566"/>
      </p:ext>
    </p:extLst>
  </p:cSld>
  <p:clrMapOvr>
    <a:masterClrMapping/>
  </p:clrMapOvr>
  <p:transition spd="med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4113C-906A-42DA-AABF-C451B2C43A47}" type="datetime1">
              <a:rPr lang="en-IN" smtClean="0"/>
              <a:t>24-04-2026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Group- ##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B3C37-01CB-40A2-9009-0533B6D8E5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4946654"/>
      </p:ext>
    </p:extLst>
  </p:cSld>
  <p:clrMapOvr>
    <a:masterClrMapping/>
  </p:clrMapOvr>
  <p:transition spd="med"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image" Target="../media/image1.png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5E0B2D-D75D-4BE6-8F7D-A64E9039C9CA}" type="datetime1">
              <a:rPr lang="en-IN" smtClean="0"/>
              <a:t>24-04-2026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IN"/>
              <a:t>Group- ##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B26B3C37-01CB-40A2-9009-0533B6D8E591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800AEAC-7E90-3BED-8279-B320E641A77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8613" y="-10593"/>
            <a:ext cx="875387" cy="84787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C2AA034-A444-9180-837A-8E73E69D8BA6}"/>
              </a:ext>
            </a:extLst>
          </p:cNvPr>
          <p:cNvSpPr/>
          <p:nvPr userDrawn="1"/>
        </p:nvSpPr>
        <p:spPr>
          <a:xfrm>
            <a:off x="0" y="0"/>
            <a:ext cx="628650" cy="68504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2000" b="1" dirty="0"/>
              <a:t>PARALA MAHARAJA ENGINEERING COLLEGE,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499450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med">
    <p:pull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4.jp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 /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 /><Relationship Id="rId1" Type="http://schemas.openxmlformats.org/officeDocument/2006/relationships/slideLayout" Target="../slideLayouts/slideLayout2.xml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 /><Relationship Id="rId1" Type="http://schemas.openxmlformats.org/officeDocument/2006/relationships/slideLayout" Target="../slideLayouts/slideLayout2.xml" 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turkeyboards.com/turkeyboards-docs/buyers-guide/qmk-and-zmkfirmware-options" TargetMode="External" /><Relationship Id="rId2" Type="http://schemas.openxmlformats.org/officeDocument/2006/relationships/hyperlink" Target="https://docs.zephyrproject.org/" TargetMode="External" /><Relationship Id="rId1" Type="http://schemas.openxmlformats.org/officeDocument/2006/relationships/slideLayout" Target="../slideLayouts/slideLayout2.xml" /><Relationship Id="rId4" Type="http://schemas.openxmlformats.org/officeDocument/2006/relationships/hyperlink" Target="https://researchportal.northumbria.ac.uk/ws/portalfiles/portal/3037317/Ergo_keyboa%20rds.pdf" TargetMode="External" 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363E7-8615-8F91-3223-2EC4FFBD93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560" y="1122363"/>
            <a:ext cx="8879840" cy="2387600"/>
          </a:xfrm>
        </p:spPr>
        <p:txBody>
          <a:bodyPr>
            <a:normAutofit/>
          </a:bodyPr>
          <a:lstStyle/>
          <a:p>
            <a:r>
              <a:rPr lang="en-US" sz="4000" b="1" dirty="0"/>
              <a:t>Development Of Split Ergonomic Keyboard To Prevent Wrist Fatigue And RSI</a:t>
            </a: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A7B3BD-467A-125C-4462-A51CAF10D7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Supervisor-</a:t>
            </a:r>
          </a:p>
          <a:p>
            <a:r>
              <a:rPr lang="en-US" dirty="0"/>
              <a:t>Dr. T. Mita Kumari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0471282"/>
      </p:ext>
    </p:extLst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549AC-916C-B987-352E-2AA86DDB6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Members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3A39B-D113-F15C-F002-C4CB2AEEE6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Mr. Subham Choudhary- 2301109431</a:t>
            </a:r>
          </a:p>
          <a:p>
            <a:r>
              <a:rPr lang="en-US" dirty="0"/>
              <a:t>Mr. </a:t>
            </a:r>
            <a:r>
              <a:rPr lang="en-US" dirty="0" err="1"/>
              <a:t>Bighna</a:t>
            </a:r>
            <a:r>
              <a:rPr lang="en-US" dirty="0"/>
              <a:t> Raj </a:t>
            </a:r>
            <a:r>
              <a:rPr lang="en-US" dirty="0" err="1"/>
              <a:t>Bhattamishra</a:t>
            </a:r>
            <a:r>
              <a:rPr lang="en-US" dirty="0"/>
              <a:t>- 2301109379</a:t>
            </a:r>
          </a:p>
          <a:p>
            <a:r>
              <a:rPr lang="en-US" dirty="0"/>
              <a:t>Mr. Ella </a:t>
            </a:r>
            <a:r>
              <a:rPr lang="en-US" dirty="0" err="1"/>
              <a:t>Jayakishan</a:t>
            </a:r>
            <a:r>
              <a:rPr lang="en-US" dirty="0"/>
              <a:t>- 2301109389</a:t>
            </a:r>
          </a:p>
          <a:p>
            <a:r>
              <a:rPr lang="en-US" dirty="0"/>
              <a:t>Mr. Mihir Panda- 2301109402</a:t>
            </a:r>
          </a:p>
          <a:p>
            <a:r>
              <a:rPr lang="en-US" dirty="0"/>
              <a:t>Mr. Adarsh swarup maharana- 2421109136</a:t>
            </a:r>
          </a:p>
          <a:p>
            <a:r>
              <a:rPr lang="en-US" dirty="0"/>
              <a:t>Ms. </a:t>
            </a:r>
            <a:r>
              <a:rPr lang="en-US" dirty="0" err="1"/>
              <a:t>Monalisha</a:t>
            </a:r>
            <a:r>
              <a:rPr lang="en-US" dirty="0"/>
              <a:t> Panda- 2421109138</a:t>
            </a:r>
          </a:p>
          <a:p>
            <a:r>
              <a:rPr lang="en-US" dirty="0"/>
              <a:t>Ms. Muskan Patro- 2301109403</a:t>
            </a:r>
          </a:p>
          <a:p>
            <a:r>
              <a:rPr lang="en-US" dirty="0"/>
              <a:t>Ms. Payal Maharana- 2301109407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CFD460-CA95-13B8-D42E-A5526AA2E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Group- 08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55A49E-F10D-9A89-B170-284CCDE0E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B3C37-01CB-40A2-9009-0533B6D8E591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6072915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0429A-E2C8-3B5D-4467-96413AC63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912956"/>
          </a:xfrm>
        </p:spPr>
        <p:txBody>
          <a:bodyPr/>
          <a:lstStyle/>
          <a:p>
            <a:r>
              <a:rPr lang="en-US" b="1" dirty="0"/>
              <a:t>Agenda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7CC63D-8DDE-90EC-CD8F-A3B6469295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78083"/>
            <a:ext cx="7886700" cy="489888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/>
              <a:t>INTRODUCTION </a:t>
            </a:r>
          </a:p>
          <a:p>
            <a:pPr>
              <a:lnSpc>
                <a:spcPct val="100000"/>
              </a:lnSpc>
            </a:pPr>
            <a:r>
              <a:rPr lang="en-US" sz="2000" b="1" dirty="0"/>
              <a:t>PRODUCT DESCRIPTION </a:t>
            </a:r>
          </a:p>
          <a:p>
            <a:pPr>
              <a:lnSpc>
                <a:spcPct val="100000"/>
              </a:lnSpc>
            </a:pPr>
            <a:r>
              <a:rPr lang="en-US" sz="2000" b="1" dirty="0"/>
              <a:t>FEATURS </a:t>
            </a:r>
          </a:p>
          <a:p>
            <a:pPr>
              <a:lnSpc>
                <a:spcPct val="100000"/>
              </a:lnSpc>
            </a:pPr>
            <a:r>
              <a:rPr lang="en-US" sz="2000" b="1" dirty="0"/>
              <a:t>CARPAL TUNNEL SYNDROM </a:t>
            </a:r>
          </a:p>
          <a:p>
            <a:pPr>
              <a:lnSpc>
                <a:spcPct val="100000"/>
              </a:lnSpc>
            </a:pPr>
            <a:r>
              <a:rPr lang="en-US" sz="2000" b="1" dirty="0"/>
              <a:t>RSI SYNDROME </a:t>
            </a:r>
          </a:p>
          <a:p>
            <a:pPr>
              <a:lnSpc>
                <a:spcPct val="100000"/>
              </a:lnSpc>
            </a:pPr>
            <a:r>
              <a:rPr lang="en-US" sz="2000" b="1" dirty="0"/>
              <a:t>RISK OF CTS</a:t>
            </a:r>
          </a:p>
          <a:p>
            <a:pPr>
              <a:lnSpc>
                <a:spcPct val="100000"/>
              </a:lnSpc>
            </a:pPr>
            <a:r>
              <a:rPr lang="en-US" sz="2000" b="1" dirty="0"/>
              <a:t>NUMBER OF DIGITAL USER</a:t>
            </a:r>
          </a:p>
          <a:p>
            <a:pPr>
              <a:lnSpc>
                <a:spcPct val="100000"/>
              </a:lnSpc>
            </a:pPr>
            <a:r>
              <a:rPr lang="en-US" sz="2000" b="1" dirty="0"/>
              <a:t>MARKET COMP</a:t>
            </a:r>
            <a:r>
              <a:rPr lang="en-IN" sz="2000" b="1" dirty="0"/>
              <a:t>ARISON </a:t>
            </a:r>
            <a:endParaRPr lang="en-US" sz="2000" dirty="0"/>
          </a:p>
          <a:p>
            <a:pPr>
              <a:lnSpc>
                <a:spcPct val="100000"/>
              </a:lnSpc>
            </a:pPr>
            <a:r>
              <a:rPr lang="en-US" sz="2000" b="1" dirty="0"/>
              <a:t>CHALLANG</a:t>
            </a:r>
            <a:r>
              <a:rPr lang="en-IN" sz="2000" b="1" dirty="0"/>
              <a:t>ES </a:t>
            </a:r>
            <a:r>
              <a:rPr lang="en-US" sz="2000" b="1" dirty="0"/>
              <a:t>WE FACED </a:t>
            </a:r>
            <a:endParaRPr lang="en-US" sz="2000" dirty="0"/>
          </a:p>
          <a:p>
            <a:pPr>
              <a:lnSpc>
                <a:spcPct val="100000"/>
              </a:lnSpc>
            </a:pPr>
            <a:r>
              <a:rPr lang="en-US" sz="2000" b="1" dirty="0"/>
              <a:t>FUTURE IMPROVEMENT </a:t>
            </a:r>
            <a:endParaRPr lang="en-US" sz="2000" dirty="0"/>
          </a:p>
          <a:p>
            <a:pPr>
              <a:lnSpc>
                <a:spcPct val="100000"/>
              </a:lnSpc>
            </a:pPr>
            <a:r>
              <a:rPr lang="en-US" sz="2000" b="1" dirty="0"/>
              <a:t>CONCLUSION </a:t>
            </a:r>
            <a:endParaRPr lang="en-US" sz="2000" dirty="0"/>
          </a:p>
          <a:p>
            <a:pPr>
              <a:lnSpc>
                <a:spcPct val="100000"/>
              </a:lnSpc>
            </a:pPr>
            <a:endParaRPr lang="en-US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CAE174-9C37-02D5-FC29-3F3EFBFE1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Group- ##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692EEF-7A38-7EB7-1B78-4D34C8580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B3C37-01CB-40A2-9009-0533B6D8E591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9890022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1537A-BC68-8E07-E10A-698C0BDEE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904874"/>
          </a:xfrm>
        </p:spPr>
        <p:txBody>
          <a:bodyPr/>
          <a:lstStyle/>
          <a:p>
            <a:r>
              <a:rPr lang="en-US" b="1" dirty="0"/>
              <a:t>INTRODUCTION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666BF-071A-B5D3-2F5C-0F27B1EE41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036320"/>
            <a:ext cx="7886700" cy="514064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/>
              <a:t>Problem Statement</a:t>
            </a:r>
            <a:r>
              <a:rPr lang="en-US" sz="2400" dirty="0"/>
              <a:t> </a:t>
            </a:r>
          </a:p>
          <a:p>
            <a:pPr>
              <a:lnSpc>
                <a:spcPct val="100000"/>
              </a:lnSpc>
            </a:pPr>
            <a:r>
              <a:rPr lang="en-US" sz="2400" b="1" dirty="0"/>
              <a:t>The Issue:</a:t>
            </a:r>
            <a:r>
              <a:rPr lang="en-US" sz="2400" dirty="0"/>
              <a:t> Traditional flat keyboards cause </a:t>
            </a:r>
            <a:r>
              <a:rPr lang="en-US" sz="2400" b="1" dirty="0"/>
              <a:t>ulnar deviation</a:t>
            </a:r>
            <a:r>
              <a:rPr lang="en-US" sz="2400" dirty="0"/>
              <a:t> and pressure on the median nerve.</a:t>
            </a:r>
          </a:p>
          <a:p>
            <a:pPr>
              <a:lnSpc>
                <a:spcPct val="100000"/>
              </a:lnSpc>
            </a:pPr>
            <a:r>
              <a:rPr lang="en-US" sz="2400" b="1" dirty="0"/>
              <a:t>Health Risk:</a:t>
            </a:r>
            <a:r>
              <a:rPr lang="en-US" sz="2400" dirty="0"/>
              <a:t> Prolonged use leads to </a:t>
            </a:r>
            <a:r>
              <a:rPr lang="en-US" sz="2400" b="1" dirty="0"/>
              <a:t>Carpal Tunnel Syndrome (CTS)</a:t>
            </a:r>
            <a:r>
              <a:rPr lang="en-US" sz="2400" dirty="0"/>
              <a:t> and Repetitive Strain Injury (RSI).</a:t>
            </a:r>
          </a:p>
          <a:p>
            <a:pPr>
              <a:lnSpc>
                <a:spcPct val="100000"/>
              </a:lnSpc>
            </a:pPr>
            <a:r>
              <a:rPr lang="en-US" sz="2400" b="1" dirty="0"/>
              <a:t>The Solution:</a:t>
            </a:r>
            <a:r>
              <a:rPr lang="en-US" sz="2400" dirty="0"/>
              <a:t> A split, concave ergonomic keyboard designed to align with natural human biomechanics.</a:t>
            </a:r>
          </a:p>
          <a:p>
            <a:pPr>
              <a:lnSpc>
                <a:spcPct val="100000"/>
              </a:lnSpc>
            </a:pPr>
            <a:r>
              <a:rPr lang="en-US" sz="2400" b="1" dirty="0"/>
              <a:t>Key Objectives:</a:t>
            </a:r>
            <a:r>
              <a:rPr lang="en-US" sz="2400" dirty="0"/>
              <a:t> Improve typing comfort, reduce finger travel distance, and provide a fully wireless experience.</a:t>
            </a:r>
          </a:p>
          <a:p>
            <a:pPr>
              <a:lnSpc>
                <a:spcPct val="150000"/>
              </a:lnSpc>
            </a:pPr>
            <a:endParaRPr lang="en-US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59559F-3C23-17C2-421E-0C65A6623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Group- ##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A7078D-DFAE-2CFA-F19B-CE5020B33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B3C37-01CB-40A2-9009-0533B6D8E591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5981197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96B28-A067-EDE3-1DCC-3B7847D97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PRODUCT</a:t>
            </a:r>
            <a:r>
              <a:rPr lang="en-US" dirty="0"/>
              <a:t> </a:t>
            </a:r>
            <a:r>
              <a:rPr lang="en-US" b="1" dirty="0"/>
              <a:t>DESCRIPTION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2AA65-A811-3339-E74F-01780281D7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What is an Ergonomic Keyboard?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An </a:t>
            </a:r>
            <a:r>
              <a:rPr lang="en-US" sz="2400" b="1" dirty="0"/>
              <a:t>ergonomic keyboard</a:t>
            </a:r>
            <a:r>
              <a:rPr lang="en-US" sz="2400" dirty="0"/>
              <a:t> is a specially designed keyboard that reduces strain on your hands, wrists, and arms while typing. 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Unlike traditional flat keyboards, it is shaped to match the natural posture of your body, helping prevent issues like </a:t>
            </a:r>
            <a:r>
              <a:rPr lang="en-US" sz="2400" b="1" dirty="0"/>
              <a:t>RSI (Repetitive Strain Injury)</a:t>
            </a:r>
            <a:r>
              <a:rPr lang="en-US" sz="2400" dirty="0"/>
              <a:t> and </a:t>
            </a:r>
            <a:r>
              <a:rPr lang="en-US" sz="2400" b="1" dirty="0"/>
              <a:t>carpal tunnel syndrome.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FF96DE-8682-486F-6B18-7AC74CE99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Group- ##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C80DEA-0E1F-BC1E-EEEC-C1C19AA78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B3C37-01CB-40A2-9009-0533B6D8E591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4822507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8C427-7C12-2AFB-6061-3D653BE3D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PRODUCT</a:t>
            </a:r>
            <a:r>
              <a:rPr lang="en-US" dirty="0"/>
              <a:t> </a:t>
            </a:r>
            <a:r>
              <a:rPr lang="en-US" b="1" dirty="0"/>
              <a:t>D</a:t>
            </a:r>
            <a:r>
              <a:rPr lang="en-IN" b="1" dirty="0"/>
              <a:t>ESCRIPTION 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A90DA8-B0B5-64C0-20F5-6BF70053F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Group- ##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319BCB-EF5F-6326-FDA2-ABB0D36DF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B3C37-01CB-40A2-9009-0533B6D8E591}" type="slidenum">
              <a:rPr lang="en-IN" smtClean="0"/>
              <a:t>6</a:t>
            </a:fld>
            <a:endParaRPr lang="en-IN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EF289B01-03DD-5EF0-7E8E-DDF2E16D36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110" y="888605"/>
            <a:ext cx="4936490" cy="332033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723E585-0F9F-4F35-2D81-7F42C3D255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0063" y="3254450"/>
            <a:ext cx="4772507" cy="373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359674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964F8-70C3-13EB-0B9F-F3BAF106B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 VS ERGONOMIC KEYBAORD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3F71456-6CB6-509D-18EE-7A3B960F85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3794906"/>
              </p:ext>
            </p:extLst>
          </p:nvPr>
        </p:nvGraphicFramePr>
        <p:xfrm>
          <a:off x="791210" y="1601471"/>
          <a:ext cx="78867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83120835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60928232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272854840"/>
                    </a:ext>
                  </a:extLst>
                </a:gridCol>
              </a:tblGrid>
              <a:tr h="3501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Standard Keyboard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Ergonomic Keyboard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2964813"/>
                  </a:ext>
                </a:extLst>
              </a:tr>
              <a:tr h="6043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Design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Flat, straight layout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Curved, split, or angled layout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6340429"/>
                  </a:ext>
                </a:extLst>
              </a:tr>
              <a:tr h="6043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Hand Position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Forces hands close together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Keeps hands in natural position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3310866"/>
                  </a:ext>
                </a:extLst>
              </a:tr>
              <a:tr h="3501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Wrist Angle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Bent (unnatural)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Neutral (straight)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1465814"/>
                  </a:ext>
                </a:extLst>
              </a:tr>
              <a:tr h="6043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Comfort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Less comfortable for long use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More comfortable for long typing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2970080"/>
                  </a:ext>
                </a:extLst>
              </a:tr>
              <a:tr h="3501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Health Impact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Can cause strain &amp; RSI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Reduces strain and fatigue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3229050"/>
                  </a:ext>
                </a:extLst>
              </a:tr>
              <a:tr h="6043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Productivity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Normal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Often improves with comfort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1878002"/>
                  </a:ext>
                </a:extLst>
              </a:tr>
              <a:tr h="3501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Learning Curve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Easy (familiar)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Takes time to adjust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0968817"/>
                  </a:ext>
                </a:extLst>
              </a:tr>
              <a:tr h="3501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Cost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Cheap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Expensive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9221152"/>
                  </a:ext>
                </a:extLst>
              </a:tr>
              <a:tr h="3501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Portability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Compact &amp; easy to carry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Bulky in some cases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589036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200C8E-F514-F0E1-E323-B564FCDCA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Group- ##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4F45B6-97BE-197D-5D4F-FD03121D7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B3C37-01CB-40A2-9009-0533B6D8E591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1612018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357A8F0-FD28-B30E-4C52-45E3A07CA7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335" y="1737360"/>
            <a:ext cx="4411345" cy="3173378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3756E3-6BA2-385B-8C6E-B06C9F761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Group- ##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F604C1-E996-3E1D-5168-66E06F5B2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B3C37-01CB-40A2-9009-0533B6D8E591}" type="slidenum">
              <a:rPr lang="en-IN" smtClean="0"/>
              <a:t>8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3E6DC9-65C1-05FC-89F8-9D9F9DC0A552}"/>
              </a:ext>
            </a:extLst>
          </p:cNvPr>
          <p:cNvSpPr txBox="1"/>
          <p:nvPr/>
        </p:nvSpPr>
        <p:spPr>
          <a:xfrm>
            <a:off x="1485299" y="2072640"/>
            <a:ext cx="27374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STANDR</a:t>
            </a:r>
            <a:r>
              <a:rPr lang="en-IN" dirty="0"/>
              <a:t>E</a:t>
            </a:r>
            <a:r>
              <a:rPr lang="en-US" dirty="0"/>
              <a:t>D KEYBOARD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5009342-01E5-F04C-40A6-B043901471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1902" y="2257306"/>
            <a:ext cx="3824300" cy="286988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3552B39-ABDA-DA32-8DE1-6924918FDC55}"/>
              </a:ext>
            </a:extLst>
          </p:cNvPr>
          <p:cNvSpPr txBox="1"/>
          <p:nvPr/>
        </p:nvSpPr>
        <p:spPr>
          <a:xfrm>
            <a:off x="5437539" y="2072640"/>
            <a:ext cx="29225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ERGONOMIC KEYBOARD</a:t>
            </a:r>
          </a:p>
        </p:txBody>
      </p:sp>
    </p:spTree>
    <p:extLst>
      <p:ext uri="{BB962C8B-B14F-4D97-AF65-F5344CB8AC3E}">
        <p14:creationId xmlns:p14="http://schemas.microsoft.com/office/powerpoint/2010/main" val="276874107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85D47-F335-E1DC-FF11-83012A32D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</a:t>
            </a:r>
            <a:r>
              <a:rPr lang="en-IN" dirty="0"/>
              <a:t>ES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7C4BE9-7500-379A-4339-297B9162FA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74801"/>
            <a:ext cx="7886700" cy="43078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Mechanical &amp; Ergonomic Design</a:t>
            </a:r>
          </a:p>
          <a:p>
            <a:r>
              <a:rPr lang="en-US" sz="2400" b="1" dirty="0"/>
              <a:t>Split Architecture:</a:t>
            </a:r>
            <a:r>
              <a:rPr lang="en-US" sz="2400" dirty="0"/>
              <a:t> Two independent halves allow users to adjust for shoulder width, preventing strain.</a:t>
            </a:r>
          </a:p>
          <a:p>
            <a:r>
              <a:rPr lang="en-US" sz="2400" b="1" dirty="0"/>
              <a:t>Concave Key-Well:</a:t>
            </a:r>
            <a:r>
              <a:rPr lang="en-US" sz="2400" dirty="0"/>
              <a:t> A 3D-curved layout (55 mm radius) follows the natural arc of finger movement.</a:t>
            </a:r>
          </a:p>
          <a:p>
            <a:r>
              <a:rPr lang="en-US" sz="2400" b="1" dirty="0"/>
              <a:t>Tactile Switches:</a:t>
            </a:r>
            <a:r>
              <a:rPr lang="en-US" sz="2400" dirty="0"/>
              <a:t> </a:t>
            </a:r>
            <a:r>
              <a:rPr lang="en-US" sz="2400" b="1" dirty="0"/>
              <a:t>Outemu Brown</a:t>
            </a:r>
            <a:r>
              <a:rPr lang="en-US" sz="2400" dirty="0"/>
              <a:t> mechanical switches provide physical feedback to prevent "bottoming out".</a:t>
            </a:r>
          </a:p>
          <a:p>
            <a:r>
              <a:rPr lang="en-US" sz="2400" b="1" dirty="0"/>
              <a:t>Custom Enclosure:</a:t>
            </a:r>
            <a:r>
              <a:rPr lang="en-US" sz="2400" dirty="0"/>
              <a:t> 3D-printed using </a:t>
            </a:r>
            <a:r>
              <a:rPr lang="en-US" sz="2400" b="1" dirty="0"/>
              <a:t>PLA material</a:t>
            </a:r>
            <a:r>
              <a:rPr lang="en-US" sz="2400" dirty="0"/>
              <a:t> with a 0.15 mm layer height for structural durability.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E8E3BF-A585-9B9C-E9F8-CDB019A32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Group- ##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54EC3B-29C6-E0B5-6976-AEC30F061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B3C37-01CB-40A2-9009-0533B6D8E591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6003877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3202A-E7D4-8605-B172-CAEED6581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</a:t>
            </a:r>
            <a:r>
              <a:rPr lang="en-IN" dirty="0"/>
              <a:t>ES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1FA81-DDEC-DFBF-7B91-BD9730D4D5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32560"/>
            <a:ext cx="7886700" cy="47444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Hardware &amp; Connectivity</a:t>
            </a:r>
          </a:p>
          <a:p>
            <a:r>
              <a:rPr lang="en-US" sz="2400" b="1" dirty="0"/>
              <a:t>Main Controller:</a:t>
            </a:r>
            <a:r>
              <a:rPr lang="en-US" sz="2400" dirty="0"/>
              <a:t> </a:t>
            </a:r>
            <a:r>
              <a:rPr lang="en-US" sz="2400" b="1" dirty="0"/>
              <a:t>Pro Micro nRF52840</a:t>
            </a:r>
            <a:r>
              <a:rPr lang="en-US" sz="2400" dirty="0"/>
              <a:t> (64 MHz ARM Cortex-M4) manages scanning and wireless stacks.</a:t>
            </a:r>
          </a:p>
          <a:p>
            <a:r>
              <a:rPr lang="en-US" sz="2400" b="1" dirty="0"/>
              <a:t>Wireless Protocol:</a:t>
            </a:r>
            <a:r>
              <a:rPr lang="en-US" sz="2400" dirty="0"/>
              <a:t> </a:t>
            </a:r>
            <a:r>
              <a:rPr lang="en-US" sz="2400" b="1" dirty="0"/>
              <a:t>Bluetooth 5.0 (BLE)</a:t>
            </a:r>
            <a:r>
              <a:rPr lang="en-US" sz="2400" dirty="0"/>
              <a:t> ensures low-latency communication with the host and between halves.</a:t>
            </a:r>
          </a:p>
          <a:p>
            <a:r>
              <a:rPr lang="en-US" sz="2400" b="1" dirty="0"/>
              <a:t>Anti-Ghosting</a:t>
            </a:r>
            <a:r>
              <a:rPr lang="en-US" sz="2400" dirty="0"/>
              <a:t>: </a:t>
            </a:r>
            <a:r>
              <a:rPr lang="en-US" sz="2400" b="1" dirty="0"/>
              <a:t>6 X 6 </a:t>
            </a:r>
            <a:r>
              <a:rPr lang="en-US" sz="2400" dirty="0"/>
              <a:t>matrix with </a:t>
            </a:r>
            <a:r>
              <a:rPr lang="en-US" sz="2400" b="1" dirty="0"/>
              <a:t>1N4148 diodes</a:t>
            </a:r>
            <a:r>
              <a:rPr lang="en-US" sz="2400" dirty="0"/>
              <a:t> allows for N-key rollover </a:t>
            </a:r>
            <a:r>
              <a:rPr lang="en-US" sz="2400" b="1" dirty="0"/>
              <a:t>(detecting multiple simultaneous presses).</a:t>
            </a:r>
          </a:p>
          <a:p>
            <a:r>
              <a:rPr lang="en-US" sz="2400" b="1" dirty="0"/>
              <a:t>Maintainability:</a:t>
            </a:r>
            <a:r>
              <a:rPr lang="en-US" sz="2400" dirty="0"/>
              <a:t> </a:t>
            </a:r>
            <a:r>
              <a:rPr lang="en-US" sz="2400" b="1" dirty="0"/>
              <a:t>hot-swap sockets</a:t>
            </a:r>
            <a:r>
              <a:rPr lang="en-US" sz="2400" dirty="0"/>
              <a:t> allow users to replace switches without soldering.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B1CA31-730B-B63A-9D6F-38310CB30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Group- ##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1D7758-A9FD-6B2B-46BD-B6D2EFF10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B3C37-01CB-40A2-9009-0533B6D8E591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2145513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8722F-60C8-549E-5A92-798A0BC22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</a:t>
            </a:r>
            <a:r>
              <a:rPr lang="en-IN" dirty="0"/>
              <a:t>ES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42F9E-FC00-D936-1DC5-EBE726D1F9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51280"/>
            <a:ext cx="7886700" cy="48256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Firmware &amp; Software Architecture</a:t>
            </a:r>
          </a:p>
          <a:p>
            <a:r>
              <a:rPr lang="en-US" sz="2400" dirty="0"/>
              <a:t> </a:t>
            </a:r>
            <a:r>
              <a:rPr lang="en-US" sz="2400" b="1" dirty="0"/>
              <a:t>RTOS Integration:</a:t>
            </a:r>
            <a:r>
              <a:rPr lang="en-US" sz="2400" dirty="0"/>
              <a:t> Built on the </a:t>
            </a:r>
            <a:r>
              <a:rPr lang="en-US" sz="2400" b="1" dirty="0"/>
              <a:t>Zephyr Real-Time Operating System</a:t>
            </a:r>
            <a:r>
              <a:rPr lang="en-US" sz="2400" dirty="0"/>
              <a:t> for deterministic task scheduling.</a:t>
            </a:r>
          </a:p>
          <a:p>
            <a:r>
              <a:rPr lang="en-US" sz="2400" b="1" dirty="0"/>
              <a:t>ZMK Framework:</a:t>
            </a:r>
            <a:r>
              <a:rPr lang="en-US" sz="2400" dirty="0"/>
              <a:t> Leverages the </a:t>
            </a:r>
            <a:r>
              <a:rPr lang="en-US" sz="2400" b="1" dirty="0"/>
              <a:t>ZMK framework</a:t>
            </a:r>
            <a:r>
              <a:rPr lang="en-US" sz="2400" dirty="0"/>
              <a:t> for advanced features like layered keymaps and Bluetooth profile switching.</a:t>
            </a:r>
          </a:p>
          <a:p>
            <a:r>
              <a:rPr lang="en-US" sz="2400" b="1" dirty="0"/>
              <a:t>Layered Logic:</a:t>
            </a:r>
            <a:r>
              <a:rPr lang="en-US" sz="2400" dirty="0"/>
              <a:t> Three primary layers (</a:t>
            </a:r>
            <a:r>
              <a:rPr lang="en-US" sz="2400" b="1" dirty="0"/>
              <a:t>Base, Lower, Raise</a:t>
            </a:r>
            <a:r>
              <a:rPr lang="en-US" sz="2400" dirty="0"/>
              <a:t>) maximize the utility of 66 physical keys.</a:t>
            </a:r>
          </a:p>
          <a:p>
            <a:r>
              <a:rPr lang="en-US" sz="2400" b="1" dirty="0"/>
              <a:t>Cloud Build Pipeline:</a:t>
            </a:r>
            <a:r>
              <a:rPr lang="en-US" sz="2400" dirty="0"/>
              <a:t> Firmware is compiled via </a:t>
            </a:r>
            <a:r>
              <a:rPr lang="en-US" sz="2400" b="1" dirty="0"/>
              <a:t>GitHub Actions</a:t>
            </a:r>
            <a:r>
              <a:rPr lang="en-US" sz="2400" dirty="0"/>
              <a:t>, ensuring a reproducible and accessible build environment.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D9E089-434B-738E-502B-A90FED80E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Group- ##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246926-454C-8B39-C253-D094A90FA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B3C37-01CB-40A2-9009-0533B6D8E591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7973627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6FD51-8D05-89C6-1E97-A2BEB9224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</a:t>
            </a:r>
            <a:r>
              <a:rPr lang="en-IN" dirty="0"/>
              <a:t>ES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EA2E6-16DD-AB6E-FF6A-3156171631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41120"/>
            <a:ext cx="7886700" cy="48358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Power Management &amp; Validation</a:t>
            </a:r>
          </a:p>
          <a:p>
            <a:r>
              <a:rPr lang="en-US" sz="2400" b="1" dirty="0"/>
              <a:t>Battery System:</a:t>
            </a:r>
            <a:r>
              <a:rPr lang="en-US" sz="2400" dirty="0"/>
              <a:t> Each half uses an independent </a:t>
            </a:r>
            <a:r>
              <a:rPr lang="en-US" sz="2400" b="1" dirty="0"/>
              <a:t>500 </a:t>
            </a:r>
            <a:r>
              <a:rPr lang="en-US" sz="2400" b="1" dirty="0" err="1"/>
              <a:t>mAh</a:t>
            </a:r>
            <a:r>
              <a:rPr lang="en-US" sz="2400" b="1" dirty="0"/>
              <a:t> Li-ion battery</a:t>
            </a:r>
            <a:r>
              <a:rPr lang="en-US" sz="2400" dirty="0"/>
              <a:t>.</a:t>
            </a:r>
          </a:p>
          <a:p>
            <a:r>
              <a:rPr lang="en-US" sz="2400" b="1" dirty="0"/>
              <a:t>Charging:</a:t>
            </a:r>
            <a:r>
              <a:rPr lang="en-US" sz="2400" dirty="0"/>
              <a:t> Integrated </a:t>
            </a:r>
            <a:r>
              <a:rPr lang="en-US" sz="2400" b="1" dirty="0"/>
              <a:t>USB-C charging</a:t>
            </a:r>
            <a:r>
              <a:rPr lang="en-US" sz="2400" dirty="0"/>
              <a:t> with an onboard LiPo charge circuit.</a:t>
            </a:r>
          </a:p>
          <a:p>
            <a:r>
              <a:rPr lang="en-US" sz="2400" dirty="0"/>
              <a:t>Smart Sleep States:</a:t>
            </a:r>
          </a:p>
          <a:p>
            <a:pPr lvl="1"/>
            <a:r>
              <a:rPr lang="en-US" sz="2000" b="1" dirty="0"/>
              <a:t>Active:</a:t>
            </a:r>
            <a:r>
              <a:rPr lang="en-US" sz="2000" dirty="0"/>
              <a:t> Full speed scanning for responsiveness.</a:t>
            </a:r>
          </a:p>
          <a:p>
            <a:pPr lvl="1"/>
            <a:r>
              <a:rPr lang="en-US" sz="2000" b="1" dirty="0"/>
              <a:t>Idle:</a:t>
            </a:r>
            <a:r>
              <a:rPr lang="en-US" sz="2000" dirty="0"/>
              <a:t> Reduced scanning rate after 30 seconds.</a:t>
            </a:r>
          </a:p>
          <a:p>
            <a:pPr lvl="1"/>
            <a:r>
              <a:rPr lang="en-US" sz="2000" b="1" dirty="0"/>
              <a:t>Deep Sleep:</a:t>
            </a:r>
            <a:r>
              <a:rPr lang="en-US" sz="2000" dirty="0"/>
              <a:t> Consumes only 2-5 </a:t>
            </a:r>
            <a:r>
              <a:rPr lang="en-US" sz="2000" dirty="0" err="1"/>
              <a:t>uA</a:t>
            </a:r>
            <a:r>
              <a:rPr lang="en-US" sz="2000" dirty="0"/>
              <a:t> after 15 minutes of inactivity</a:t>
            </a:r>
          </a:p>
          <a:p>
            <a:r>
              <a:rPr lang="en-US" sz="2400" b="1" dirty="0"/>
              <a:t>Performance:</a:t>
            </a:r>
            <a:r>
              <a:rPr lang="en-US" sz="2400" dirty="0"/>
              <a:t> Validated </a:t>
            </a:r>
            <a:r>
              <a:rPr lang="en-US" sz="2400" b="1" dirty="0"/>
              <a:t>10-week battery life</a:t>
            </a:r>
            <a:r>
              <a:rPr lang="en-US" sz="2400" dirty="0"/>
              <a:t> per charge with a 7.5 </a:t>
            </a:r>
            <a:r>
              <a:rPr lang="en-US" sz="2400" dirty="0" err="1"/>
              <a:t>ms</a:t>
            </a:r>
            <a:r>
              <a:rPr lang="en-US" sz="2400" dirty="0"/>
              <a:t> connection interval for zero perceptible lag.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347EF5-3748-8E9B-D31D-043D33365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Group- ##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AB7361-1138-5D98-411E-89F9A9955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B3C37-01CB-40A2-9009-0533B6D8E591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3373316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86732FB-DAE8-F3A4-172E-B50B1D825B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7742" y="3438557"/>
            <a:ext cx="5206258" cy="310035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ECDE1FB-71EA-2647-3886-2028F9A4B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5061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Carpal tunnel syndrome (CTS)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7CEBA-9FE0-B459-51B0-27A9D8D09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15737"/>
            <a:ext cx="7886700" cy="49612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/>
              <a:t>Standard keyboards often force users into unnatural wrist and hand positions. Prolonged usage can lead to discomfort and repetitive strain injuries such as </a:t>
            </a:r>
            <a:r>
              <a:rPr lang="en-US" sz="2200" b="1" dirty="0"/>
              <a:t>Carpal Tunnel Syndrome (CTS).</a:t>
            </a:r>
            <a:endParaRPr lang="en-US" sz="2200" dirty="0"/>
          </a:p>
          <a:p>
            <a:r>
              <a:rPr lang="en-US" sz="2200" dirty="0"/>
              <a:t>CTS occurs due to pressure on the median nerve in the wrist, resulting in pain, numbness, and reduced hand functionality. With the increasing reliance on computers, there is a growing need for ergonomic input devices that minimize physical strain.</a:t>
            </a:r>
          </a:p>
          <a:p>
            <a:endParaRPr lang="en-US" sz="22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07CAF1-541B-73F3-03F0-A73748486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Group- ##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4C9E94-FD0E-62E3-E2F7-026103DEF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B3C37-01CB-40A2-9009-0533B6D8E591}" type="slidenum">
              <a:rPr lang="en-IN" smtClean="0"/>
              <a:t>13</a:t>
            </a:fld>
            <a:endParaRPr lang="en-IN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265E1AD-1A0F-C3A6-7FCF-2689E463F2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454452"/>
      </p:ext>
    </p:extLst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6EB8693-F03F-3B18-92EF-3B3893FD0E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2201" y="3234315"/>
            <a:ext cx="3770789" cy="307773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434A47B-C50B-0928-A4C7-2EC1CC953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05138"/>
          </a:xfrm>
        </p:spPr>
        <p:txBody>
          <a:bodyPr/>
          <a:lstStyle/>
          <a:p>
            <a:r>
              <a:rPr lang="en-US" b="1" dirty="0"/>
              <a:t>RSI syndrome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3D8AB0-5ABA-ADBE-1D8C-6BF2F0B34F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05346"/>
            <a:ext cx="7886700" cy="49716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Such stress problems are often casually grouped together under the various </a:t>
            </a:r>
            <a:r>
              <a:rPr lang="en-US" sz="2400" b="1" dirty="0"/>
              <a:t>‘portmanteau’ </a:t>
            </a:r>
            <a:r>
              <a:rPr lang="en-US" sz="2400" dirty="0"/>
              <a:t>terms of </a:t>
            </a:r>
            <a:r>
              <a:rPr lang="en-US" sz="2400" b="1" dirty="0"/>
              <a:t>Repetitive Strain Injuries (RSI’s)</a:t>
            </a:r>
            <a:r>
              <a:rPr lang="en-US" sz="2400" dirty="0"/>
              <a:t> or </a:t>
            </a:r>
            <a:r>
              <a:rPr lang="en-US" sz="2400" b="1" dirty="0"/>
              <a:t>Work-Related Upper</a:t>
            </a:r>
            <a:r>
              <a:rPr lang="en-US" sz="2400" dirty="0"/>
              <a:t> </a:t>
            </a:r>
            <a:r>
              <a:rPr lang="en-US" sz="2400" b="1" dirty="0"/>
              <a:t>Limb Disorders (WRULD’s)</a:t>
            </a:r>
            <a:r>
              <a:rPr lang="en-US" sz="2400" dirty="0"/>
              <a:t>, amongst others. Although not medically diagnostic, such terms are widely used to cover more precise musculoskeletal or nerve related injuries which may be caused or triggered by rapid, low-force actions.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A0D876-A655-EE80-5C32-C6867A65A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Group- ##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7C1F71-644E-6E35-C72C-73DA89DA4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B3C37-01CB-40A2-9009-0533B6D8E591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18517"/>
      </p:ext>
    </p:extLst>
  </p:cSld>
  <p:clrMapOvr>
    <a:masterClrMapping/>
  </p:clrMapOvr>
  <p:transition spd="med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8AA6D9C-DB21-0ACE-0AFC-29EF36C013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3161852"/>
            <a:ext cx="7886700" cy="3084691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538701-64E7-AA13-4962-B7A7549CE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Group- ##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2DD2BE-4EAA-5727-508B-3E665EEA2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B3C37-01CB-40A2-9009-0533B6D8E591}" type="slidenum">
              <a:rPr lang="en-IN" smtClean="0"/>
              <a:t>15</a:t>
            </a:fld>
            <a:endParaRPr lang="en-IN"/>
          </a:p>
        </p:txBody>
      </p:sp>
      <p:pic>
        <p:nvPicPr>
          <p:cNvPr id="8" name="Content Placeholder 6">
            <a:extLst>
              <a:ext uri="{FF2B5EF4-FFF2-40B4-BE49-F238E27FC236}">
                <a16:creationId xmlns:a16="http://schemas.microsoft.com/office/drawing/2014/main" id="{524AB3CE-9F1C-AE22-13B0-104F5014DC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59" t="9257" r="2365" b="15174"/>
          <a:stretch>
            <a:fillRect/>
          </a:stretch>
        </p:blipFill>
        <p:spPr>
          <a:xfrm>
            <a:off x="854652" y="1285590"/>
            <a:ext cx="7434696" cy="1766454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6CFB0DBD-3EC2-FD39-2A12-C3764A0C7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05138"/>
          </a:xfrm>
        </p:spPr>
        <p:txBody>
          <a:bodyPr/>
          <a:lstStyle/>
          <a:p>
            <a:r>
              <a:rPr lang="en-US" b="1" dirty="0"/>
              <a:t>RSI syndrome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0728797"/>
      </p:ext>
    </p:extLst>
  </p:cSld>
  <p:clrMapOvr>
    <a:masterClrMapping/>
  </p:clrMapOvr>
  <p:transition spd="med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393C1B9-4C0F-618A-8B26-259956CD27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033" y="554506"/>
            <a:ext cx="7665317" cy="5748988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C0D83B-22DF-83C8-50E8-5F7F9DC67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Group- ##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63D046-EA8A-075B-5547-29C79A3BD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B3C37-01CB-40A2-9009-0533B6D8E591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1670397"/>
      </p:ext>
    </p:extLst>
  </p:cSld>
  <p:clrMapOvr>
    <a:masterClrMapping/>
  </p:clrMapOvr>
  <p:transition spd="med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6962073-ABDC-E1BC-C8AF-85B5726203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204" y="763959"/>
            <a:ext cx="7456523" cy="559239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7D264D-6BA5-8195-C4BC-37A6806C8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Group- ##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EE856E-B975-FF78-4CEE-F5873CE0B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B3C37-01CB-40A2-9009-0533B6D8E591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5019575"/>
      </p:ext>
    </p:extLst>
  </p:cSld>
  <p:clrMapOvr>
    <a:masterClrMapping/>
  </p:clrMapOvr>
  <p:transition spd="med">
    <p:pull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857AE4-DC8F-5557-1DDE-28C3D00F2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Group- ##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9FCDCD-EA98-AEBF-4FAF-29A8C2ABE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B3C37-01CB-40A2-9009-0533B6D8E591}" type="slidenum">
              <a:rPr lang="en-IN" smtClean="0"/>
              <a:t>18</a:t>
            </a:fld>
            <a:endParaRPr lang="en-IN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89669231-759C-3B02-24F8-FC569C9377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30859303"/>
              </p:ext>
            </p:extLst>
          </p:nvPr>
        </p:nvGraphicFramePr>
        <p:xfrm>
          <a:off x="1463740" y="780454"/>
          <a:ext cx="6216520" cy="54425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971672826"/>
      </p:ext>
    </p:extLst>
  </p:cSld>
  <p:clrMapOvr>
    <a:masterClrMapping/>
  </p:clrMapOvr>
  <p:transition spd="med">
    <p:pull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F3B0AE-B74A-EE5D-84D4-CB811B5E9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Group- ##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987570-1616-4B14-81BE-7E8B59AF6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B3C37-01CB-40A2-9009-0533B6D8E591}" type="slidenum">
              <a:rPr lang="en-IN" smtClean="0"/>
              <a:t>19</a:t>
            </a:fld>
            <a:endParaRPr lang="en-IN"/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AE69C072-EA19-C213-F4F9-F449AEC6531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92463874"/>
              </p:ext>
            </p:extLst>
          </p:nvPr>
        </p:nvGraphicFramePr>
        <p:xfrm>
          <a:off x="892792" y="702611"/>
          <a:ext cx="7358416" cy="54527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44534889"/>
      </p:ext>
    </p:extLst>
  </p:cSld>
  <p:clrMapOvr>
    <a:masterClrMapping/>
  </p:clrMapOvr>
  <p:transition spd="med">
    <p:pull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3DB4B-35D0-5338-2C40-704760677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Challenges Faced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6FCFF-4AA7-C76F-4E37-405A0F861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One of the major challenges was the firmware setup using ZMK. Configuring </a:t>
            </a:r>
            <a:r>
              <a:rPr lang="en-US" sz="2400" b="1" dirty="0"/>
              <a:t>Bluetooth communication</a:t>
            </a:r>
            <a:r>
              <a:rPr lang="en-US" sz="2400" dirty="0"/>
              <a:t>, keymaps, and </a:t>
            </a:r>
            <a:r>
              <a:rPr lang="en-US" sz="2400" b="1" dirty="0"/>
              <a:t>split functionality </a:t>
            </a:r>
            <a:r>
              <a:rPr lang="en-US" sz="2400" dirty="0"/>
              <a:t>required extensive testing and debugging. However, overcoming this challenge significantly enhanced our technical expertise.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E0BAB7-8D1A-7905-774B-96182C60B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Group- ##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CC99E6-26F2-7846-7E10-78C2068D2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B3C37-01CB-40A2-9009-0533B6D8E591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9732286"/>
      </p:ext>
    </p:extLst>
  </p:cSld>
  <p:clrMapOvr>
    <a:masterClrMapping/>
  </p:clrMapOvr>
  <p:transition spd="med">
    <p:pull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2A171-6A1F-7276-4148-DB54A1543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Future Improvements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A4E89-7720-B961-13E2-AD68B46CA5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Additional hardware features supported by ZMK can be incorporated to enhance usability. For instance, OLED displays can be integrated using ZMK’s display subsystem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Introduce adjustable tenting angles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Enhance portability and design aesthetics.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BCAA76-88FD-CA2E-4761-64A7822F8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Group- ##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B71F20-18A1-965E-C57E-524387131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B3C37-01CB-40A2-9009-0533B6D8E591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52516"/>
      </p:ext>
    </p:extLst>
  </p:cSld>
  <p:clrMapOvr>
    <a:masterClrMapping/>
  </p:clrMapOvr>
  <p:transition spd="med">
    <p:pull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D27DE-0117-4186-173C-2E177738A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FA447-3297-C5AA-A130-74EBA0D011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This project successfully demonstrates the design and implementation of a split ergonomic concave keyboard aimed at reducing strain associated with prolonged typing. The system combines mechanical design, embedded firmware, and wireless communication into a cohesive and functional solution.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442D35-5ED8-F098-3FBC-3F00D2A80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Group- ##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201451-2F3F-BDCF-FAF3-EDE4334E7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B3C37-01CB-40A2-9009-0533B6D8E591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9657378"/>
      </p:ext>
    </p:extLst>
  </p:cSld>
  <p:clrMapOvr>
    <a:masterClrMapping/>
  </p:clrMapOvr>
  <p:transition spd="med">
    <p:pull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D2D85-7E0C-31AC-2905-23BAA8B57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36BA7C-89BC-89DF-9C3B-7E5B6ED277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13164"/>
            <a:ext cx="7886700" cy="4763799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[1] ZMK Firmware Project, "ZMK Documentation," </a:t>
            </a:r>
            <a:r>
              <a:rPr lang="en-US" dirty="0" err="1"/>
              <a:t>zmk.dev</a:t>
            </a:r>
            <a:r>
              <a:rPr lang="en-US" dirty="0"/>
              <a:t>, 2024. [Online]. Available: https://zmk.dev/docs </a:t>
            </a:r>
          </a:p>
          <a:p>
            <a:r>
              <a:rPr lang="en-US" dirty="0"/>
              <a:t>[2] ] Zephyr Project, “Pro Micro nRF52840 Board Documentation,” 2024. [Online]. Available: https://docs.zephyrproject.org/latest/boards/others/promicro_nrf52840/doc/index.ht ml </a:t>
            </a:r>
          </a:p>
          <a:p>
            <a:r>
              <a:rPr lang="en-US" dirty="0"/>
              <a:t>[3] Zephyr Project, "Zephyr RTOS Documentation," docs.zephyrproject.org, 2024. [Online]. Available: </a:t>
            </a:r>
            <a:r>
              <a:rPr lang="en-US" dirty="0">
                <a:hlinkClick r:id="rId2"/>
              </a:rPr>
              <a:t>https://docs.zephyrproject.org</a:t>
            </a:r>
            <a:endParaRPr lang="en-US" dirty="0"/>
          </a:p>
          <a:p>
            <a:r>
              <a:rPr lang="en-US" dirty="0"/>
              <a:t> [4] </a:t>
            </a:r>
            <a:r>
              <a:rPr lang="en-US" dirty="0" err="1"/>
              <a:t>TurkeyBoards</a:t>
            </a:r>
            <a:r>
              <a:rPr lang="en-US" dirty="0"/>
              <a:t>, “QMK and ZMK Firmware Options,” 2024. [Online]. Available: </a:t>
            </a:r>
            <a:r>
              <a:rPr lang="en-US" dirty="0">
                <a:hlinkClick r:id="rId3"/>
              </a:rPr>
              <a:t>https://docs.turkeyboards.com/turkeyboards-docs/buyers-guide/qmk-and-zmkfirmware-options</a:t>
            </a:r>
            <a:endParaRPr lang="en-US" dirty="0"/>
          </a:p>
          <a:p>
            <a:r>
              <a:rPr lang="en-US" dirty="0"/>
              <a:t> [5] A. C. Antona, C. Stephanidis, and J. Clarkson, “Ergonomic Evaluation of Alternative Keyboard Designs,” Proc. Int. Conf. Engineering and Product Design Education, 2015. [Online]. Available: </a:t>
            </a:r>
            <a:r>
              <a:rPr lang="en-US" dirty="0">
                <a:hlinkClick r:id="rId4"/>
              </a:rPr>
              <a:t>https://researchportal.northumbria.ac.uk/ws/portalfiles/portal/3037317/Ergo_keyboa rds.pdf</a:t>
            </a:r>
            <a:endParaRPr lang="en-US" dirty="0"/>
          </a:p>
          <a:p>
            <a:r>
              <a:rPr lang="en-US" dirty="0"/>
              <a:t> [6] </a:t>
            </a:r>
            <a:r>
              <a:rPr lang="en-US" dirty="0" err="1"/>
              <a:t>StatPearls</a:t>
            </a:r>
            <a:r>
              <a:rPr lang="en-US" dirty="0"/>
              <a:t> Publishing, “Carpal Tunnel Syndrome,” </a:t>
            </a:r>
            <a:r>
              <a:rPr lang="en-US" dirty="0" err="1"/>
              <a:t>StatPearls</a:t>
            </a:r>
            <a:r>
              <a:rPr lang="en-US" dirty="0"/>
              <a:t>, 2024. [Online]. Available: https://www.ncbi.nlm.nih.gov/books/NBK448179/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231E51-23F4-4997-3E5B-5FCD48D6F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Group- ##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A4CD8A-570E-C150-8C4B-DA3E1B3BC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B3C37-01CB-40A2-9009-0533B6D8E591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8407356"/>
      </p:ext>
    </p:extLst>
  </p:cSld>
  <p:clrMapOvr>
    <a:masterClrMapping/>
  </p:clrMapOvr>
  <p:transition spd="med">
    <p:pull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050CFB-835F-C023-3184-9FECA2410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Group- ##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95BC8A-5CD3-536B-0D18-88516F8AC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B3C37-01CB-40A2-9009-0533B6D8E591}" type="slidenum">
              <a:rPr lang="en-IN" smtClean="0"/>
              <a:t>24</a:t>
            </a:fld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7EAE17-0DFD-AAA8-44AB-38349A007DFB}"/>
              </a:ext>
            </a:extLst>
          </p:cNvPr>
          <p:cNvSpPr/>
          <p:nvPr/>
        </p:nvSpPr>
        <p:spPr>
          <a:xfrm>
            <a:off x="2440649" y="2967335"/>
            <a:ext cx="4262706" cy="92333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5400" b="1" cap="none" spc="0" dirty="0">
                <a:ln/>
                <a:solidFill>
                  <a:schemeClr val="accent3"/>
                </a:solidFill>
                <a:effectLst/>
              </a:rPr>
              <a:t>THANKYOU</a:t>
            </a:r>
          </a:p>
        </p:txBody>
      </p:sp>
    </p:spTree>
    <p:extLst>
      <p:ext uri="{BB962C8B-B14F-4D97-AF65-F5344CB8AC3E}">
        <p14:creationId xmlns:p14="http://schemas.microsoft.com/office/powerpoint/2010/main" val="163088546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Office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Arial-Times New Roman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283</TotalTime>
  <Words>1219</Words>
  <Application>Microsoft Office PowerPoint</Application>
  <PresentationFormat>On-screen Show (4:3)</PresentationFormat>
  <Paragraphs>165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Development Of Split Ergonomic Keyboard To Prevent Wrist Fatigue And RSI</vt:lpstr>
      <vt:lpstr>Members </vt:lpstr>
      <vt:lpstr>Agenda </vt:lpstr>
      <vt:lpstr>INTRODUCTION </vt:lpstr>
      <vt:lpstr>PRODUCT DESCRIPTION </vt:lpstr>
      <vt:lpstr>PRODUCT DESCRIPTION </vt:lpstr>
      <vt:lpstr>STANDARD VS ERGONOMIC KEYBAORD</vt:lpstr>
      <vt:lpstr>PowerPoint Presentation</vt:lpstr>
      <vt:lpstr>FEATURES </vt:lpstr>
      <vt:lpstr>FEATURES </vt:lpstr>
      <vt:lpstr>FEATURES </vt:lpstr>
      <vt:lpstr>FEATURES </vt:lpstr>
      <vt:lpstr>Carpal tunnel syndrome (CTS)</vt:lpstr>
      <vt:lpstr>RSI syndrome </vt:lpstr>
      <vt:lpstr>RSI syndrome </vt:lpstr>
      <vt:lpstr>PowerPoint Presentation</vt:lpstr>
      <vt:lpstr>PowerPoint Presentation</vt:lpstr>
      <vt:lpstr>PowerPoint Presentation</vt:lpstr>
      <vt:lpstr>PowerPoint Presentation</vt:lpstr>
      <vt:lpstr>Challenges Faced</vt:lpstr>
      <vt:lpstr>Future Improvements</vt:lpstr>
      <vt:lpstr>Conclusion</vt:lpstr>
      <vt:lpstr>REFERENCE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Development Of Split Ergonomic Keyboard To Prevent Wrist Fatigue And RSI</dc:title>
  <dc:creator>PMEC</dc:creator>
  <cp:lastModifiedBy>Adarsh swarup maharana</cp:lastModifiedBy>
  <cp:revision>7</cp:revision>
  <dcterms:created xsi:type="dcterms:W3CDTF">2026-04-23T13:29:16Z</dcterms:created>
  <dcterms:modified xsi:type="dcterms:W3CDTF">2026-04-24T02:46:51Z</dcterms:modified>
</cp:coreProperties>
</file>