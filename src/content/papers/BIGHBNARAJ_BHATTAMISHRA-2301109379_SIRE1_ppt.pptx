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753600" cy="7315200"/>
  <p:notesSz cx="6858000" cy="9144000"/>
  <p:embeddedFontLst>
    <p:embeddedFont>
      <p:font typeface="Arial Bold" charset="0"/>
      <p:regular r:id="rId21"/>
    </p:embeddedFont>
    <p:embeddedFont>
      <p:font typeface="Tahoma Bold" charset="0"/>
      <p:regular r:id="rId22"/>
    </p:embeddedFont>
    <p:embeddedFont>
      <p:font typeface="Canva Sans Bold" charset="0"/>
      <p:regular r:id="rId23"/>
    </p:embeddedFont>
    <p:embeddedFont>
      <p:font typeface="Poppins Bold" charset="0"/>
      <p:regular r:id="rId24"/>
    </p:embeddedFont>
    <p:embeddedFont>
      <p:font typeface="Calibri" pitchFamily="34" charset="0"/>
      <p:regular r:id="rId25"/>
      <p:bold r:id="rId26"/>
      <p:italic r:id="rId27"/>
      <p:boldItalic r:id="rId28"/>
    </p:embeddedFont>
    <p:embeddedFont>
      <p:font typeface="Hammersmith One" charset="0"/>
      <p:regular r:id="rId29"/>
    </p:embeddedFont>
    <p:embeddedFont>
      <p:font typeface="Arimo Bold" charset="0"/>
      <p:regular r:id="rId30"/>
    </p:embeddedFont>
    <p:embeddedFont>
      <p:font typeface="Arimo" charset="0"/>
      <p:regular r:id="rId31"/>
    </p:embeddedFont>
    <p:embeddedFont>
      <p:font typeface="Canva Sans" charset="0"/>
      <p:regular r:id="rId32"/>
    </p:embeddedFont>
    <p:embeddedFont>
      <p:font typeface="Abril Fatface"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622" autoAdjust="0"/>
  </p:normalViewPr>
  <p:slideViewPr>
    <p:cSldViewPr>
      <p:cViewPr varScale="1">
        <p:scale>
          <a:sx n="65" d="100"/>
          <a:sy n="65" d="100"/>
        </p:scale>
        <p:origin x="-141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hyperlink" Target="https://link.springer.com/chapter/10.1007/978-1-4302-0582-1_1" TargetMode="External"/><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github.com/Facelessism/CODSOFT" TargetMode="External"/><Relationship Id="rId4" Type="http://schemas.openxmlformats.org/officeDocument/2006/relationships/hyperlink" Target="https://skillsbuild.org/adult-learners/explore-learning/web-developer"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388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a:t>
            </a:r>
          </a:p>
        </p:txBody>
      </p:sp>
      <p:grpSp>
        <p:nvGrpSpPr>
          <p:cNvPr id="17" name="Group 17"/>
          <p:cNvGrpSpPr/>
          <p:nvPr/>
        </p:nvGrpSpPr>
        <p:grpSpPr>
          <a:xfrm>
            <a:off x="0" y="0"/>
            <a:ext cx="9753600" cy="731520"/>
            <a:chOff x="0" y="0"/>
            <a:chExt cx="13004800" cy="975360"/>
          </a:xfrm>
        </p:grpSpPr>
        <p:sp>
          <p:nvSpPr>
            <p:cNvPr id="18" name="Freeform 18"/>
            <p:cNvSpPr/>
            <p:nvPr/>
          </p:nvSpPr>
          <p:spPr>
            <a:xfrm>
              <a:off x="0" y="0"/>
              <a:ext cx="13004800" cy="975360"/>
            </a:xfrm>
            <a:custGeom>
              <a:avLst/>
              <a:gdLst/>
              <a:ahLst/>
              <a:cxnLst/>
              <a:rect l="l" t="t" r="r" b="b"/>
              <a:pathLst>
                <a:path w="13004800" h="975360">
                  <a:moveTo>
                    <a:pt x="0" y="0"/>
                  </a:moveTo>
                  <a:lnTo>
                    <a:pt x="13004800" y="0"/>
                  </a:lnTo>
                  <a:lnTo>
                    <a:pt x="13004800" y="975360"/>
                  </a:lnTo>
                  <a:lnTo>
                    <a:pt x="0" y="975360"/>
                  </a:lnTo>
                  <a:close/>
                </a:path>
              </a:pathLst>
            </a:custGeom>
            <a:solidFill>
              <a:srgbClr val="000000">
                <a:alpha val="0"/>
              </a:srgbClr>
            </a:solidFill>
          </p:spPr>
        </p:sp>
        <p:sp>
          <p:nvSpPr>
            <p:cNvPr id="19" name="TextBox 19"/>
            <p:cNvSpPr txBox="1"/>
            <p:nvPr/>
          </p:nvSpPr>
          <p:spPr>
            <a:xfrm>
              <a:off x="0" y="-19050"/>
              <a:ext cx="13004800" cy="994410"/>
            </a:xfrm>
            <a:prstGeom prst="rect">
              <a:avLst/>
            </a:prstGeom>
          </p:spPr>
          <p:txBody>
            <a:bodyPr lIns="0" tIns="0" rIns="0" bIns="0" rtlCol="0" anchor="ctr"/>
            <a:lstStyle/>
            <a:p>
              <a:pPr algn="l">
                <a:lnSpc>
                  <a:spcPts val="2304"/>
                </a:lnSpc>
              </a:pPr>
              <a:r>
                <a:rPr lang="en-US" sz="1920">
                  <a:solidFill>
                    <a:srgbClr val="191966"/>
                  </a:solidFill>
                  <a:latin typeface="Arial"/>
                  <a:ea typeface="Arial"/>
                  <a:cs typeface="Arial"/>
                  <a:sym typeface="Arial"/>
                </a:rPr>
                <a:t>TECHNICAL SEMINAR PRESENTATION-2025 </a:t>
              </a:r>
            </a:p>
          </p:txBody>
        </p:sp>
      </p:grpSp>
      <p:sp>
        <p:nvSpPr>
          <p:cNvPr id="20" name="TextBox 20"/>
          <p:cNvSpPr txBox="1"/>
          <p:nvPr/>
        </p:nvSpPr>
        <p:spPr>
          <a:xfrm>
            <a:off x="1423007" y="3912899"/>
            <a:ext cx="7496866" cy="847725"/>
          </a:xfrm>
          <a:prstGeom prst="rect">
            <a:avLst/>
          </a:prstGeom>
        </p:spPr>
        <p:txBody>
          <a:bodyPr lIns="0" tIns="0" rIns="0" bIns="0" rtlCol="0" anchor="t">
            <a:spAutoFit/>
          </a:bodyPr>
          <a:lstStyle/>
          <a:p>
            <a:pPr algn="ctr">
              <a:lnSpc>
                <a:spcPts val="3408"/>
              </a:lnSpc>
            </a:pPr>
            <a:r>
              <a:rPr lang="en-US" sz="2840">
                <a:solidFill>
                  <a:srgbClr val="000000"/>
                </a:solidFill>
                <a:latin typeface="Arial"/>
                <a:ea typeface="Arial"/>
                <a:cs typeface="Arial"/>
                <a:sym typeface="Arial"/>
              </a:rPr>
              <a:t>Presented by:</a:t>
            </a:r>
            <a:r>
              <a:rPr lang="en-US" sz="2840" b="1">
                <a:solidFill>
                  <a:srgbClr val="000000"/>
                </a:solidFill>
                <a:latin typeface="Arial Bold"/>
                <a:ea typeface="Arial Bold"/>
                <a:cs typeface="Arial Bold"/>
                <a:sym typeface="Arial Bold"/>
              </a:rPr>
              <a:t> Mr.Bighna Raj Bhattamishra</a:t>
            </a:r>
          </a:p>
          <a:p>
            <a:pPr algn="ctr">
              <a:lnSpc>
                <a:spcPts val="3168"/>
              </a:lnSpc>
            </a:pPr>
            <a:r>
              <a:rPr lang="en-US" sz="2640">
                <a:solidFill>
                  <a:srgbClr val="000000"/>
                </a:solidFill>
                <a:latin typeface="Arial"/>
                <a:ea typeface="Arial"/>
                <a:cs typeface="Arial"/>
                <a:sym typeface="Arial"/>
              </a:rPr>
              <a:t>Regd.No.</a:t>
            </a:r>
            <a:r>
              <a:rPr lang="en-US" sz="2640" b="1">
                <a:solidFill>
                  <a:srgbClr val="000000"/>
                </a:solidFill>
                <a:latin typeface="Arial Bold"/>
                <a:ea typeface="Arial Bold"/>
                <a:cs typeface="Arial Bold"/>
                <a:sym typeface="Arial Bold"/>
              </a:rPr>
              <a:t> 2301109379</a:t>
            </a:r>
          </a:p>
        </p:txBody>
      </p:sp>
      <p:sp>
        <p:nvSpPr>
          <p:cNvPr id="21" name="TextBox 21"/>
          <p:cNvSpPr txBox="1"/>
          <p:nvPr/>
        </p:nvSpPr>
        <p:spPr>
          <a:xfrm>
            <a:off x="523240" y="1326618"/>
            <a:ext cx="9296400" cy="1811019"/>
          </a:xfrm>
          <a:prstGeom prst="rect">
            <a:avLst/>
          </a:prstGeom>
        </p:spPr>
        <p:txBody>
          <a:bodyPr lIns="0" tIns="0" rIns="0" bIns="0" rtlCol="0" anchor="t">
            <a:spAutoFit/>
          </a:bodyPr>
          <a:lstStyle/>
          <a:p>
            <a:pPr algn="ctr">
              <a:lnSpc>
                <a:spcPts val="7280"/>
              </a:lnSpc>
            </a:pPr>
            <a:r>
              <a:rPr lang="en-US" sz="5200" b="1">
                <a:solidFill>
                  <a:srgbClr val="004AAD"/>
                </a:solidFill>
                <a:latin typeface="Canva Sans Bold"/>
                <a:ea typeface="Canva Sans Bold"/>
                <a:cs typeface="Canva Sans Bold"/>
                <a:sym typeface="Canva Sans Bold"/>
              </a:rPr>
              <a:t>Summer Internship Evaluation</a:t>
            </a:r>
          </a:p>
        </p:txBody>
      </p:sp>
      <p:sp>
        <p:nvSpPr>
          <p:cNvPr id="22" name="TextBox 22"/>
          <p:cNvSpPr txBox="1"/>
          <p:nvPr/>
        </p:nvSpPr>
        <p:spPr>
          <a:xfrm>
            <a:off x="589280" y="4940314"/>
            <a:ext cx="9164320" cy="1733550"/>
          </a:xfrm>
          <a:prstGeom prst="rect">
            <a:avLst/>
          </a:prstGeom>
        </p:spPr>
        <p:txBody>
          <a:bodyPr lIns="0" tIns="0" rIns="0" bIns="0" rtlCol="0" anchor="t">
            <a:spAutoFit/>
          </a:bodyPr>
          <a:lstStyle/>
          <a:p>
            <a:pPr algn="ctr">
              <a:lnSpc>
                <a:spcPts val="3048"/>
              </a:lnSpc>
            </a:pPr>
            <a:r>
              <a:rPr lang="en-US" sz="2540">
                <a:solidFill>
                  <a:srgbClr val="000000"/>
                </a:solidFill>
                <a:latin typeface="Arial"/>
                <a:ea typeface="Arial"/>
                <a:cs typeface="Arial"/>
                <a:sym typeface="Arial"/>
              </a:rPr>
              <a:t>Under the guidance of</a:t>
            </a:r>
          </a:p>
          <a:p>
            <a:pPr algn="ctr">
              <a:lnSpc>
                <a:spcPts val="3168"/>
              </a:lnSpc>
            </a:pPr>
            <a:r>
              <a:rPr lang="en-US" sz="2640" b="1">
                <a:solidFill>
                  <a:srgbClr val="000000"/>
                </a:solidFill>
                <a:latin typeface="Poppins Bold"/>
                <a:ea typeface="Poppins Bold"/>
                <a:cs typeface="Poppins Bold"/>
                <a:sym typeface="Poppins Bold"/>
              </a:rPr>
              <a:t>Dr. Dinesh Kumar Dash Sir </a:t>
            </a:r>
          </a:p>
          <a:p>
            <a:pPr algn="ctr">
              <a:lnSpc>
                <a:spcPts val="3168"/>
              </a:lnSpc>
            </a:pPr>
            <a:r>
              <a:rPr lang="en-US" sz="2640" b="1">
                <a:solidFill>
                  <a:srgbClr val="000000"/>
                </a:solidFill>
                <a:latin typeface="Poppins Bold"/>
                <a:ea typeface="Poppins Bold"/>
                <a:cs typeface="Poppins Bold"/>
                <a:sym typeface="Poppins Bold"/>
              </a:rPr>
              <a:t>and Mrs. Shankhamitra Sunani Ma’am</a:t>
            </a:r>
          </a:p>
          <a:p>
            <a:pPr algn="ctr">
              <a:lnSpc>
                <a:spcPts val="4248"/>
              </a:lnSpc>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304799" y="719455"/>
            <a:ext cx="9448801" cy="6057900"/>
            <a:chOff x="0" y="0"/>
            <a:chExt cx="24384000" cy="13716000"/>
          </a:xfrm>
        </p:grpSpPr>
        <p:sp>
          <p:nvSpPr>
            <p:cNvPr id="5" name="Freeform 5"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6" name="Group 6"/>
          <p:cNvGrpSpPr>
            <a:grpSpLocks noChangeAspect="1"/>
          </p:cNvGrpSpPr>
          <p:nvPr/>
        </p:nvGrpSpPr>
        <p:grpSpPr>
          <a:xfrm>
            <a:off x="9022080" y="15031"/>
            <a:ext cx="731520" cy="716489"/>
            <a:chOff x="0" y="0"/>
            <a:chExt cx="975360" cy="955318"/>
          </a:xfrm>
        </p:grpSpPr>
        <p:sp>
          <p:nvSpPr>
            <p:cNvPr id="7" name="Freeform 7"/>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3"/>
              <a:stretch>
                <a:fillRect b="-2"/>
              </a:stretch>
            </a:blipFill>
          </p:spPr>
        </p:sp>
      </p:grpSp>
      <p:grpSp>
        <p:nvGrpSpPr>
          <p:cNvPr id="8" name="Group 8"/>
          <p:cNvGrpSpPr/>
          <p:nvPr/>
        </p:nvGrpSpPr>
        <p:grpSpPr>
          <a:xfrm>
            <a:off x="0" y="731520"/>
            <a:ext cx="492443" cy="6583680"/>
            <a:chOff x="0" y="0"/>
            <a:chExt cx="656590" cy="8778240"/>
          </a:xfrm>
        </p:grpSpPr>
        <p:grpSp>
          <p:nvGrpSpPr>
            <p:cNvPr id="9" name="Group 9"/>
            <p:cNvGrpSpPr/>
            <p:nvPr/>
          </p:nvGrpSpPr>
          <p:grpSpPr>
            <a:xfrm>
              <a:off x="0" y="0"/>
              <a:ext cx="656590" cy="8778240"/>
              <a:chOff x="0" y="0"/>
              <a:chExt cx="656590" cy="8778240"/>
            </a:xfrm>
          </p:grpSpPr>
          <p:sp>
            <p:nvSpPr>
              <p:cNvPr id="10" name="Freeform 10"/>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11" name="Freeform 11"/>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2" name="TextBox 12"/>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3" name="Group 13"/>
          <p:cNvGrpSpPr/>
          <p:nvPr/>
        </p:nvGrpSpPr>
        <p:grpSpPr>
          <a:xfrm>
            <a:off x="-40640" y="690880"/>
            <a:ext cx="9834880" cy="81280"/>
            <a:chOff x="0" y="0"/>
            <a:chExt cx="13113173" cy="108373"/>
          </a:xfrm>
        </p:grpSpPr>
        <p:sp>
          <p:nvSpPr>
            <p:cNvPr id="14" name="Freeform 14"/>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5" name="Group 15"/>
          <p:cNvGrpSpPr/>
          <p:nvPr/>
        </p:nvGrpSpPr>
        <p:grpSpPr>
          <a:xfrm>
            <a:off x="568960" y="6908800"/>
            <a:ext cx="8453120" cy="406400"/>
            <a:chOff x="0" y="0"/>
            <a:chExt cx="11270827" cy="541867"/>
          </a:xfrm>
        </p:grpSpPr>
        <p:sp>
          <p:nvSpPr>
            <p:cNvPr id="16" name="Freeform 16"/>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7" name="TextBox 17"/>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8" name="TextBox 18"/>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[‹2›]</a:t>
            </a:r>
          </a:p>
        </p:txBody>
      </p:sp>
      <p:grpSp>
        <p:nvGrpSpPr>
          <p:cNvPr id="19" name="Group 19"/>
          <p:cNvGrpSpPr>
            <a:grpSpLocks noChangeAspect="1"/>
          </p:cNvGrpSpPr>
          <p:nvPr/>
        </p:nvGrpSpPr>
        <p:grpSpPr>
          <a:xfrm>
            <a:off x="5758424" y="772160"/>
            <a:ext cx="3995176" cy="6014720"/>
            <a:chOff x="0" y="0"/>
            <a:chExt cx="11229975" cy="16906677"/>
          </a:xfrm>
        </p:grpSpPr>
        <p:sp>
          <p:nvSpPr>
            <p:cNvPr id="20" name="Freeform 20"/>
            <p:cNvSpPr/>
            <p:nvPr/>
          </p:nvSpPr>
          <p:spPr>
            <a:xfrm>
              <a:off x="0" y="0"/>
              <a:ext cx="11229975" cy="16906621"/>
            </a:xfrm>
            <a:custGeom>
              <a:avLst/>
              <a:gdLst/>
              <a:ahLst/>
              <a:cxnLst/>
              <a:rect l="l" t="t" r="r" b="b"/>
              <a:pathLst>
                <a:path w="11229975" h="16906621">
                  <a:moveTo>
                    <a:pt x="0" y="0"/>
                  </a:moveTo>
                  <a:lnTo>
                    <a:pt x="11229975" y="0"/>
                  </a:lnTo>
                  <a:lnTo>
                    <a:pt x="11229975" y="16906621"/>
                  </a:lnTo>
                  <a:lnTo>
                    <a:pt x="0" y="16906621"/>
                  </a:lnTo>
                  <a:lnTo>
                    <a:pt x="0" y="0"/>
                  </a:lnTo>
                  <a:close/>
                </a:path>
              </a:pathLst>
            </a:custGeom>
            <a:blipFill>
              <a:blip r:embed="rId4"/>
              <a:stretch>
                <a:fillRect l="-63117" r="-63117"/>
              </a:stretch>
            </a:blipFill>
          </p:spPr>
        </p:sp>
      </p:grpSp>
      <p:sp>
        <p:nvSpPr>
          <p:cNvPr id="21" name="TextBox 21"/>
          <p:cNvSpPr txBox="1"/>
          <p:nvPr/>
        </p:nvSpPr>
        <p:spPr>
          <a:xfrm>
            <a:off x="492443" y="90805"/>
            <a:ext cx="5137100" cy="514350"/>
          </a:xfrm>
          <a:prstGeom prst="rect">
            <a:avLst/>
          </a:prstGeom>
        </p:spPr>
        <p:txBody>
          <a:bodyPr lIns="0" tIns="0" rIns="0" bIns="0" rtlCol="0" anchor="t">
            <a:spAutoFit/>
          </a:bodyPr>
          <a:lstStyle/>
          <a:p>
            <a:pPr algn="ctr">
              <a:lnSpc>
                <a:spcPts val="4200"/>
              </a:lnSpc>
            </a:pPr>
            <a:r>
              <a:rPr lang="en-US" sz="2800" b="1" dirty="0">
                <a:solidFill>
                  <a:srgbClr val="000000"/>
                </a:solidFill>
                <a:latin typeface="Canva Sans Bold"/>
                <a:ea typeface="Canva Sans Bold"/>
                <a:cs typeface="Canva Sans Bold"/>
                <a:sym typeface="Canva Sans Bold"/>
              </a:rPr>
              <a:t>Introduction to My Journey</a:t>
            </a:r>
          </a:p>
        </p:txBody>
      </p:sp>
      <p:sp>
        <p:nvSpPr>
          <p:cNvPr id="22" name="TextBox 22"/>
          <p:cNvSpPr txBox="1"/>
          <p:nvPr/>
        </p:nvSpPr>
        <p:spPr>
          <a:xfrm>
            <a:off x="508541" y="1879838"/>
            <a:ext cx="5249883" cy="1125473"/>
          </a:xfrm>
          <a:prstGeom prst="rect">
            <a:avLst/>
          </a:prstGeom>
        </p:spPr>
        <p:txBody>
          <a:bodyPr lIns="0" tIns="0" rIns="0" bIns="0" rtlCol="0" anchor="t">
            <a:spAutoFit/>
          </a:bodyPr>
          <a:lstStyle/>
          <a:p>
            <a:pPr algn="ctr">
              <a:lnSpc>
                <a:spcPts val="2268"/>
              </a:lnSpc>
            </a:pPr>
            <a:r>
              <a:rPr lang="en-US" sz="1400">
                <a:solidFill>
                  <a:srgbClr val="CFD0D8"/>
                </a:solidFill>
                <a:latin typeface="Hammersmith One"/>
                <a:ea typeface="Hammersmith One"/>
                <a:cs typeface="Hammersmith One"/>
                <a:sym typeface="Hammersmith One"/>
              </a:rPr>
              <a:t>My internship at CODSOFT was a transformative experience in virtual web development.The company specializes in innovative web solutions, offering a dynamic environment to apply and expand my skills.</a:t>
            </a:r>
          </a:p>
        </p:txBody>
      </p:sp>
      <p:sp>
        <p:nvSpPr>
          <p:cNvPr id="23" name="TextBox 23"/>
          <p:cNvSpPr txBox="1"/>
          <p:nvPr/>
        </p:nvSpPr>
        <p:spPr>
          <a:xfrm>
            <a:off x="492443" y="3094735"/>
            <a:ext cx="5265981" cy="735965"/>
          </a:xfrm>
          <a:prstGeom prst="rect">
            <a:avLst/>
          </a:prstGeom>
        </p:spPr>
        <p:txBody>
          <a:bodyPr lIns="0" tIns="0" rIns="0" bIns="0" rtlCol="0" anchor="t">
            <a:spAutoFit/>
          </a:bodyPr>
          <a:lstStyle/>
          <a:p>
            <a:pPr algn="ctr">
              <a:lnSpc>
                <a:spcPts val="1960"/>
              </a:lnSpc>
            </a:pPr>
            <a:r>
              <a:rPr lang="en-US" sz="1400">
                <a:solidFill>
                  <a:srgbClr val="CFD0D8"/>
                </a:solidFill>
                <a:latin typeface="Hammersmith One"/>
                <a:ea typeface="Hammersmith One"/>
                <a:cs typeface="Hammersmith One"/>
                <a:sym typeface="Hammersmith One"/>
              </a:rPr>
              <a:t>I chose web development for its blend of creativity and problem-solving, a field where I can build tangible products that impact users directly.</a:t>
            </a:r>
          </a:p>
        </p:txBody>
      </p:sp>
      <p:sp>
        <p:nvSpPr>
          <p:cNvPr id="24" name="TextBox 24"/>
          <p:cNvSpPr txBox="1"/>
          <p:nvPr/>
        </p:nvSpPr>
        <p:spPr>
          <a:xfrm>
            <a:off x="492443" y="3887849"/>
            <a:ext cx="5265981" cy="1231265"/>
          </a:xfrm>
          <a:prstGeom prst="rect">
            <a:avLst/>
          </a:prstGeom>
        </p:spPr>
        <p:txBody>
          <a:bodyPr lIns="0" tIns="0" rIns="0" bIns="0" rtlCol="0" anchor="t">
            <a:spAutoFit/>
          </a:bodyPr>
          <a:lstStyle/>
          <a:p>
            <a:pPr algn="ctr">
              <a:lnSpc>
                <a:spcPts val="1960"/>
              </a:lnSpc>
            </a:pPr>
            <a:r>
              <a:rPr lang="en-US" sz="1400">
                <a:solidFill>
                  <a:srgbClr val="CFD0D8"/>
                </a:solidFill>
                <a:latin typeface="Hammersmith One"/>
                <a:ea typeface="Hammersmith One"/>
                <a:cs typeface="Hammersmith One"/>
                <a:sym typeface="Hammersmith One"/>
              </a:rPr>
              <a:t>The opportunity came to my attention through numerous posts on LinkedIn where I observed several of my peers enrolling in the CodSoft internship program. Intrigued by the prospect, I decided to seize the opportunity and enrolled in the web development internship.</a:t>
            </a:r>
          </a:p>
        </p:txBody>
      </p:sp>
      <p:sp>
        <p:nvSpPr>
          <p:cNvPr id="25" name="TextBox 25"/>
          <p:cNvSpPr txBox="1"/>
          <p:nvPr/>
        </p:nvSpPr>
        <p:spPr>
          <a:xfrm>
            <a:off x="492443" y="5204839"/>
            <a:ext cx="5265981" cy="488315"/>
          </a:xfrm>
          <a:prstGeom prst="rect">
            <a:avLst/>
          </a:prstGeom>
        </p:spPr>
        <p:txBody>
          <a:bodyPr lIns="0" tIns="0" rIns="0" bIns="0" rtlCol="0" anchor="t">
            <a:spAutoFit/>
          </a:bodyPr>
          <a:lstStyle/>
          <a:p>
            <a:pPr algn="ctr">
              <a:lnSpc>
                <a:spcPts val="1960"/>
              </a:lnSpc>
            </a:pPr>
            <a:r>
              <a:rPr lang="en-US" sz="1400">
                <a:solidFill>
                  <a:srgbClr val="CFD0D8"/>
                </a:solidFill>
                <a:latin typeface="Hammersmith One"/>
                <a:ea typeface="Hammersmith One"/>
                <a:cs typeface="Hammersmith One"/>
                <a:sym typeface="Hammersmith One"/>
              </a:rPr>
              <a:t>The internship spanned one month, packed with intensive learning and hands-on experience.</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896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[‹3›]</a:t>
            </a:r>
          </a:p>
        </p:txBody>
      </p:sp>
      <p:grpSp>
        <p:nvGrpSpPr>
          <p:cNvPr id="17" name="Group 17"/>
          <p:cNvGrpSpPr>
            <a:grpSpLocks noChangeAspect="1"/>
          </p:cNvGrpSpPr>
          <p:nvPr/>
        </p:nvGrpSpPr>
        <p:grpSpPr>
          <a:xfrm>
            <a:off x="6255644" y="1580944"/>
            <a:ext cx="2184730" cy="2184730"/>
            <a:chOff x="0" y="0"/>
            <a:chExt cx="6350000" cy="6350000"/>
          </a:xfrm>
        </p:grpSpPr>
        <p:sp>
          <p:nvSpPr>
            <p:cNvPr id="18" name="Freeform 18"/>
            <p:cNvSpPr/>
            <p:nvPr/>
          </p:nvSpPr>
          <p:spPr>
            <a:xfrm>
              <a:off x="0" y="0"/>
              <a:ext cx="6350000" cy="6350000"/>
            </a:xfrm>
            <a:custGeom>
              <a:avLst/>
              <a:gdLst/>
              <a:ahLst/>
              <a:cxnLst/>
              <a:rect l="l" t="t" r="r" b="b"/>
              <a:pathLst>
                <a:path w="6350000" h="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gradFill rotWithShape="1">
              <a:gsLst>
                <a:gs pos="0">
                  <a:srgbClr val="000000">
                    <a:alpha val="100000"/>
                  </a:srgbClr>
                </a:gs>
                <a:gs pos="100000">
                  <a:srgbClr val="3533CD">
                    <a:alpha val="100000"/>
                  </a:srgbClr>
                </a:gs>
              </a:gsLst>
              <a:lin ang="0"/>
            </a:gradFill>
          </p:spPr>
        </p:sp>
        <p:sp>
          <p:nvSpPr>
            <p:cNvPr id="19" name="Freeform 19"/>
            <p:cNvSpPr/>
            <p:nvPr/>
          </p:nvSpPr>
          <p:spPr>
            <a:xfrm>
              <a:off x="391160" y="364490"/>
              <a:ext cx="5619750" cy="5621020"/>
            </a:xfrm>
            <a:custGeom>
              <a:avLst/>
              <a:gdLst/>
              <a:ahLst/>
              <a:cxnLst/>
              <a:rect l="l" t="t" r="r" b="b"/>
              <a:pathLst>
                <a:path w="5619750" h="562102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3"/>
              <a:stretch>
                <a:fillRect l="-11" r="-11"/>
              </a:stretch>
            </a:blipFill>
          </p:spPr>
        </p:sp>
      </p:grpSp>
      <p:grpSp>
        <p:nvGrpSpPr>
          <p:cNvPr id="20" name="Group 20"/>
          <p:cNvGrpSpPr>
            <a:grpSpLocks noChangeAspect="1"/>
          </p:cNvGrpSpPr>
          <p:nvPr/>
        </p:nvGrpSpPr>
        <p:grpSpPr>
          <a:xfrm>
            <a:off x="7543069" y="3879079"/>
            <a:ext cx="2165543" cy="2165543"/>
            <a:chOff x="0" y="0"/>
            <a:chExt cx="6350000" cy="6350000"/>
          </a:xfrm>
        </p:grpSpPr>
        <p:sp>
          <p:nvSpPr>
            <p:cNvPr id="21" name="Freeform 21"/>
            <p:cNvSpPr/>
            <p:nvPr/>
          </p:nvSpPr>
          <p:spPr>
            <a:xfrm>
              <a:off x="0" y="0"/>
              <a:ext cx="6350000" cy="6350000"/>
            </a:xfrm>
            <a:custGeom>
              <a:avLst/>
              <a:gdLst/>
              <a:ahLst/>
              <a:cxnLst/>
              <a:rect l="l" t="t" r="r" b="b"/>
              <a:pathLst>
                <a:path w="6350000" h="6350000">
                  <a:moveTo>
                    <a:pt x="6350000" y="3175000"/>
                  </a:moveTo>
                  <a:cubicBezTo>
                    <a:pt x="6350000" y="1421130"/>
                    <a:pt x="4928870" y="0"/>
                    <a:pt x="3175000" y="0"/>
                  </a:cubicBezTo>
                  <a:lnTo>
                    <a:pt x="0" y="0"/>
                  </a:lnTo>
                  <a:lnTo>
                    <a:pt x="0" y="3175000"/>
                  </a:lnTo>
                  <a:cubicBezTo>
                    <a:pt x="0" y="4928870"/>
                    <a:pt x="1421130" y="6350000"/>
                    <a:pt x="3175000" y="6350000"/>
                  </a:cubicBezTo>
                  <a:cubicBezTo>
                    <a:pt x="4928870" y="6350000"/>
                    <a:pt x="6350000" y="4928870"/>
                    <a:pt x="6350000" y="3175000"/>
                  </a:cubicBezTo>
                  <a:close/>
                </a:path>
              </a:pathLst>
            </a:custGeom>
            <a:gradFill rotWithShape="1">
              <a:gsLst>
                <a:gs pos="15000">
                  <a:srgbClr val="7425E3">
                    <a:alpha val="100000"/>
                  </a:srgbClr>
                </a:gs>
                <a:gs pos="50000">
                  <a:srgbClr val="1FB1FF">
                    <a:alpha val="100000"/>
                  </a:srgbClr>
                </a:gs>
                <a:gs pos="85000">
                  <a:srgbClr val="64FE3E">
                    <a:alpha val="100000"/>
                  </a:srgbClr>
                </a:gs>
              </a:gsLst>
              <a:lin ang="18900000"/>
            </a:gradFill>
          </p:spPr>
        </p:sp>
        <p:sp>
          <p:nvSpPr>
            <p:cNvPr id="22" name="Freeform 22"/>
            <p:cNvSpPr/>
            <p:nvPr/>
          </p:nvSpPr>
          <p:spPr>
            <a:xfrm>
              <a:off x="199010" y="359986"/>
              <a:ext cx="5898640" cy="5630028"/>
            </a:xfrm>
            <a:custGeom>
              <a:avLst/>
              <a:gdLst/>
              <a:ahLst/>
              <a:cxnLst/>
              <a:rect l="l" t="t" r="r" b="b"/>
              <a:pathLst>
                <a:path w="5898640" h="5630028">
                  <a:moveTo>
                    <a:pt x="2949320" y="4504"/>
                  </a:moveTo>
                  <a:cubicBezTo>
                    <a:pt x="1942227" y="0"/>
                    <a:pt x="1009702" y="534693"/>
                    <a:pt x="504851" y="1406118"/>
                  </a:cubicBezTo>
                  <a:cubicBezTo>
                    <a:pt x="0" y="2277543"/>
                    <a:pt x="0" y="3352485"/>
                    <a:pt x="504851" y="4223910"/>
                  </a:cubicBezTo>
                  <a:cubicBezTo>
                    <a:pt x="1009702" y="5095335"/>
                    <a:pt x="1942227" y="5630028"/>
                    <a:pt x="2949320" y="5625524"/>
                  </a:cubicBezTo>
                  <a:cubicBezTo>
                    <a:pt x="3956413" y="5630028"/>
                    <a:pt x="4888938" y="5095335"/>
                    <a:pt x="5393789" y="4223910"/>
                  </a:cubicBezTo>
                  <a:cubicBezTo>
                    <a:pt x="5898640" y="3352485"/>
                    <a:pt x="5898640" y="2277543"/>
                    <a:pt x="5393789" y="1406118"/>
                  </a:cubicBezTo>
                  <a:cubicBezTo>
                    <a:pt x="4888938" y="534693"/>
                    <a:pt x="3956413" y="0"/>
                    <a:pt x="2949320" y="4504"/>
                  </a:cubicBezTo>
                  <a:close/>
                </a:path>
              </a:pathLst>
            </a:custGeom>
            <a:blipFill>
              <a:blip r:embed="rId4"/>
              <a:stretch>
                <a:fillRect l="-35581" r="-35581"/>
              </a:stretch>
            </a:blipFill>
          </p:spPr>
        </p:sp>
      </p:grpSp>
      <p:sp>
        <p:nvSpPr>
          <p:cNvPr id="23" name="TextBox 23"/>
          <p:cNvSpPr txBox="1"/>
          <p:nvPr/>
        </p:nvSpPr>
        <p:spPr>
          <a:xfrm>
            <a:off x="512287" y="49743"/>
            <a:ext cx="5759797" cy="580390"/>
          </a:xfrm>
          <a:prstGeom prst="rect">
            <a:avLst/>
          </a:prstGeom>
        </p:spPr>
        <p:txBody>
          <a:bodyPr lIns="0" tIns="0" rIns="0" bIns="0" rtlCol="0" anchor="t">
            <a:spAutoFit/>
          </a:bodyPr>
          <a:lstStyle/>
          <a:p>
            <a:pPr algn="ctr">
              <a:lnSpc>
                <a:spcPts val="4759"/>
              </a:lnSpc>
            </a:pPr>
            <a:r>
              <a:rPr lang="en-US" sz="3200" b="1" dirty="0">
                <a:solidFill>
                  <a:srgbClr val="000000"/>
                </a:solidFill>
                <a:latin typeface="Canva Sans Bold"/>
                <a:ea typeface="Canva Sans Bold"/>
                <a:cs typeface="Canva Sans Bold"/>
                <a:sym typeface="Canva Sans Bold"/>
              </a:rPr>
              <a:t>What is Web Development?</a:t>
            </a:r>
          </a:p>
        </p:txBody>
      </p:sp>
      <p:sp>
        <p:nvSpPr>
          <p:cNvPr id="24" name="TextBox 24"/>
          <p:cNvSpPr txBox="1"/>
          <p:nvPr/>
        </p:nvSpPr>
        <p:spPr>
          <a:xfrm>
            <a:off x="588332" y="1308736"/>
            <a:ext cx="5607708" cy="2638424"/>
          </a:xfrm>
          <a:prstGeom prst="rect">
            <a:avLst/>
          </a:prstGeom>
        </p:spPr>
        <p:txBody>
          <a:bodyPr lIns="0" tIns="0" rIns="0" bIns="0" rtlCol="0" anchor="t">
            <a:spAutoFit/>
          </a:bodyPr>
          <a:lstStyle/>
          <a:p>
            <a:pPr algn="ctr">
              <a:lnSpc>
                <a:spcPts val="2325"/>
              </a:lnSpc>
            </a:pPr>
            <a:r>
              <a:rPr lang="en-US" sz="1500">
                <a:solidFill>
                  <a:srgbClr val="000000"/>
                </a:solidFill>
                <a:latin typeface="Hammersmith One"/>
                <a:ea typeface="Hammersmith One"/>
                <a:cs typeface="Hammersmith One"/>
                <a:sym typeface="Hammersmith One"/>
              </a:rPr>
              <a:t>Web development is a multidisciplinary field involving the design, creation, and maintenance of websites and web applications. It ranges from building static, content-based pages to developing complex, interactive platforms such as enterprise-level applications, social networking systems, and e-commerce solutions. The discipline integrates user interface design, server-side programming, database management, and modern frameworks to deliver efficient, scalable, and user-centric digital experiences.</a:t>
            </a:r>
          </a:p>
        </p:txBody>
      </p:sp>
      <p:sp>
        <p:nvSpPr>
          <p:cNvPr id="25" name="TextBox 25"/>
          <p:cNvSpPr txBox="1"/>
          <p:nvPr/>
        </p:nvSpPr>
        <p:spPr>
          <a:xfrm>
            <a:off x="588332" y="4318057"/>
            <a:ext cx="6858847" cy="1752600"/>
          </a:xfrm>
          <a:prstGeom prst="rect">
            <a:avLst/>
          </a:prstGeom>
        </p:spPr>
        <p:txBody>
          <a:bodyPr lIns="0" tIns="0" rIns="0" bIns="0" rtlCol="0" anchor="t">
            <a:spAutoFit/>
          </a:bodyPr>
          <a:lstStyle/>
          <a:p>
            <a:pPr algn="ctr">
              <a:lnSpc>
                <a:spcPts val="2239"/>
              </a:lnSpc>
            </a:pPr>
            <a:r>
              <a:rPr lang="en-US" sz="1599">
                <a:solidFill>
                  <a:srgbClr val="000000"/>
                </a:solidFill>
                <a:latin typeface="Hammersmith One"/>
                <a:ea typeface="Hammersmith One"/>
                <a:cs typeface="Hammersmith One"/>
                <a:sym typeface="Hammersmith One"/>
              </a:rPr>
              <a:t>Web development comprises three primary components:-</a:t>
            </a:r>
          </a:p>
          <a:p>
            <a:pPr algn="ctr">
              <a:lnSpc>
                <a:spcPts val="1960"/>
              </a:lnSpc>
            </a:pPr>
            <a:endParaRPr/>
          </a:p>
          <a:p>
            <a:pPr marL="302261" lvl="1" indent="-151130" algn="l">
              <a:lnSpc>
                <a:spcPts val="1960"/>
              </a:lnSpc>
              <a:buFont typeface="Arial"/>
              <a:buChar char="•"/>
            </a:pPr>
            <a:r>
              <a:rPr lang="en-US" sz="1400">
                <a:solidFill>
                  <a:srgbClr val="000000"/>
                </a:solidFill>
                <a:latin typeface="Hammersmith One"/>
                <a:ea typeface="Hammersmith One"/>
                <a:cs typeface="Hammersmith One"/>
                <a:sym typeface="Hammersmith One"/>
              </a:rPr>
              <a:t>Frontend (Client-side): What users see (HTML, CSS, JavaScript).</a:t>
            </a:r>
          </a:p>
          <a:p>
            <a:pPr marL="302261" lvl="1" indent="-151130" algn="l">
              <a:lnSpc>
                <a:spcPts val="1960"/>
              </a:lnSpc>
              <a:buFont typeface="Arial"/>
              <a:buChar char="•"/>
            </a:pPr>
            <a:r>
              <a:rPr lang="en-US" sz="1400">
                <a:solidFill>
                  <a:srgbClr val="000000"/>
                </a:solidFill>
                <a:latin typeface="Hammersmith One"/>
                <a:ea typeface="Hammersmith One"/>
                <a:cs typeface="Hammersmith One"/>
                <a:sym typeface="Hammersmith One"/>
              </a:rPr>
              <a:t>Backend (Server-side): Logic, databases, and server handling (e.g., Node.js, Python).</a:t>
            </a:r>
          </a:p>
          <a:p>
            <a:pPr marL="302261" lvl="1" indent="-151130" algn="l">
              <a:lnSpc>
                <a:spcPts val="1960"/>
              </a:lnSpc>
              <a:buFont typeface="Arial"/>
              <a:buChar char="•"/>
            </a:pPr>
            <a:r>
              <a:rPr lang="en-US" sz="1400">
                <a:solidFill>
                  <a:srgbClr val="000000"/>
                </a:solidFill>
                <a:latin typeface="Hammersmith One"/>
                <a:ea typeface="Hammersmith One"/>
                <a:cs typeface="Hammersmith One"/>
                <a:sym typeface="Hammersmith One"/>
              </a:rPr>
              <a:t>Full Stack: Combines both frontend and backend.</a:t>
            </a:r>
          </a:p>
          <a:p>
            <a:pPr algn="ctr">
              <a:lnSpc>
                <a:spcPts val="1960"/>
              </a:lnSpc>
            </a:pP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896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Freeform 16"/>
          <p:cNvSpPr/>
          <p:nvPr/>
        </p:nvSpPr>
        <p:spPr>
          <a:xfrm>
            <a:off x="615556" y="1809916"/>
            <a:ext cx="8772284" cy="3856150"/>
          </a:xfrm>
          <a:custGeom>
            <a:avLst/>
            <a:gdLst/>
            <a:ahLst/>
            <a:cxnLst/>
            <a:rect l="l" t="t" r="r" b="b"/>
            <a:pathLst>
              <a:path w="8772284" h="3856150">
                <a:moveTo>
                  <a:pt x="0" y="0"/>
                </a:moveTo>
                <a:lnTo>
                  <a:pt x="8772284" y="0"/>
                </a:lnTo>
                <a:lnTo>
                  <a:pt x="8772284" y="3856150"/>
                </a:lnTo>
                <a:lnTo>
                  <a:pt x="0" y="3856150"/>
                </a:lnTo>
                <a:lnTo>
                  <a:pt x="0" y="0"/>
                </a:lnTo>
                <a:close/>
              </a:path>
            </a:pathLst>
          </a:custGeom>
          <a:blipFill>
            <a:blip r:embed="rId3"/>
            <a:stretch>
              <a:fillRect/>
            </a:stretch>
          </a:blipFill>
        </p:spPr>
      </p:sp>
      <p:sp>
        <p:nvSpPr>
          <p:cNvPr id="17" name="TextBox 17"/>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[‹4›]</a:t>
            </a:r>
          </a:p>
        </p:txBody>
      </p:sp>
      <p:sp>
        <p:nvSpPr>
          <p:cNvPr id="18" name="TextBox 18"/>
          <p:cNvSpPr txBox="1"/>
          <p:nvPr/>
        </p:nvSpPr>
        <p:spPr>
          <a:xfrm>
            <a:off x="1267272" y="1433803"/>
            <a:ext cx="6833477" cy="338013"/>
          </a:xfrm>
          <a:prstGeom prst="rect">
            <a:avLst/>
          </a:prstGeom>
        </p:spPr>
        <p:txBody>
          <a:bodyPr lIns="0" tIns="0" rIns="0" bIns="0" rtlCol="0" anchor="t">
            <a:spAutoFit/>
          </a:bodyPr>
          <a:lstStyle/>
          <a:p>
            <a:pPr algn="ctr">
              <a:lnSpc>
                <a:spcPts val="2894"/>
              </a:lnSpc>
            </a:pPr>
            <a:r>
              <a:rPr lang="en-US" sz="2067" b="1">
                <a:solidFill>
                  <a:srgbClr val="000000"/>
                </a:solidFill>
                <a:latin typeface="Canva Sans Bold"/>
                <a:ea typeface="Canva Sans Bold"/>
                <a:cs typeface="Canva Sans Bold"/>
                <a:sym typeface="Canva Sans Bold"/>
              </a:rPr>
              <a:t>Basic Workflow in Web Development</a:t>
            </a: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a:grpSpLocks noChangeAspect="1"/>
          </p:cNvGrpSpPr>
          <p:nvPr/>
        </p:nvGrpSpPr>
        <p:grpSpPr>
          <a:xfrm>
            <a:off x="304800" y="685800"/>
            <a:ext cx="9448800" cy="6096000"/>
            <a:chOff x="0" y="0"/>
            <a:chExt cx="24384000" cy="13716000"/>
          </a:xfrm>
        </p:grpSpPr>
        <p:sp>
          <p:nvSpPr>
            <p:cNvPr id="7" name="Freeform 7"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8" name="Group 8"/>
          <p:cNvGrpSpPr/>
          <p:nvPr/>
        </p:nvGrpSpPr>
        <p:grpSpPr>
          <a:xfrm>
            <a:off x="0" y="731520"/>
            <a:ext cx="492443" cy="6583680"/>
            <a:chOff x="0" y="0"/>
            <a:chExt cx="656590" cy="8778240"/>
          </a:xfrm>
        </p:grpSpPr>
        <p:grpSp>
          <p:nvGrpSpPr>
            <p:cNvPr id="9" name="Group 9"/>
            <p:cNvGrpSpPr/>
            <p:nvPr/>
          </p:nvGrpSpPr>
          <p:grpSpPr>
            <a:xfrm>
              <a:off x="0" y="0"/>
              <a:ext cx="656590" cy="8778240"/>
              <a:chOff x="0" y="0"/>
              <a:chExt cx="656590" cy="8778240"/>
            </a:xfrm>
          </p:grpSpPr>
          <p:sp>
            <p:nvSpPr>
              <p:cNvPr id="10" name="Freeform 10"/>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11" name="Freeform 11"/>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2" name="TextBox 12"/>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3" name="Group 13"/>
          <p:cNvGrpSpPr/>
          <p:nvPr/>
        </p:nvGrpSpPr>
        <p:grpSpPr>
          <a:xfrm>
            <a:off x="-40640" y="690880"/>
            <a:ext cx="9834880" cy="81280"/>
            <a:chOff x="0" y="0"/>
            <a:chExt cx="13113173" cy="108373"/>
          </a:xfrm>
        </p:grpSpPr>
        <p:sp>
          <p:nvSpPr>
            <p:cNvPr id="14" name="Freeform 14"/>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5" name="Group 15"/>
          <p:cNvGrpSpPr/>
          <p:nvPr/>
        </p:nvGrpSpPr>
        <p:grpSpPr>
          <a:xfrm>
            <a:off x="568960" y="6908800"/>
            <a:ext cx="8453120" cy="406400"/>
            <a:chOff x="0" y="0"/>
            <a:chExt cx="11270827" cy="541867"/>
          </a:xfrm>
        </p:grpSpPr>
        <p:sp>
          <p:nvSpPr>
            <p:cNvPr id="16" name="Freeform 16"/>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7" name="TextBox 17"/>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8" name="TextBox 18"/>
          <p:cNvSpPr txBox="1"/>
          <p:nvPr/>
        </p:nvSpPr>
        <p:spPr>
          <a:xfrm>
            <a:off x="658781" y="1309481"/>
            <a:ext cx="8840819" cy="4203065"/>
          </a:xfrm>
          <a:prstGeom prst="rect">
            <a:avLst/>
          </a:prstGeom>
        </p:spPr>
        <p:txBody>
          <a:bodyPr lIns="0" tIns="0" rIns="0" bIns="0" rtlCol="0" anchor="t">
            <a:spAutoFit/>
          </a:bodyPr>
          <a:lstStyle/>
          <a:p>
            <a:pPr algn="ctr">
              <a:lnSpc>
                <a:spcPts val="1959"/>
              </a:lnSpc>
            </a:pPr>
            <a:r>
              <a:rPr lang="en-US" sz="1399">
                <a:solidFill>
                  <a:srgbClr val="CFD0D8"/>
                </a:solidFill>
                <a:latin typeface="Hammersmith One"/>
                <a:ea typeface="Hammersmith One"/>
                <a:cs typeface="Hammersmith One"/>
                <a:sym typeface="Hammersmith One"/>
              </a:rPr>
              <a:t>The frontend development constitutes the client-facing layer of a website or web application—essentially, the interface through which users interact directly. It encompasses all visual and interactive components rendered within the user’s browser, including layout structures, aesthetic design, and dynamic features. The primary objective of frontend development is to deliver a visually engaging, intuitive, and responsive user experience.</a:t>
            </a:r>
          </a:p>
          <a:p>
            <a:pPr algn="ctr">
              <a:lnSpc>
                <a:spcPts val="1959"/>
              </a:lnSpc>
            </a:pPr>
            <a:endParaRPr/>
          </a:p>
          <a:p>
            <a:pPr algn="ctr">
              <a:lnSpc>
                <a:spcPts val="1959"/>
              </a:lnSpc>
            </a:pPr>
            <a:r>
              <a:rPr lang="en-US" sz="1399">
                <a:solidFill>
                  <a:srgbClr val="CFD0D8"/>
                </a:solidFill>
                <a:latin typeface="Hammersmith One"/>
                <a:ea typeface="Hammersmith One"/>
                <a:cs typeface="Hammersmith One"/>
                <a:sym typeface="Hammersmith One"/>
              </a:rPr>
              <a:t>Key aspects include:</a:t>
            </a:r>
          </a:p>
          <a:p>
            <a:pPr marL="302259" lvl="1" indent="-151129" algn="ctr">
              <a:lnSpc>
                <a:spcPts val="1959"/>
              </a:lnSpc>
              <a:buFont typeface="Arial"/>
              <a:buChar char="•"/>
            </a:pPr>
            <a:r>
              <a:rPr lang="en-US" sz="1399">
                <a:solidFill>
                  <a:srgbClr val="CFD0D8"/>
                </a:solidFill>
                <a:latin typeface="Hammersmith One"/>
                <a:ea typeface="Hammersmith One"/>
                <a:cs typeface="Hammersmith One"/>
                <a:sym typeface="Hammersmith One"/>
              </a:rPr>
              <a:t>User Interface (UI) Design: Emphasizes the creation of visually coherent and aesthetically refined interfaces through the thoughtful application of layout, color schemes, typography, and interactive elements.</a:t>
            </a:r>
          </a:p>
          <a:p>
            <a:pPr marL="302259" lvl="1" indent="-151129" algn="ctr">
              <a:lnSpc>
                <a:spcPts val="1959"/>
              </a:lnSpc>
              <a:buFont typeface="Arial"/>
              <a:buChar char="•"/>
            </a:pPr>
            <a:r>
              <a:rPr lang="en-US" sz="1399">
                <a:solidFill>
                  <a:srgbClr val="CFD0D8"/>
                </a:solidFill>
                <a:latin typeface="Hammersmith One"/>
                <a:ea typeface="Hammersmith One"/>
                <a:cs typeface="Hammersmith One"/>
                <a:sym typeface="Hammersmith One"/>
              </a:rPr>
              <a:t>Responsiveness: Ensures seamless adaptability across a wide range of devices and screen sizes, maintaining consistent usability and visual integrity on desktops, tablets, and smartphones.</a:t>
            </a:r>
          </a:p>
          <a:p>
            <a:pPr marL="302259" lvl="1" indent="-151129" algn="ctr">
              <a:lnSpc>
                <a:spcPts val="1959"/>
              </a:lnSpc>
              <a:buFont typeface="Arial"/>
              <a:buChar char="•"/>
            </a:pPr>
            <a:r>
              <a:rPr lang="en-US" sz="1399">
                <a:solidFill>
                  <a:srgbClr val="CFD0D8"/>
                </a:solidFill>
                <a:latin typeface="Hammersmith One"/>
                <a:ea typeface="Hammersmith One"/>
                <a:cs typeface="Hammersmith One"/>
                <a:sym typeface="Hammersmith One"/>
              </a:rPr>
              <a:t>Interactivity: Implements dynamic and user-driven functionalities—such as forms, buttons, animations, and real-time content updates—that foster user engagement and improve usability.</a:t>
            </a:r>
          </a:p>
          <a:p>
            <a:pPr marL="302259" lvl="1" indent="-151129" algn="ctr">
              <a:lnSpc>
                <a:spcPts val="1959"/>
              </a:lnSpc>
              <a:buFont typeface="Arial"/>
              <a:buChar char="•"/>
            </a:pPr>
            <a:r>
              <a:rPr lang="en-US" sz="1399">
                <a:solidFill>
                  <a:srgbClr val="CFD0D8"/>
                </a:solidFill>
                <a:latin typeface="Hammersmith One"/>
                <a:ea typeface="Hammersmith One"/>
                <a:cs typeface="Hammersmith One"/>
                <a:sym typeface="Hammersmith One"/>
              </a:rPr>
              <a:t>Cross-Browser Compatibility: Guarantees uniform functionality and performance across all major web browsers, including Chrome, Firefox, Safari, and Edge, thereby enhancing accessibility and user reach.</a:t>
            </a:r>
          </a:p>
          <a:p>
            <a:pPr algn="ctr">
              <a:lnSpc>
                <a:spcPts val="1959"/>
              </a:lnSpc>
            </a:pPr>
            <a:endParaRPr/>
          </a:p>
        </p:txBody>
      </p:sp>
      <p:sp>
        <p:nvSpPr>
          <p:cNvPr id="19" name="TextBox 19"/>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[‹5›]</a:t>
            </a:r>
          </a:p>
        </p:txBody>
      </p:sp>
      <p:sp>
        <p:nvSpPr>
          <p:cNvPr id="20" name="TextBox 20"/>
          <p:cNvSpPr txBox="1"/>
          <p:nvPr/>
        </p:nvSpPr>
        <p:spPr>
          <a:xfrm>
            <a:off x="568960" y="87527"/>
            <a:ext cx="6673751" cy="514348"/>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About Frontend Web Development?</a:t>
            </a: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04800" y="762000"/>
            <a:ext cx="9448800" cy="6081077"/>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40640" y="6786880"/>
            <a:ext cx="9834880" cy="81280"/>
            <a:chOff x="0" y="0"/>
            <a:chExt cx="13113173" cy="108373"/>
          </a:xfrm>
        </p:grpSpPr>
        <p:sp>
          <p:nvSpPr>
            <p:cNvPr id="5" name="Freeform 5"/>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6" name="Group 6"/>
          <p:cNvGrpSpPr>
            <a:grpSpLocks noChangeAspect="1"/>
          </p:cNvGrpSpPr>
          <p:nvPr/>
        </p:nvGrpSpPr>
        <p:grpSpPr>
          <a:xfrm>
            <a:off x="9022080" y="15031"/>
            <a:ext cx="731520" cy="716489"/>
            <a:chOff x="0" y="0"/>
            <a:chExt cx="975360" cy="955318"/>
          </a:xfrm>
        </p:grpSpPr>
        <p:sp>
          <p:nvSpPr>
            <p:cNvPr id="7" name="Freeform 7"/>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3"/>
              <a:stretch>
                <a:fillRect b="-2"/>
              </a:stretch>
            </a:blipFill>
          </p:spPr>
        </p:sp>
      </p:grpSp>
      <p:grpSp>
        <p:nvGrpSpPr>
          <p:cNvPr id="8" name="Group 8"/>
          <p:cNvGrpSpPr/>
          <p:nvPr/>
        </p:nvGrpSpPr>
        <p:grpSpPr>
          <a:xfrm>
            <a:off x="0" y="731520"/>
            <a:ext cx="492443" cy="6583680"/>
            <a:chOff x="0" y="0"/>
            <a:chExt cx="656590" cy="8778240"/>
          </a:xfrm>
        </p:grpSpPr>
        <p:grpSp>
          <p:nvGrpSpPr>
            <p:cNvPr id="9" name="Group 9"/>
            <p:cNvGrpSpPr/>
            <p:nvPr/>
          </p:nvGrpSpPr>
          <p:grpSpPr>
            <a:xfrm>
              <a:off x="0" y="0"/>
              <a:ext cx="656590" cy="8778240"/>
              <a:chOff x="0" y="0"/>
              <a:chExt cx="656590" cy="8778240"/>
            </a:xfrm>
          </p:grpSpPr>
          <p:sp>
            <p:nvSpPr>
              <p:cNvPr id="10" name="Freeform 10"/>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11" name="Freeform 11"/>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2" name="TextBox 12"/>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3" name="Group 13"/>
          <p:cNvGrpSpPr/>
          <p:nvPr/>
        </p:nvGrpSpPr>
        <p:grpSpPr>
          <a:xfrm>
            <a:off x="-40640" y="690880"/>
            <a:ext cx="9834880" cy="81280"/>
            <a:chOff x="0" y="0"/>
            <a:chExt cx="13113173" cy="108373"/>
          </a:xfrm>
        </p:grpSpPr>
        <p:sp>
          <p:nvSpPr>
            <p:cNvPr id="14" name="Freeform 14"/>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5" name="Group 15"/>
          <p:cNvGrpSpPr/>
          <p:nvPr/>
        </p:nvGrpSpPr>
        <p:grpSpPr>
          <a:xfrm>
            <a:off x="568960" y="6908800"/>
            <a:ext cx="8453120" cy="406400"/>
            <a:chOff x="0" y="0"/>
            <a:chExt cx="11270827" cy="541867"/>
          </a:xfrm>
        </p:grpSpPr>
        <p:sp>
          <p:nvSpPr>
            <p:cNvPr id="16" name="Freeform 16"/>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7" name="TextBox 17"/>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8" name="Freeform 18"/>
          <p:cNvSpPr/>
          <p:nvPr/>
        </p:nvSpPr>
        <p:spPr>
          <a:xfrm>
            <a:off x="492443" y="3706274"/>
            <a:ext cx="9196611" cy="856162"/>
          </a:xfrm>
          <a:custGeom>
            <a:avLst/>
            <a:gdLst/>
            <a:ahLst/>
            <a:cxnLst/>
            <a:rect l="l" t="t" r="r" b="b"/>
            <a:pathLst>
              <a:path w="9196611" h="856162">
                <a:moveTo>
                  <a:pt x="0" y="0"/>
                </a:moveTo>
                <a:lnTo>
                  <a:pt x="9196610" y="0"/>
                </a:lnTo>
                <a:lnTo>
                  <a:pt x="9196610" y="856162"/>
                </a:lnTo>
                <a:lnTo>
                  <a:pt x="0" y="856162"/>
                </a:lnTo>
                <a:lnTo>
                  <a:pt x="0" y="0"/>
                </a:lnTo>
                <a:close/>
              </a:path>
            </a:pathLst>
          </a:custGeom>
          <a:blipFill>
            <a:blip r:embed="rId4" cstate="print"/>
            <a:stretch>
              <a:fillRect l="-1515" t="-8838" b="-8838"/>
            </a:stretch>
          </a:blipFill>
        </p:spPr>
      </p:sp>
      <p:sp>
        <p:nvSpPr>
          <p:cNvPr id="19" name="TextBox 19"/>
          <p:cNvSpPr txBox="1"/>
          <p:nvPr/>
        </p:nvSpPr>
        <p:spPr>
          <a:xfrm>
            <a:off x="492443" y="1816572"/>
            <a:ext cx="9196611" cy="1231265"/>
          </a:xfrm>
          <a:prstGeom prst="rect">
            <a:avLst/>
          </a:prstGeom>
        </p:spPr>
        <p:txBody>
          <a:bodyPr lIns="0" tIns="0" rIns="0" bIns="0" rtlCol="0" anchor="t">
            <a:spAutoFit/>
          </a:bodyPr>
          <a:lstStyle/>
          <a:p>
            <a:pPr algn="ctr">
              <a:lnSpc>
                <a:spcPts val="1960"/>
              </a:lnSpc>
            </a:pPr>
            <a:r>
              <a:rPr lang="en-US" sz="1400">
                <a:solidFill>
                  <a:srgbClr val="CFD0D8"/>
                </a:solidFill>
                <a:latin typeface="Hammersmith One"/>
                <a:ea typeface="Hammersmith One"/>
                <a:cs typeface="Hammersmith One"/>
                <a:sym typeface="Hammersmith One"/>
              </a:rPr>
              <a:t>The Backend development pertains to the server-side architecture of a web application—the critical infrastructure that operates behind the scenes to process requests, manage data, and execute business logic. While the frontend delivers the user interface, the backend ensures that the application functions efficiently, securely, and reliably by enabling communication between the user interface and the server, database, and other systems.</a:t>
            </a:r>
          </a:p>
        </p:txBody>
      </p:sp>
      <p:sp>
        <p:nvSpPr>
          <p:cNvPr id="20" name="TextBox 20"/>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[‹6›]</a:t>
            </a:r>
          </a:p>
        </p:txBody>
      </p:sp>
      <p:sp>
        <p:nvSpPr>
          <p:cNvPr id="21" name="TextBox 21"/>
          <p:cNvSpPr txBox="1"/>
          <p:nvPr/>
        </p:nvSpPr>
        <p:spPr>
          <a:xfrm>
            <a:off x="568960" y="176532"/>
            <a:ext cx="6565255" cy="514348"/>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About Backend Web Development?</a:t>
            </a:r>
          </a:p>
        </p:txBody>
      </p:sp>
      <p:sp>
        <p:nvSpPr>
          <p:cNvPr id="22" name="TextBox 22"/>
          <p:cNvSpPr txBox="1"/>
          <p:nvPr/>
        </p:nvSpPr>
        <p:spPr>
          <a:xfrm>
            <a:off x="597629" y="5458052"/>
            <a:ext cx="9196611" cy="983615"/>
          </a:xfrm>
          <a:prstGeom prst="rect">
            <a:avLst/>
          </a:prstGeom>
        </p:spPr>
        <p:txBody>
          <a:bodyPr lIns="0" tIns="0" rIns="0" bIns="0" rtlCol="0" anchor="t">
            <a:spAutoFit/>
          </a:bodyPr>
          <a:lstStyle/>
          <a:p>
            <a:pPr algn="ctr">
              <a:lnSpc>
                <a:spcPts val="1960"/>
              </a:lnSpc>
            </a:pPr>
            <a:r>
              <a:rPr lang="en-US" sz="1400">
                <a:solidFill>
                  <a:srgbClr val="CFD0D8"/>
                </a:solidFill>
                <a:latin typeface="Hammersmith One"/>
                <a:ea typeface="Hammersmith One"/>
                <a:cs typeface="Hammersmith One"/>
                <a:sym typeface="Hammersmith One"/>
              </a:rPr>
              <a:t>In essence, backend development is foundational to the performance, scalability, and reliability of web applications, ensuring that the user-facing components are powered by a secure and efficient underlying system.</a:t>
            </a:r>
          </a:p>
          <a:p>
            <a:pPr algn="ctr">
              <a:lnSpc>
                <a:spcPts val="1960"/>
              </a:lnSpc>
            </a:pPr>
            <a:endParaRPr/>
          </a:p>
        </p:txBody>
      </p:sp>
      <p:sp>
        <p:nvSpPr>
          <p:cNvPr id="23" name="TextBox 23"/>
          <p:cNvSpPr txBox="1"/>
          <p:nvPr/>
        </p:nvSpPr>
        <p:spPr>
          <a:xfrm>
            <a:off x="3352784" y="3237313"/>
            <a:ext cx="3475928" cy="323214"/>
          </a:xfrm>
          <a:prstGeom prst="rect">
            <a:avLst/>
          </a:prstGeom>
        </p:spPr>
        <p:txBody>
          <a:bodyPr lIns="0" tIns="0" rIns="0" bIns="0" rtlCol="0" anchor="t">
            <a:spAutoFit/>
          </a:bodyPr>
          <a:lstStyle/>
          <a:p>
            <a:pPr algn="l">
              <a:lnSpc>
                <a:spcPts val="2660"/>
              </a:lnSpc>
            </a:pPr>
            <a:r>
              <a:rPr lang="en-US" sz="1900" b="1">
                <a:solidFill>
                  <a:srgbClr val="FFFFFF"/>
                </a:solidFill>
                <a:latin typeface="Canva Sans Bold"/>
                <a:ea typeface="Canva Sans Bold"/>
                <a:cs typeface="Canva Sans Bold"/>
                <a:sym typeface="Canva Sans Bold"/>
              </a:rPr>
              <a:t>Basic Backend Architecture</a:t>
            </a: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896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[‹7›]</a:t>
            </a:r>
          </a:p>
        </p:txBody>
      </p:sp>
      <p:sp>
        <p:nvSpPr>
          <p:cNvPr id="17" name="TextBox 17"/>
          <p:cNvSpPr txBox="1"/>
          <p:nvPr/>
        </p:nvSpPr>
        <p:spPr>
          <a:xfrm>
            <a:off x="639763" y="93982"/>
            <a:ext cx="4673918" cy="564001"/>
          </a:xfrm>
          <a:prstGeom prst="rect">
            <a:avLst/>
          </a:prstGeom>
        </p:spPr>
        <p:txBody>
          <a:bodyPr lIns="0" tIns="0" rIns="0" bIns="0" rtlCol="0" anchor="t">
            <a:spAutoFit/>
          </a:bodyPr>
          <a:lstStyle/>
          <a:p>
            <a:pPr algn="ctr">
              <a:lnSpc>
                <a:spcPts val="4900"/>
              </a:lnSpc>
            </a:pPr>
            <a:r>
              <a:rPr lang="en-US" sz="2800" b="1" dirty="0">
                <a:solidFill>
                  <a:srgbClr val="000000"/>
                </a:solidFill>
                <a:latin typeface="Canva Sans Bold"/>
                <a:ea typeface="Canva Sans Bold"/>
                <a:cs typeface="Canva Sans Bold"/>
                <a:sym typeface="Canva Sans Bold"/>
              </a:rPr>
              <a:t>Internship Objectives</a:t>
            </a:r>
          </a:p>
        </p:txBody>
      </p:sp>
      <p:grpSp>
        <p:nvGrpSpPr>
          <p:cNvPr id="18" name="Group 18"/>
          <p:cNvGrpSpPr/>
          <p:nvPr/>
        </p:nvGrpSpPr>
        <p:grpSpPr>
          <a:xfrm>
            <a:off x="639763" y="4304983"/>
            <a:ext cx="2817892" cy="1652349"/>
            <a:chOff x="0" y="0"/>
            <a:chExt cx="7044730" cy="4130873"/>
          </a:xfrm>
        </p:grpSpPr>
        <p:sp>
          <p:nvSpPr>
            <p:cNvPr id="19" name="Freeform 19"/>
            <p:cNvSpPr/>
            <p:nvPr/>
          </p:nvSpPr>
          <p:spPr>
            <a:xfrm>
              <a:off x="25400" y="25400"/>
              <a:ext cx="6994017" cy="4080129"/>
            </a:xfrm>
            <a:custGeom>
              <a:avLst/>
              <a:gdLst/>
              <a:ahLst/>
              <a:cxnLst/>
              <a:rect l="l" t="t" r="r" b="b"/>
              <a:pathLst>
                <a:path w="6994017" h="4080129">
                  <a:moveTo>
                    <a:pt x="0" y="243840"/>
                  </a:moveTo>
                  <a:cubicBezTo>
                    <a:pt x="0" y="109220"/>
                    <a:pt x="109728" y="0"/>
                    <a:pt x="245110" y="0"/>
                  </a:cubicBezTo>
                  <a:lnTo>
                    <a:pt x="6748907" y="0"/>
                  </a:lnTo>
                  <a:cubicBezTo>
                    <a:pt x="6884288" y="0"/>
                    <a:pt x="6994017" y="109220"/>
                    <a:pt x="6994017" y="243840"/>
                  </a:cubicBezTo>
                  <a:lnTo>
                    <a:pt x="6994017" y="3836289"/>
                  </a:lnTo>
                  <a:cubicBezTo>
                    <a:pt x="6994017" y="3970909"/>
                    <a:pt x="6884288" y="4080129"/>
                    <a:pt x="6748907" y="4080129"/>
                  </a:cubicBezTo>
                  <a:lnTo>
                    <a:pt x="245110" y="4080129"/>
                  </a:lnTo>
                  <a:cubicBezTo>
                    <a:pt x="109728" y="4080129"/>
                    <a:pt x="0" y="3970909"/>
                    <a:pt x="0" y="3836289"/>
                  </a:cubicBezTo>
                  <a:close/>
                </a:path>
              </a:pathLst>
            </a:custGeom>
            <a:solidFill>
              <a:srgbClr val="2A2A2D">
                <a:alpha val="90196"/>
              </a:srgbClr>
            </a:solidFill>
          </p:spPr>
        </p:sp>
        <p:sp>
          <p:nvSpPr>
            <p:cNvPr id="20" name="Freeform 20"/>
            <p:cNvSpPr/>
            <p:nvPr/>
          </p:nvSpPr>
          <p:spPr>
            <a:xfrm>
              <a:off x="0" y="0"/>
              <a:ext cx="7044817" cy="4130929"/>
            </a:xfrm>
            <a:custGeom>
              <a:avLst/>
              <a:gdLst/>
              <a:ahLst/>
              <a:cxnLst/>
              <a:rect l="l" t="t" r="r" b="b"/>
              <a:pathLst>
                <a:path w="7044817" h="4130929">
                  <a:moveTo>
                    <a:pt x="0" y="269240"/>
                  </a:moveTo>
                  <a:cubicBezTo>
                    <a:pt x="0" y="120396"/>
                    <a:pt x="121285" y="0"/>
                    <a:pt x="270510" y="0"/>
                  </a:cubicBezTo>
                  <a:lnTo>
                    <a:pt x="6774307" y="0"/>
                  </a:lnTo>
                  <a:lnTo>
                    <a:pt x="6774307" y="25400"/>
                  </a:lnTo>
                  <a:lnTo>
                    <a:pt x="6774307" y="0"/>
                  </a:lnTo>
                  <a:cubicBezTo>
                    <a:pt x="6923532" y="0"/>
                    <a:pt x="7044817" y="120396"/>
                    <a:pt x="7044817" y="269240"/>
                  </a:cubicBezTo>
                  <a:lnTo>
                    <a:pt x="7019417" y="269240"/>
                  </a:lnTo>
                  <a:lnTo>
                    <a:pt x="7044817" y="269240"/>
                  </a:lnTo>
                  <a:lnTo>
                    <a:pt x="7044817" y="3861689"/>
                  </a:lnTo>
                  <a:lnTo>
                    <a:pt x="7019417" y="3861689"/>
                  </a:lnTo>
                  <a:lnTo>
                    <a:pt x="7044817" y="3861689"/>
                  </a:lnTo>
                  <a:cubicBezTo>
                    <a:pt x="7044817" y="4010533"/>
                    <a:pt x="6923532" y="4130929"/>
                    <a:pt x="6774307" y="4130929"/>
                  </a:cubicBezTo>
                  <a:lnTo>
                    <a:pt x="6774307" y="4105529"/>
                  </a:lnTo>
                  <a:lnTo>
                    <a:pt x="6774307" y="4130929"/>
                  </a:lnTo>
                  <a:lnTo>
                    <a:pt x="270510" y="4130929"/>
                  </a:lnTo>
                  <a:lnTo>
                    <a:pt x="270510" y="4105529"/>
                  </a:lnTo>
                  <a:lnTo>
                    <a:pt x="270510" y="4130929"/>
                  </a:lnTo>
                  <a:cubicBezTo>
                    <a:pt x="121285" y="4130929"/>
                    <a:pt x="0" y="4010533"/>
                    <a:pt x="0" y="3861689"/>
                  </a:cubicBezTo>
                  <a:lnTo>
                    <a:pt x="0" y="269240"/>
                  </a:lnTo>
                  <a:lnTo>
                    <a:pt x="25400" y="269240"/>
                  </a:lnTo>
                  <a:lnTo>
                    <a:pt x="0" y="269240"/>
                  </a:lnTo>
                  <a:moveTo>
                    <a:pt x="50800" y="269240"/>
                  </a:moveTo>
                  <a:lnTo>
                    <a:pt x="50800" y="3861689"/>
                  </a:lnTo>
                  <a:lnTo>
                    <a:pt x="25400" y="3861689"/>
                  </a:lnTo>
                  <a:lnTo>
                    <a:pt x="50800" y="3861689"/>
                  </a:lnTo>
                  <a:cubicBezTo>
                    <a:pt x="50800" y="3982212"/>
                    <a:pt x="148971" y="4080129"/>
                    <a:pt x="270510" y="4080129"/>
                  </a:cubicBezTo>
                  <a:lnTo>
                    <a:pt x="6774307" y="4080129"/>
                  </a:lnTo>
                  <a:cubicBezTo>
                    <a:pt x="6895719" y="4080129"/>
                    <a:pt x="6994017" y="3982212"/>
                    <a:pt x="6994017" y="3861689"/>
                  </a:cubicBezTo>
                  <a:lnTo>
                    <a:pt x="6994017" y="269240"/>
                  </a:lnTo>
                  <a:cubicBezTo>
                    <a:pt x="6994017" y="148717"/>
                    <a:pt x="6895846" y="50800"/>
                    <a:pt x="6774307" y="50800"/>
                  </a:cubicBezTo>
                  <a:lnTo>
                    <a:pt x="270510" y="50800"/>
                  </a:lnTo>
                  <a:lnTo>
                    <a:pt x="270510" y="25400"/>
                  </a:lnTo>
                  <a:lnTo>
                    <a:pt x="270510" y="50800"/>
                  </a:lnTo>
                  <a:cubicBezTo>
                    <a:pt x="148971" y="50800"/>
                    <a:pt x="50800" y="148717"/>
                    <a:pt x="50800" y="269240"/>
                  </a:cubicBezTo>
                  <a:close/>
                </a:path>
              </a:pathLst>
            </a:custGeom>
            <a:solidFill>
              <a:srgbClr val="56565B"/>
            </a:solidFill>
          </p:spPr>
        </p:sp>
      </p:grpSp>
      <p:grpSp>
        <p:nvGrpSpPr>
          <p:cNvPr id="21" name="Group 21"/>
          <p:cNvGrpSpPr>
            <a:grpSpLocks noChangeAspect="1"/>
          </p:cNvGrpSpPr>
          <p:nvPr/>
        </p:nvGrpSpPr>
        <p:grpSpPr>
          <a:xfrm>
            <a:off x="699532" y="4304983"/>
            <a:ext cx="81280" cy="1632029"/>
            <a:chOff x="0" y="0"/>
            <a:chExt cx="203200" cy="4080073"/>
          </a:xfrm>
        </p:grpSpPr>
        <p:sp>
          <p:nvSpPr>
            <p:cNvPr id="22" name="Freeform 22" descr="preencoded.png"/>
            <p:cNvSpPr/>
            <p:nvPr/>
          </p:nvSpPr>
          <p:spPr>
            <a:xfrm>
              <a:off x="0" y="0"/>
              <a:ext cx="203200" cy="4080129"/>
            </a:xfrm>
            <a:custGeom>
              <a:avLst/>
              <a:gdLst/>
              <a:ahLst/>
              <a:cxnLst/>
              <a:rect l="l" t="t" r="r" b="b"/>
              <a:pathLst>
                <a:path w="203200" h="4080129">
                  <a:moveTo>
                    <a:pt x="0" y="0"/>
                  </a:moveTo>
                  <a:lnTo>
                    <a:pt x="203200" y="0"/>
                  </a:lnTo>
                  <a:lnTo>
                    <a:pt x="203200" y="4080129"/>
                  </a:lnTo>
                  <a:lnTo>
                    <a:pt x="0" y="4080129"/>
                  </a:lnTo>
                  <a:lnTo>
                    <a:pt x="0" y="0"/>
                  </a:lnTo>
                  <a:close/>
                </a:path>
              </a:pathLst>
            </a:custGeom>
            <a:blipFill>
              <a:blip r:embed="rId3"/>
              <a:stretch>
                <a:fillRect l="-41" r="-41" b="1"/>
              </a:stretch>
            </a:blipFill>
          </p:spPr>
        </p:sp>
      </p:grpSp>
      <p:sp>
        <p:nvSpPr>
          <p:cNvPr id="23" name="TextBox 23"/>
          <p:cNvSpPr txBox="1"/>
          <p:nvPr/>
        </p:nvSpPr>
        <p:spPr>
          <a:xfrm>
            <a:off x="933212" y="4285933"/>
            <a:ext cx="2393553" cy="506899"/>
          </a:xfrm>
          <a:prstGeom prst="rect">
            <a:avLst/>
          </a:prstGeom>
        </p:spPr>
        <p:txBody>
          <a:bodyPr lIns="0" tIns="0" rIns="0" bIns="0" rtlCol="0" anchor="t">
            <a:spAutoFit/>
          </a:bodyPr>
          <a:lstStyle/>
          <a:p>
            <a:pPr algn="l">
              <a:lnSpc>
                <a:spcPts val="1966"/>
              </a:lnSpc>
            </a:pPr>
            <a:r>
              <a:rPr lang="en-US" sz="1573" b="1">
                <a:solidFill>
                  <a:srgbClr val="CFD0D8"/>
                </a:solidFill>
                <a:latin typeface="Arimo Bold"/>
                <a:ea typeface="Arimo Bold"/>
                <a:cs typeface="Arimo Bold"/>
                <a:sym typeface="Arimo Bold"/>
              </a:rPr>
              <a:t>Enhance Front-end &amp; Back-end Skills</a:t>
            </a:r>
          </a:p>
        </p:txBody>
      </p:sp>
      <p:sp>
        <p:nvSpPr>
          <p:cNvPr id="24" name="TextBox 24"/>
          <p:cNvSpPr txBox="1"/>
          <p:nvPr/>
        </p:nvSpPr>
        <p:spPr>
          <a:xfrm>
            <a:off x="933212" y="4921687"/>
            <a:ext cx="2393553" cy="471170"/>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To master modern frameworks and build robust, scalable applications.</a:t>
            </a:r>
          </a:p>
        </p:txBody>
      </p:sp>
      <p:grpSp>
        <p:nvGrpSpPr>
          <p:cNvPr id="25" name="Group 25"/>
          <p:cNvGrpSpPr/>
          <p:nvPr/>
        </p:nvGrpSpPr>
        <p:grpSpPr>
          <a:xfrm>
            <a:off x="3600530" y="4304983"/>
            <a:ext cx="2817892" cy="1652349"/>
            <a:chOff x="0" y="0"/>
            <a:chExt cx="7044730" cy="4130873"/>
          </a:xfrm>
        </p:grpSpPr>
        <p:sp>
          <p:nvSpPr>
            <p:cNvPr id="26" name="Freeform 26"/>
            <p:cNvSpPr/>
            <p:nvPr/>
          </p:nvSpPr>
          <p:spPr>
            <a:xfrm>
              <a:off x="25400" y="25400"/>
              <a:ext cx="6994017" cy="4080129"/>
            </a:xfrm>
            <a:custGeom>
              <a:avLst/>
              <a:gdLst/>
              <a:ahLst/>
              <a:cxnLst/>
              <a:rect l="l" t="t" r="r" b="b"/>
              <a:pathLst>
                <a:path w="6994017" h="4080129">
                  <a:moveTo>
                    <a:pt x="0" y="243840"/>
                  </a:moveTo>
                  <a:cubicBezTo>
                    <a:pt x="0" y="109220"/>
                    <a:pt x="109728" y="0"/>
                    <a:pt x="245110" y="0"/>
                  </a:cubicBezTo>
                  <a:lnTo>
                    <a:pt x="6748907" y="0"/>
                  </a:lnTo>
                  <a:cubicBezTo>
                    <a:pt x="6884288" y="0"/>
                    <a:pt x="6994017" y="109220"/>
                    <a:pt x="6994017" y="243840"/>
                  </a:cubicBezTo>
                  <a:lnTo>
                    <a:pt x="6994017" y="3836289"/>
                  </a:lnTo>
                  <a:cubicBezTo>
                    <a:pt x="6994017" y="3970909"/>
                    <a:pt x="6884288" y="4080129"/>
                    <a:pt x="6748907" y="4080129"/>
                  </a:cubicBezTo>
                  <a:lnTo>
                    <a:pt x="245110" y="4080129"/>
                  </a:lnTo>
                  <a:cubicBezTo>
                    <a:pt x="109728" y="4080129"/>
                    <a:pt x="0" y="3970909"/>
                    <a:pt x="0" y="3836289"/>
                  </a:cubicBezTo>
                  <a:close/>
                </a:path>
              </a:pathLst>
            </a:custGeom>
            <a:solidFill>
              <a:srgbClr val="2A2A2D">
                <a:alpha val="90196"/>
              </a:srgbClr>
            </a:solidFill>
          </p:spPr>
        </p:sp>
        <p:sp>
          <p:nvSpPr>
            <p:cNvPr id="27" name="Freeform 27"/>
            <p:cNvSpPr/>
            <p:nvPr/>
          </p:nvSpPr>
          <p:spPr>
            <a:xfrm>
              <a:off x="0" y="0"/>
              <a:ext cx="7044817" cy="4130929"/>
            </a:xfrm>
            <a:custGeom>
              <a:avLst/>
              <a:gdLst/>
              <a:ahLst/>
              <a:cxnLst/>
              <a:rect l="l" t="t" r="r" b="b"/>
              <a:pathLst>
                <a:path w="7044817" h="4130929">
                  <a:moveTo>
                    <a:pt x="0" y="269240"/>
                  </a:moveTo>
                  <a:cubicBezTo>
                    <a:pt x="0" y="120396"/>
                    <a:pt x="121285" y="0"/>
                    <a:pt x="270510" y="0"/>
                  </a:cubicBezTo>
                  <a:lnTo>
                    <a:pt x="6774307" y="0"/>
                  </a:lnTo>
                  <a:lnTo>
                    <a:pt x="6774307" y="25400"/>
                  </a:lnTo>
                  <a:lnTo>
                    <a:pt x="6774307" y="0"/>
                  </a:lnTo>
                  <a:cubicBezTo>
                    <a:pt x="6923532" y="0"/>
                    <a:pt x="7044817" y="120396"/>
                    <a:pt x="7044817" y="269240"/>
                  </a:cubicBezTo>
                  <a:lnTo>
                    <a:pt x="7019417" y="269240"/>
                  </a:lnTo>
                  <a:lnTo>
                    <a:pt x="7044817" y="269240"/>
                  </a:lnTo>
                  <a:lnTo>
                    <a:pt x="7044817" y="3861689"/>
                  </a:lnTo>
                  <a:lnTo>
                    <a:pt x="7019417" y="3861689"/>
                  </a:lnTo>
                  <a:lnTo>
                    <a:pt x="7044817" y="3861689"/>
                  </a:lnTo>
                  <a:cubicBezTo>
                    <a:pt x="7044817" y="4010533"/>
                    <a:pt x="6923532" y="4130929"/>
                    <a:pt x="6774307" y="4130929"/>
                  </a:cubicBezTo>
                  <a:lnTo>
                    <a:pt x="6774307" y="4105529"/>
                  </a:lnTo>
                  <a:lnTo>
                    <a:pt x="6774307" y="4130929"/>
                  </a:lnTo>
                  <a:lnTo>
                    <a:pt x="270510" y="4130929"/>
                  </a:lnTo>
                  <a:lnTo>
                    <a:pt x="270510" y="4105529"/>
                  </a:lnTo>
                  <a:lnTo>
                    <a:pt x="270510" y="4130929"/>
                  </a:lnTo>
                  <a:cubicBezTo>
                    <a:pt x="121285" y="4130929"/>
                    <a:pt x="0" y="4010533"/>
                    <a:pt x="0" y="3861689"/>
                  </a:cubicBezTo>
                  <a:lnTo>
                    <a:pt x="0" y="269240"/>
                  </a:lnTo>
                  <a:lnTo>
                    <a:pt x="25400" y="269240"/>
                  </a:lnTo>
                  <a:lnTo>
                    <a:pt x="0" y="269240"/>
                  </a:lnTo>
                  <a:moveTo>
                    <a:pt x="50800" y="269240"/>
                  </a:moveTo>
                  <a:lnTo>
                    <a:pt x="50800" y="3861689"/>
                  </a:lnTo>
                  <a:lnTo>
                    <a:pt x="25400" y="3861689"/>
                  </a:lnTo>
                  <a:lnTo>
                    <a:pt x="50800" y="3861689"/>
                  </a:lnTo>
                  <a:cubicBezTo>
                    <a:pt x="50800" y="3982212"/>
                    <a:pt x="148971" y="4080129"/>
                    <a:pt x="270510" y="4080129"/>
                  </a:cubicBezTo>
                  <a:lnTo>
                    <a:pt x="6774307" y="4080129"/>
                  </a:lnTo>
                  <a:cubicBezTo>
                    <a:pt x="6895719" y="4080129"/>
                    <a:pt x="6994017" y="3982212"/>
                    <a:pt x="6994017" y="3861689"/>
                  </a:cubicBezTo>
                  <a:lnTo>
                    <a:pt x="6994017" y="269240"/>
                  </a:lnTo>
                  <a:cubicBezTo>
                    <a:pt x="6994017" y="148717"/>
                    <a:pt x="6895846" y="50800"/>
                    <a:pt x="6774307" y="50800"/>
                  </a:cubicBezTo>
                  <a:lnTo>
                    <a:pt x="270510" y="50800"/>
                  </a:lnTo>
                  <a:lnTo>
                    <a:pt x="270510" y="25400"/>
                  </a:lnTo>
                  <a:lnTo>
                    <a:pt x="270510" y="50800"/>
                  </a:lnTo>
                  <a:cubicBezTo>
                    <a:pt x="148971" y="50800"/>
                    <a:pt x="50800" y="148717"/>
                    <a:pt x="50800" y="269240"/>
                  </a:cubicBezTo>
                  <a:close/>
                </a:path>
              </a:pathLst>
            </a:custGeom>
            <a:solidFill>
              <a:srgbClr val="56565B"/>
            </a:solidFill>
          </p:spPr>
        </p:sp>
      </p:grpSp>
      <p:grpSp>
        <p:nvGrpSpPr>
          <p:cNvPr id="28" name="Group 28"/>
          <p:cNvGrpSpPr>
            <a:grpSpLocks noChangeAspect="1"/>
          </p:cNvGrpSpPr>
          <p:nvPr/>
        </p:nvGrpSpPr>
        <p:grpSpPr>
          <a:xfrm>
            <a:off x="3669824" y="4304983"/>
            <a:ext cx="81280" cy="1632029"/>
            <a:chOff x="0" y="0"/>
            <a:chExt cx="203200" cy="4080073"/>
          </a:xfrm>
        </p:grpSpPr>
        <p:sp>
          <p:nvSpPr>
            <p:cNvPr id="29" name="Freeform 29" descr="preencoded.png"/>
            <p:cNvSpPr/>
            <p:nvPr/>
          </p:nvSpPr>
          <p:spPr>
            <a:xfrm>
              <a:off x="0" y="0"/>
              <a:ext cx="203200" cy="4080129"/>
            </a:xfrm>
            <a:custGeom>
              <a:avLst/>
              <a:gdLst/>
              <a:ahLst/>
              <a:cxnLst/>
              <a:rect l="l" t="t" r="r" b="b"/>
              <a:pathLst>
                <a:path w="203200" h="4080129">
                  <a:moveTo>
                    <a:pt x="0" y="0"/>
                  </a:moveTo>
                  <a:lnTo>
                    <a:pt x="203200" y="0"/>
                  </a:lnTo>
                  <a:lnTo>
                    <a:pt x="203200" y="4080129"/>
                  </a:lnTo>
                  <a:lnTo>
                    <a:pt x="0" y="4080129"/>
                  </a:lnTo>
                  <a:lnTo>
                    <a:pt x="0" y="0"/>
                  </a:lnTo>
                  <a:close/>
                </a:path>
              </a:pathLst>
            </a:custGeom>
            <a:blipFill>
              <a:blip r:embed="rId3"/>
              <a:stretch>
                <a:fillRect l="-41" r="-41" b="1"/>
              </a:stretch>
            </a:blipFill>
          </p:spPr>
        </p:sp>
      </p:grpSp>
      <p:sp>
        <p:nvSpPr>
          <p:cNvPr id="30" name="TextBox 30"/>
          <p:cNvSpPr txBox="1"/>
          <p:nvPr/>
        </p:nvSpPr>
        <p:spPr>
          <a:xfrm>
            <a:off x="3812699" y="4285933"/>
            <a:ext cx="2393553" cy="506899"/>
          </a:xfrm>
          <a:prstGeom prst="rect">
            <a:avLst/>
          </a:prstGeom>
        </p:spPr>
        <p:txBody>
          <a:bodyPr lIns="0" tIns="0" rIns="0" bIns="0" rtlCol="0" anchor="t">
            <a:spAutoFit/>
          </a:bodyPr>
          <a:lstStyle/>
          <a:p>
            <a:pPr algn="l">
              <a:lnSpc>
                <a:spcPts val="1966"/>
              </a:lnSpc>
            </a:pPr>
            <a:r>
              <a:rPr lang="en-US" sz="1573" b="1">
                <a:solidFill>
                  <a:srgbClr val="CFD0D8"/>
                </a:solidFill>
                <a:latin typeface="Arimo Bold"/>
                <a:ea typeface="Arimo Bold"/>
                <a:cs typeface="Arimo Bold"/>
                <a:sym typeface="Arimo Bold"/>
              </a:rPr>
              <a:t>Learn Industry-Standard Frameworks</a:t>
            </a:r>
          </a:p>
        </p:txBody>
      </p:sp>
      <p:sp>
        <p:nvSpPr>
          <p:cNvPr id="31" name="TextBox 31"/>
          <p:cNvSpPr txBox="1"/>
          <p:nvPr/>
        </p:nvSpPr>
        <p:spPr>
          <a:xfrm>
            <a:off x="3751104" y="4921687"/>
            <a:ext cx="2393553" cy="709930"/>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To gain proficiency in popular libraries and tools used in the professional settings.</a:t>
            </a:r>
          </a:p>
        </p:txBody>
      </p:sp>
      <p:grpSp>
        <p:nvGrpSpPr>
          <p:cNvPr id="32" name="Group 32"/>
          <p:cNvGrpSpPr/>
          <p:nvPr/>
        </p:nvGrpSpPr>
        <p:grpSpPr>
          <a:xfrm>
            <a:off x="6569948" y="4304983"/>
            <a:ext cx="2817892" cy="1652349"/>
            <a:chOff x="0" y="0"/>
            <a:chExt cx="7044730" cy="4130873"/>
          </a:xfrm>
        </p:grpSpPr>
        <p:sp>
          <p:nvSpPr>
            <p:cNvPr id="33" name="Freeform 33"/>
            <p:cNvSpPr/>
            <p:nvPr/>
          </p:nvSpPr>
          <p:spPr>
            <a:xfrm>
              <a:off x="25400" y="25400"/>
              <a:ext cx="6994017" cy="4080129"/>
            </a:xfrm>
            <a:custGeom>
              <a:avLst/>
              <a:gdLst/>
              <a:ahLst/>
              <a:cxnLst/>
              <a:rect l="l" t="t" r="r" b="b"/>
              <a:pathLst>
                <a:path w="6994017" h="4080129">
                  <a:moveTo>
                    <a:pt x="0" y="243840"/>
                  </a:moveTo>
                  <a:cubicBezTo>
                    <a:pt x="0" y="109220"/>
                    <a:pt x="109728" y="0"/>
                    <a:pt x="245110" y="0"/>
                  </a:cubicBezTo>
                  <a:lnTo>
                    <a:pt x="6748907" y="0"/>
                  </a:lnTo>
                  <a:cubicBezTo>
                    <a:pt x="6884288" y="0"/>
                    <a:pt x="6994017" y="109220"/>
                    <a:pt x="6994017" y="243840"/>
                  </a:cubicBezTo>
                  <a:lnTo>
                    <a:pt x="6994017" y="3836289"/>
                  </a:lnTo>
                  <a:cubicBezTo>
                    <a:pt x="6994017" y="3970909"/>
                    <a:pt x="6884288" y="4080129"/>
                    <a:pt x="6748907" y="4080129"/>
                  </a:cubicBezTo>
                  <a:lnTo>
                    <a:pt x="245110" y="4080129"/>
                  </a:lnTo>
                  <a:cubicBezTo>
                    <a:pt x="109728" y="4080129"/>
                    <a:pt x="0" y="3970909"/>
                    <a:pt x="0" y="3836289"/>
                  </a:cubicBezTo>
                  <a:close/>
                </a:path>
              </a:pathLst>
            </a:custGeom>
            <a:solidFill>
              <a:srgbClr val="2A2A2D">
                <a:alpha val="90196"/>
              </a:srgbClr>
            </a:solidFill>
          </p:spPr>
        </p:sp>
        <p:sp>
          <p:nvSpPr>
            <p:cNvPr id="34" name="Freeform 34"/>
            <p:cNvSpPr/>
            <p:nvPr/>
          </p:nvSpPr>
          <p:spPr>
            <a:xfrm>
              <a:off x="0" y="0"/>
              <a:ext cx="7044817" cy="4130929"/>
            </a:xfrm>
            <a:custGeom>
              <a:avLst/>
              <a:gdLst/>
              <a:ahLst/>
              <a:cxnLst/>
              <a:rect l="l" t="t" r="r" b="b"/>
              <a:pathLst>
                <a:path w="7044817" h="4130929">
                  <a:moveTo>
                    <a:pt x="0" y="269240"/>
                  </a:moveTo>
                  <a:cubicBezTo>
                    <a:pt x="0" y="120396"/>
                    <a:pt x="121285" y="0"/>
                    <a:pt x="270510" y="0"/>
                  </a:cubicBezTo>
                  <a:lnTo>
                    <a:pt x="6774307" y="0"/>
                  </a:lnTo>
                  <a:lnTo>
                    <a:pt x="6774307" y="25400"/>
                  </a:lnTo>
                  <a:lnTo>
                    <a:pt x="6774307" y="0"/>
                  </a:lnTo>
                  <a:cubicBezTo>
                    <a:pt x="6923532" y="0"/>
                    <a:pt x="7044817" y="120396"/>
                    <a:pt x="7044817" y="269240"/>
                  </a:cubicBezTo>
                  <a:lnTo>
                    <a:pt x="7019417" y="269240"/>
                  </a:lnTo>
                  <a:lnTo>
                    <a:pt x="7044817" y="269240"/>
                  </a:lnTo>
                  <a:lnTo>
                    <a:pt x="7044817" y="3861689"/>
                  </a:lnTo>
                  <a:lnTo>
                    <a:pt x="7019417" y="3861689"/>
                  </a:lnTo>
                  <a:lnTo>
                    <a:pt x="7044817" y="3861689"/>
                  </a:lnTo>
                  <a:cubicBezTo>
                    <a:pt x="7044817" y="4010533"/>
                    <a:pt x="6923532" y="4130929"/>
                    <a:pt x="6774307" y="4130929"/>
                  </a:cubicBezTo>
                  <a:lnTo>
                    <a:pt x="6774307" y="4105529"/>
                  </a:lnTo>
                  <a:lnTo>
                    <a:pt x="6774307" y="4130929"/>
                  </a:lnTo>
                  <a:lnTo>
                    <a:pt x="270510" y="4130929"/>
                  </a:lnTo>
                  <a:lnTo>
                    <a:pt x="270510" y="4105529"/>
                  </a:lnTo>
                  <a:lnTo>
                    <a:pt x="270510" y="4130929"/>
                  </a:lnTo>
                  <a:cubicBezTo>
                    <a:pt x="121285" y="4130929"/>
                    <a:pt x="0" y="4010533"/>
                    <a:pt x="0" y="3861689"/>
                  </a:cubicBezTo>
                  <a:lnTo>
                    <a:pt x="0" y="269240"/>
                  </a:lnTo>
                  <a:lnTo>
                    <a:pt x="25400" y="269240"/>
                  </a:lnTo>
                  <a:lnTo>
                    <a:pt x="0" y="269240"/>
                  </a:lnTo>
                  <a:moveTo>
                    <a:pt x="50800" y="269240"/>
                  </a:moveTo>
                  <a:lnTo>
                    <a:pt x="50800" y="3861689"/>
                  </a:lnTo>
                  <a:lnTo>
                    <a:pt x="25400" y="3861689"/>
                  </a:lnTo>
                  <a:lnTo>
                    <a:pt x="50800" y="3861689"/>
                  </a:lnTo>
                  <a:cubicBezTo>
                    <a:pt x="50800" y="3982212"/>
                    <a:pt x="148971" y="4080129"/>
                    <a:pt x="270510" y="4080129"/>
                  </a:cubicBezTo>
                  <a:lnTo>
                    <a:pt x="6774307" y="4080129"/>
                  </a:lnTo>
                  <a:cubicBezTo>
                    <a:pt x="6895719" y="4080129"/>
                    <a:pt x="6994017" y="3982212"/>
                    <a:pt x="6994017" y="3861689"/>
                  </a:cubicBezTo>
                  <a:lnTo>
                    <a:pt x="6994017" y="269240"/>
                  </a:lnTo>
                  <a:cubicBezTo>
                    <a:pt x="6994017" y="148717"/>
                    <a:pt x="6895846" y="50800"/>
                    <a:pt x="6774307" y="50800"/>
                  </a:cubicBezTo>
                  <a:lnTo>
                    <a:pt x="270510" y="50800"/>
                  </a:lnTo>
                  <a:lnTo>
                    <a:pt x="270510" y="25400"/>
                  </a:lnTo>
                  <a:lnTo>
                    <a:pt x="270510" y="50800"/>
                  </a:lnTo>
                  <a:cubicBezTo>
                    <a:pt x="148971" y="50800"/>
                    <a:pt x="50800" y="148717"/>
                    <a:pt x="50800" y="269240"/>
                  </a:cubicBezTo>
                  <a:close/>
                </a:path>
              </a:pathLst>
            </a:custGeom>
            <a:solidFill>
              <a:srgbClr val="56565B"/>
            </a:solidFill>
          </p:spPr>
        </p:sp>
      </p:grpSp>
      <p:grpSp>
        <p:nvGrpSpPr>
          <p:cNvPr id="35" name="Group 35"/>
          <p:cNvGrpSpPr>
            <a:grpSpLocks noChangeAspect="1"/>
          </p:cNvGrpSpPr>
          <p:nvPr/>
        </p:nvGrpSpPr>
        <p:grpSpPr>
          <a:xfrm>
            <a:off x="6659245" y="4304983"/>
            <a:ext cx="81280" cy="1632029"/>
            <a:chOff x="0" y="0"/>
            <a:chExt cx="203200" cy="4080073"/>
          </a:xfrm>
        </p:grpSpPr>
        <p:sp>
          <p:nvSpPr>
            <p:cNvPr id="36" name="Freeform 36" descr="preencoded.png"/>
            <p:cNvSpPr/>
            <p:nvPr/>
          </p:nvSpPr>
          <p:spPr>
            <a:xfrm>
              <a:off x="0" y="0"/>
              <a:ext cx="203200" cy="4080129"/>
            </a:xfrm>
            <a:custGeom>
              <a:avLst/>
              <a:gdLst/>
              <a:ahLst/>
              <a:cxnLst/>
              <a:rect l="l" t="t" r="r" b="b"/>
              <a:pathLst>
                <a:path w="203200" h="4080129">
                  <a:moveTo>
                    <a:pt x="0" y="0"/>
                  </a:moveTo>
                  <a:lnTo>
                    <a:pt x="203200" y="0"/>
                  </a:lnTo>
                  <a:lnTo>
                    <a:pt x="203200" y="4080129"/>
                  </a:lnTo>
                  <a:lnTo>
                    <a:pt x="0" y="4080129"/>
                  </a:lnTo>
                  <a:lnTo>
                    <a:pt x="0" y="0"/>
                  </a:lnTo>
                  <a:close/>
                </a:path>
              </a:pathLst>
            </a:custGeom>
            <a:blipFill>
              <a:blip r:embed="rId3"/>
              <a:stretch>
                <a:fillRect l="-41" r="-41" b="1"/>
              </a:stretch>
            </a:blipFill>
          </p:spPr>
        </p:sp>
      </p:grpSp>
      <p:sp>
        <p:nvSpPr>
          <p:cNvPr id="37" name="TextBox 37"/>
          <p:cNvSpPr txBox="1"/>
          <p:nvPr/>
        </p:nvSpPr>
        <p:spPr>
          <a:xfrm>
            <a:off x="6797675" y="4285933"/>
            <a:ext cx="2393553" cy="506899"/>
          </a:xfrm>
          <a:prstGeom prst="rect">
            <a:avLst/>
          </a:prstGeom>
        </p:spPr>
        <p:txBody>
          <a:bodyPr lIns="0" tIns="0" rIns="0" bIns="0" rtlCol="0" anchor="t">
            <a:spAutoFit/>
          </a:bodyPr>
          <a:lstStyle/>
          <a:p>
            <a:pPr algn="l">
              <a:lnSpc>
                <a:spcPts val="1966"/>
              </a:lnSpc>
            </a:pPr>
            <a:r>
              <a:rPr lang="en-US" sz="1573" b="1">
                <a:solidFill>
                  <a:srgbClr val="CFD0D8"/>
                </a:solidFill>
                <a:latin typeface="Arimo Bold"/>
                <a:ea typeface="Arimo Bold"/>
                <a:cs typeface="Arimo Bold"/>
                <a:sym typeface="Arimo Bold"/>
              </a:rPr>
              <a:t>Gain Real-World Project Exposure</a:t>
            </a:r>
          </a:p>
        </p:txBody>
      </p:sp>
      <p:sp>
        <p:nvSpPr>
          <p:cNvPr id="38" name="TextBox 38"/>
          <p:cNvSpPr txBox="1"/>
          <p:nvPr/>
        </p:nvSpPr>
        <p:spPr>
          <a:xfrm>
            <a:off x="6782117" y="4921687"/>
            <a:ext cx="2393553" cy="709930"/>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To work on live mini projects, understanding the full development lifecycle.</a:t>
            </a:r>
          </a:p>
        </p:txBody>
      </p:sp>
      <p:sp>
        <p:nvSpPr>
          <p:cNvPr id="39" name="TextBox 39"/>
          <p:cNvSpPr txBox="1"/>
          <p:nvPr/>
        </p:nvSpPr>
        <p:spPr>
          <a:xfrm>
            <a:off x="568960" y="1295400"/>
            <a:ext cx="9083389" cy="2564805"/>
          </a:xfrm>
          <a:prstGeom prst="rect">
            <a:avLst/>
          </a:prstGeom>
        </p:spPr>
        <p:txBody>
          <a:bodyPr wrap="square" lIns="0" tIns="0" rIns="0" bIns="0" rtlCol="0" anchor="t">
            <a:spAutoFit/>
          </a:bodyPr>
          <a:lstStyle/>
          <a:p>
            <a:pPr algn="ctr">
              <a:lnSpc>
                <a:spcPts val="1960"/>
              </a:lnSpc>
            </a:pPr>
            <a:r>
              <a:rPr lang="en-US" sz="1400" dirty="0">
                <a:solidFill>
                  <a:srgbClr val="000000"/>
                </a:solidFill>
                <a:latin typeface="Hammersmith One"/>
                <a:ea typeface="Hammersmith One"/>
                <a:cs typeface="Hammersmith One"/>
                <a:sym typeface="Hammersmith One"/>
              </a:rPr>
              <a:t>       Before commencing the internship, I took deliberate time to establish a comprehensive set of well-defined objectives that would serve as the foundation for my entire learning journey. These goals were not created arbitrarily but were carefully aligned with both my academic background and long-term professional aspirations. By doing so, I intended to create a strategic framework that would guide every stage of the internship, from initial observation and skill acquisition to active participation and performance evaluation. Setting these objectives allowed me to maintain clarity of purpose, measure progress effectively, and ensure that each task I undertook contributed meaningfully to my overall development. This preparatory step transformed the internship from a routine academic requirement into a focused, goal-oriented, and outcome-driven experience, enabling me to approach every challenge with intention, discipline, and a sense of direction.</a:t>
            </a: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896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[‹8›]</a:t>
            </a:r>
          </a:p>
        </p:txBody>
      </p:sp>
      <p:sp>
        <p:nvSpPr>
          <p:cNvPr id="17" name="TextBox 17"/>
          <p:cNvSpPr txBox="1"/>
          <p:nvPr/>
        </p:nvSpPr>
        <p:spPr>
          <a:xfrm>
            <a:off x="492443" y="84034"/>
            <a:ext cx="8283178" cy="506292"/>
          </a:xfrm>
          <a:prstGeom prst="rect">
            <a:avLst/>
          </a:prstGeom>
        </p:spPr>
        <p:txBody>
          <a:bodyPr lIns="0" tIns="0" rIns="0" bIns="0" rtlCol="0" anchor="t">
            <a:spAutoFit/>
          </a:bodyPr>
          <a:lstStyle/>
          <a:p>
            <a:pPr algn="ctr">
              <a:lnSpc>
                <a:spcPts val="4340"/>
              </a:lnSpc>
            </a:pPr>
            <a:r>
              <a:rPr lang="en-US" sz="2800" b="1" dirty="0">
                <a:solidFill>
                  <a:srgbClr val="000000"/>
                </a:solidFill>
                <a:latin typeface="Canva Sans Bold"/>
                <a:ea typeface="Canva Sans Bold"/>
                <a:cs typeface="Canva Sans Bold"/>
                <a:sym typeface="Canva Sans Bold"/>
              </a:rPr>
              <a:t>My Developer Toolkit: Tools &amp; Technologies</a:t>
            </a:r>
          </a:p>
        </p:txBody>
      </p:sp>
      <p:sp>
        <p:nvSpPr>
          <p:cNvPr id="18" name="TextBox 18"/>
          <p:cNvSpPr txBox="1"/>
          <p:nvPr/>
        </p:nvSpPr>
        <p:spPr>
          <a:xfrm>
            <a:off x="568960" y="1249317"/>
            <a:ext cx="8957525" cy="1726565"/>
          </a:xfrm>
          <a:prstGeom prst="rect">
            <a:avLst/>
          </a:prstGeom>
        </p:spPr>
        <p:txBody>
          <a:bodyPr lIns="0" tIns="0" rIns="0" bIns="0" rtlCol="0" anchor="t">
            <a:spAutoFit/>
          </a:bodyPr>
          <a:lstStyle/>
          <a:p>
            <a:pPr algn="ctr">
              <a:lnSpc>
                <a:spcPts val="1960"/>
              </a:lnSpc>
            </a:pPr>
            <a:r>
              <a:rPr lang="en-US" sz="1400">
                <a:solidFill>
                  <a:srgbClr val="000000"/>
                </a:solidFill>
                <a:latin typeface="Hammersmith One"/>
                <a:ea typeface="Hammersmith One"/>
                <a:cs typeface="Hammersmith One"/>
                <a:sym typeface="Hammersmith One"/>
              </a:rPr>
              <a:t>During my internship, I worked extensively with a wide range of tools, frameworks, and technologies that define modern web development. This hands-on experience deepened my practical understanding of both frontend and backend processes—from creating responsive user interfaces with HTML, CSS, and JavaScript frameworks to managing servers, databases, and deployment. I also became proficient with version control tools like Git and learned to write optimized, scalable code. Overall, this exposure enhanced my technical skills, problem-solving ability, and professional coding discipline while strengthening my grasp of the complete web development lifecycle.</a:t>
            </a:r>
          </a:p>
        </p:txBody>
      </p:sp>
      <p:grpSp>
        <p:nvGrpSpPr>
          <p:cNvPr id="19" name="Group 19"/>
          <p:cNvGrpSpPr>
            <a:grpSpLocks noChangeAspect="1"/>
          </p:cNvGrpSpPr>
          <p:nvPr/>
        </p:nvGrpSpPr>
        <p:grpSpPr>
          <a:xfrm>
            <a:off x="731520" y="3427257"/>
            <a:ext cx="612900" cy="612900"/>
            <a:chOff x="0" y="0"/>
            <a:chExt cx="1134070" cy="1134070"/>
          </a:xfrm>
        </p:grpSpPr>
        <p:sp>
          <p:nvSpPr>
            <p:cNvPr id="20" name="Freeform 20"/>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3"/>
              <a:stretch>
                <a:fillRect/>
              </a:stretch>
            </a:blipFill>
          </p:spPr>
        </p:sp>
      </p:grpSp>
      <p:grpSp>
        <p:nvGrpSpPr>
          <p:cNvPr id="21" name="Group 21"/>
          <p:cNvGrpSpPr>
            <a:grpSpLocks noChangeAspect="1"/>
          </p:cNvGrpSpPr>
          <p:nvPr/>
        </p:nvGrpSpPr>
        <p:grpSpPr>
          <a:xfrm>
            <a:off x="5259404" y="3427257"/>
            <a:ext cx="612900" cy="612900"/>
            <a:chOff x="0" y="0"/>
            <a:chExt cx="1134070" cy="1134070"/>
          </a:xfrm>
        </p:grpSpPr>
        <p:sp>
          <p:nvSpPr>
            <p:cNvPr id="22" name="Freeform 22"/>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4"/>
              <a:stretch>
                <a:fillRect/>
              </a:stretch>
            </a:blipFill>
          </p:spPr>
        </p:sp>
      </p:grpSp>
      <p:grpSp>
        <p:nvGrpSpPr>
          <p:cNvPr id="23" name="Group 23"/>
          <p:cNvGrpSpPr>
            <a:grpSpLocks noChangeAspect="1"/>
          </p:cNvGrpSpPr>
          <p:nvPr/>
        </p:nvGrpSpPr>
        <p:grpSpPr>
          <a:xfrm>
            <a:off x="731520" y="5362042"/>
            <a:ext cx="612900" cy="612900"/>
            <a:chOff x="0" y="0"/>
            <a:chExt cx="1134070" cy="1134070"/>
          </a:xfrm>
        </p:grpSpPr>
        <p:sp>
          <p:nvSpPr>
            <p:cNvPr id="24" name="Freeform 24" descr="preencoded.png"/>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5"/>
              <a:stretch>
                <a:fillRect r="3" b="3"/>
              </a:stretch>
            </a:blipFill>
          </p:spPr>
        </p:sp>
      </p:grpSp>
      <p:grpSp>
        <p:nvGrpSpPr>
          <p:cNvPr id="25" name="Group 25"/>
          <p:cNvGrpSpPr>
            <a:grpSpLocks noChangeAspect="1"/>
          </p:cNvGrpSpPr>
          <p:nvPr/>
        </p:nvGrpSpPr>
        <p:grpSpPr>
          <a:xfrm>
            <a:off x="5259404" y="5362042"/>
            <a:ext cx="612900" cy="612900"/>
            <a:chOff x="0" y="0"/>
            <a:chExt cx="1134070" cy="1134070"/>
          </a:xfrm>
        </p:grpSpPr>
        <p:sp>
          <p:nvSpPr>
            <p:cNvPr id="26" name="Freeform 26"/>
            <p:cNvSpPr/>
            <p:nvPr/>
          </p:nvSpPr>
          <p:spPr>
            <a:xfrm>
              <a:off x="0" y="0"/>
              <a:ext cx="1134110" cy="1134110"/>
            </a:xfrm>
            <a:custGeom>
              <a:avLst/>
              <a:gdLst/>
              <a:ahLst/>
              <a:cxnLst/>
              <a:rect l="l" t="t" r="r" b="b"/>
              <a:pathLst>
                <a:path w="1134110" h="1134110">
                  <a:moveTo>
                    <a:pt x="0" y="0"/>
                  </a:moveTo>
                  <a:lnTo>
                    <a:pt x="1134110" y="0"/>
                  </a:lnTo>
                  <a:lnTo>
                    <a:pt x="1134110" y="1134110"/>
                  </a:lnTo>
                  <a:lnTo>
                    <a:pt x="0" y="1134110"/>
                  </a:lnTo>
                  <a:lnTo>
                    <a:pt x="0" y="0"/>
                  </a:lnTo>
                  <a:close/>
                </a:path>
              </a:pathLst>
            </a:custGeom>
            <a:blipFill>
              <a:blip r:embed="rId6"/>
              <a:stretch>
                <a:fillRect/>
              </a:stretch>
            </a:blipFill>
          </p:spPr>
        </p:sp>
      </p:grpSp>
      <p:sp>
        <p:nvSpPr>
          <p:cNvPr id="27" name="TextBox 27"/>
          <p:cNvSpPr txBox="1"/>
          <p:nvPr/>
        </p:nvSpPr>
        <p:spPr>
          <a:xfrm>
            <a:off x="1524000" y="3429000"/>
            <a:ext cx="2819400" cy="307777"/>
          </a:xfrm>
          <a:prstGeom prst="rect">
            <a:avLst/>
          </a:prstGeom>
        </p:spPr>
        <p:txBody>
          <a:bodyPr wrap="square" lIns="0" tIns="0" rIns="0" bIns="0" rtlCol="0" anchor="t">
            <a:spAutoFit/>
          </a:bodyPr>
          <a:lstStyle/>
          <a:p>
            <a:pPr algn="ctr">
              <a:lnSpc>
                <a:spcPts val="2380"/>
              </a:lnSpc>
            </a:pPr>
            <a:r>
              <a:rPr lang="en-US" sz="1700" b="1" dirty="0">
                <a:solidFill>
                  <a:srgbClr val="000000"/>
                </a:solidFill>
                <a:latin typeface="Canva Sans Bold"/>
                <a:ea typeface="Canva Sans Bold"/>
                <a:cs typeface="Canva Sans Bold"/>
                <a:sym typeface="Canva Sans Bold"/>
              </a:rPr>
              <a:t>Front-end Essentials</a:t>
            </a:r>
          </a:p>
        </p:txBody>
      </p:sp>
      <p:sp>
        <p:nvSpPr>
          <p:cNvPr id="28" name="TextBox 28"/>
          <p:cNvSpPr txBox="1"/>
          <p:nvPr/>
        </p:nvSpPr>
        <p:spPr>
          <a:xfrm>
            <a:off x="6024703" y="3453040"/>
            <a:ext cx="3322593" cy="280667"/>
          </a:xfrm>
          <a:prstGeom prst="rect">
            <a:avLst/>
          </a:prstGeom>
        </p:spPr>
        <p:txBody>
          <a:bodyPr lIns="0" tIns="0" rIns="0" bIns="0" rtlCol="0" anchor="t">
            <a:spAutoFit/>
          </a:bodyPr>
          <a:lstStyle/>
          <a:p>
            <a:pPr algn="l">
              <a:lnSpc>
                <a:spcPts val="2380"/>
              </a:lnSpc>
            </a:pPr>
            <a:r>
              <a:rPr lang="en-US" sz="1700" b="1">
                <a:solidFill>
                  <a:srgbClr val="000000"/>
                </a:solidFill>
                <a:latin typeface="Canva Sans Bold"/>
                <a:ea typeface="Canva Sans Bold"/>
                <a:cs typeface="Canva Sans Bold"/>
                <a:sym typeface="Canva Sans Bold"/>
              </a:rPr>
              <a:t>Frameworks &amp; Libraries</a:t>
            </a:r>
          </a:p>
        </p:txBody>
      </p:sp>
      <p:sp>
        <p:nvSpPr>
          <p:cNvPr id="29" name="TextBox 29"/>
          <p:cNvSpPr txBox="1"/>
          <p:nvPr/>
        </p:nvSpPr>
        <p:spPr>
          <a:xfrm>
            <a:off x="1381155" y="3847025"/>
            <a:ext cx="3495645" cy="488315"/>
          </a:xfrm>
          <a:prstGeom prst="rect">
            <a:avLst/>
          </a:prstGeom>
        </p:spPr>
        <p:txBody>
          <a:bodyPr lIns="0" tIns="0" rIns="0" bIns="0" rtlCol="0" anchor="t">
            <a:spAutoFit/>
          </a:bodyPr>
          <a:lstStyle/>
          <a:p>
            <a:pPr algn="ctr">
              <a:lnSpc>
                <a:spcPts val="1960"/>
              </a:lnSpc>
            </a:pPr>
            <a:r>
              <a:rPr lang="en-US" sz="1400" dirty="0">
                <a:solidFill>
                  <a:srgbClr val="000000"/>
                </a:solidFill>
                <a:latin typeface="Canva Sans"/>
                <a:ea typeface="Canva Sans"/>
                <a:cs typeface="Canva Sans"/>
                <a:sym typeface="Canva Sans"/>
              </a:rPr>
              <a:t>HTML, CSS, JavaScript: The foundational languages for web interface design.</a:t>
            </a:r>
          </a:p>
        </p:txBody>
      </p:sp>
      <p:sp>
        <p:nvSpPr>
          <p:cNvPr id="30" name="TextBox 30"/>
          <p:cNvSpPr txBox="1"/>
          <p:nvPr/>
        </p:nvSpPr>
        <p:spPr>
          <a:xfrm>
            <a:off x="5910403" y="3847025"/>
            <a:ext cx="3495645" cy="488315"/>
          </a:xfrm>
          <a:prstGeom prst="rect">
            <a:avLst/>
          </a:prstGeom>
        </p:spPr>
        <p:txBody>
          <a:bodyPr lIns="0" tIns="0" rIns="0" bIns="0" rtlCol="0" anchor="t">
            <a:spAutoFit/>
          </a:bodyPr>
          <a:lstStyle/>
          <a:p>
            <a:pPr algn="ctr">
              <a:lnSpc>
                <a:spcPts val="1960"/>
              </a:lnSpc>
            </a:pPr>
            <a:r>
              <a:rPr lang="en-US" sz="1400">
                <a:solidFill>
                  <a:srgbClr val="000000"/>
                </a:solidFill>
                <a:latin typeface="Canva Sans"/>
                <a:ea typeface="Canva Sans"/>
                <a:cs typeface="Canva Sans"/>
                <a:sym typeface="Canva Sans"/>
              </a:rPr>
              <a:t>React/Angular: Building dynamic, single-page applications efficiently.</a:t>
            </a:r>
          </a:p>
        </p:txBody>
      </p:sp>
      <p:sp>
        <p:nvSpPr>
          <p:cNvPr id="31" name="TextBox 31"/>
          <p:cNvSpPr txBox="1"/>
          <p:nvPr/>
        </p:nvSpPr>
        <p:spPr>
          <a:xfrm>
            <a:off x="1524000" y="5334000"/>
            <a:ext cx="3294255" cy="264107"/>
          </a:xfrm>
          <a:prstGeom prst="rect">
            <a:avLst/>
          </a:prstGeom>
        </p:spPr>
        <p:txBody>
          <a:bodyPr lIns="0" tIns="0" rIns="0" bIns="0" rtlCol="0" anchor="t">
            <a:spAutoFit/>
          </a:bodyPr>
          <a:lstStyle/>
          <a:p>
            <a:pPr algn="l">
              <a:lnSpc>
                <a:spcPts val="2242"/>
              </a:lnSpc>
            </a:pPr>
            <a:r>
              <a:rPr lang="en-US" sz="1602" b="1" dirty="0">
                <a:solidFill>
                  <a:srgbClr val="000000"/>
                </a:solidFill>
                <a:latin typeface="Canva Sans Bold"/>
                <a:ea typeface="Canva Sans Bold"/>
                <a:cs typeface="Canva Sans Bold"/>
                <a:sym typeface="Canva Sans Bold"/>
              </a:rPr>
              <a:t>Back-end &amp; Databases</a:t>
            </a:r>
          </a:p>
        </p:txBody>
      </p:sp>
      <p:sp>
        <p:nvSpPr>
          <p:cNvPr id="32" name="TextBox 32"/>
          <p:cNvSpPr txBox="1"/>
          <p:nvPr/>
        </p:nvSpPr>
        <p:spPr>
          <a:xfrm>
            <a:off x="1430121" y="5630392"/>
            <a:ext cx="3397713" cy="462279"/>
          </a:xfrm>
          <a:prstGeom prst="rect">
            <a:avLst/>
          </a:prstGeom>
        </p:spPr>
        <p:txBody>
          <a:bodyPr lIns="0" tIns="0" rIns="0" bIns="0" rtlCol="0" anchor="t">
            <a:spAutoFit/>
          </a:bodyPr>
          <a:lstStyle/>
          <a:p>
            <a:pPr algn="ctr">
              <a:lnSpc>
                <a:spcPts val="1820"/>
              </a:lnSpc>
            </a:pPr>
            <a:r>
              <a:rPr lang="en-US" sz="1300">
                <a:solidFill>
                  <a:srgbClr val="000000"/>
                </a:solidFill>
                <a:latin typeface="Canva Sans"/>
                <a:ea typeface="Canva Sans"/>
                <a:cs typeface="Canva Sans"/>
                <a:sym typeface="Canva Sans"/>
              </a:rPr>
              <a:t>Node.js &amp; MongoDB: Powering server-side logic and data management.</a:t>
            </a:r>
          </a:p>
        </p:txBody>
      </p:sp>
      <p:sp>
        <p:nvSpPr>
          <p:cNvPr id="33" name="TextBox 33"/>
          <p:cNvSpPr txBox="1"/>
          <p:nvPr/>
        </p:nvSpPr>
        <p:spPr>
          <a:xfrm>
            <a:off x="6024703" y="5257800"/>
            <a:ext cx="2509697" cy="320601"/>
          </a:xfrm>
          <a:prstGeom prst="rect">
            <a:avLst/>
          </a:prstGeom>
        </p:spPr>
        <p:txBody>
          <a:bodyPr wrap="square" lIns="0" tIns="0" rIns="0" bIns="0" rtlCol="0" anchor="t">
            <a:spAutoFit/>
          </a:bodyPr>
          <a:lstStyle/>
          <a:p>
            <a:pPr algn="l">
              <a:lnSpc>
                <a:spcPts val="2520"/>
              </a:lnSpc>
            </a:pPr>
            <a:r>
              <a:rPr lang="en-US" sz="1800" b="1" dirty="0">
                <a:solidFill>
                  <a:srgbClr val="000000"/>
                </a:solidFill>
                <a:latin typeface="Canva Sans Bold"/>
                <a:ea typeface="Canva Sans Bold"/>
                <a:cs typeface="Canva Sans Bold"/>
                <a:sym typeface="Canva Sans Bold"/>
              </a:rPr>
              <a:t>Version Control</a:t>
            </a:r>
          </a:p>
        </p:txBody>
      </p:sp>
      <p:sp>
        <p:nvSpPr>
          <p:cNvPr id="34" name="TextBox 34"/>
          <p:cNvSpPr txBox="1"/>
          <p:nvPr/>
        </p:nvSpPr>
        <p:spPr>
          <a:xfrm>
            <a:off x="5958028" y="5630392"/>
            <a:ext cx="2817593" cy="462279"/>
          </a:xfrm>
          <a:prstGeom prst="rect">
            <a:avLst/>
          </a:prstGeom>
        </p:spPr>
        <p:txBody>
          <a:bodyPr lIns="0" tIns="0" rIns="0" bIns="0" rtlCol="0" anchor="t">
            <a:spAutoFit/>
          </a:bodyPr>
          <a:lstStyle/>
          <a:p>
            <a:pPr algn="ctr">
              <a:lnSpc>
                <a:spcPts val="1820"/>
              </a:lnSpc>
            </a:pPr>
            <a:r>
              <a:rPr lang="en-US" sz="1300">
                <a:solidFill>
                  <a:srgbClr val="000000"/>
                </a:solidFill>
                <a:latin typeface="Canva Sans"/>
                <a:ea typeface="Canva Sans"/>
                <a:cs typeface="Canva Sans"/>
                <a:sym typeface="Canva Sans"/>
              </a:rPr>
              <a:t>Git/GitHub: Collaborative coding and managing project history.</a:t>
            </a: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896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873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[‹9›]</a:t>
            </a:r>
          </a:p>
        </p:txBody>
      </p:sp>
      <p:grpSp>
        <p:nvGrpSpPr>
          <p:cNvPr id="17" name="Group 17"/>
          <p:cNvGrpSpPr>
            <a:grpSpLocks noChangeAspect="1"/>
          </p:cNvGrpSpPr>
          <p:nvPr/>
        </p:nvGrpSpPr>
        <p:grpSpPr>
          <a:xfrm>
            <a:off x="485449" y="2839814"/>
            <a:ext cx="2758685" cy="1712619"/>
            <a:chOff x="0" y="0"/>
            <a:chExt cx="6547247" cy="4064595"/>
          </a:xfrm>
        </p:grpSpPr>
        <p:sp>
          <p:nvSpPr>
            <p:cNvPr id="18" name="Freeform 18" descr="preencoded.png"/>
            <p:cNvSpPr/>
            <p:nvPr/>
          </p:nvSpPr>
          <p:spPr>
            <a:xfrm>
              <a:off x="0" y="0"/>
              <a:ext cx="6547231" cy="4064635"/>
            </a:xfrm>
            <a:custGeom>
              <a:avLst/>
              <a:gdLst/>
              <a:ahLst/>
              <a:cxnLst/>
              <a:rect l="l" t="t" r="r" b="b"/>
              <a:pathLst>
                <a:path w="6547231" h="4064635">
                  <a:moveTo>
                    <a:pt x="0" y="0"/>
                  </a:moveTo>
                  <a:lnTo>
                    <a:pt x="6547231" y="0"/>
                  </a:lnTo>
                  <a:lnTo>
                    <a:pt x="6547231" y="4064635"/>
                  </a:lnTo>
                  <a:lnTo>
                    <a:pt x="0" y="4064635"/>
                  </a:lnTo>
                  <a:lnTo>
                    <a:pt x="0" y="0"/>
                  </a:lnTo>
                  <a:close/>
                </a:path>
              </a:pathLst>
            </a:custGeom>
            <a:blipFill>
              <a:blip r:embed="rId3"/>
              <a:stretch>
                <a:fillRect l="-52" r="-53"/>
              </a:stretch>
            </a:blipFill>
          </p:spPr>
        </p:sp>
      </p:grpSp>
      <p:grpSp>
        <p:nvGrpSpPr>
          <p:cNvPr id="19" name="Group 19"/>
          <p:cNvGrpSpPr>
            <a:grpSpLocks noChangeAspect="1"/>
          </p:cNvGrpSpPr>
          <p:nvPr/>
        </p:nvGrpSpPr>
        <p:grpSpPr>
          <a:xfrm>
            <a:off x="3363574" y="2839814"/>
            <a:ext cx="3518966" cy="1712619"/>
            <a:chOff x="0" y="0"/>
            <a:chExt cx="8351638" cy="4064595"/>
          </a:xfrm>
        </p:grpSpPr>
        <p:sp>
          <p:nvSpPr>
            <p:cNvPr id="20" name="Freeform 20" descr="preencoded.png"/>
            <p:cNvSpPr/>
            <p:nvPr/>
          </p:nvSpPr>
          <p:spPr>
            <a:xfrm>
              <a:off x="0" y="0"/>
              <a:ext cx="8351647" cy="4064635"/>
            </a:xfrm>
            <a:custGeom>
              <a:avLst/>
              <a:gdLst/>
              <a:ahLst/>
              <a:cxnLst/>
              <a:rect l="l" t="t" r="r" b="b"/>
              <a:pathLst>
                <a:path w="8351647" h="4064635">
                  <a:moveTo>
                    <a:pt x="0" y="0"/>
                  </a:moveTo>
                  <a:lnTo>
                    <a:pt x="8351647" y="0"/>
                  </a:lnTo>
                  <a:lnTo>
                    <a:pt x="8351647" y="4064635"/>
                  </a:lnTo>
                  <a:lnTo>
                    <a:pt x="0" y="4064635"/>
                  </a:lnTo>
                  <a:lnTo>
                    <a:pt x="0" y="0"/>
                  </a:lnTo>
                  <a:close/>
                </a:path>
              </a:pathLst>
            </a:custGeom>
            <a:blipFill>
              <a:blip r:embed="rId4"/>
              <a:stretch>
                <a:fillRect l="-37" r="-36"/>
              </a:stretch>
            </a:blipFill>
          </p:spPr>
        </p:sp>
      </p:grpSp>
      <p:grpSp>
        <p:nvGrpSpPr>
          <p:cNvPr id="21" name="Group 21"/>
          <p:cNvGrpSpPr>
            <a:grpSpLocks noChangeAspect="1"/>
          </p:cNvGrpSpPr>
          <p:nvPr/>
        </p:nvGrpSpPr>
        <p:grpSpPr>
          <a:xfrm>
            <a:off x="6994915" y="2839814"/>
            <a:ext cx="2758685" cy="1712619"/>
            <a:chOff x="0" y="0"/>
            <a:chExt cx="6547247" cy="4064595"/>
          </a:xfrm>
        </p:grpSpPr>
        <p:sp>
          <p:nvSpPr>
            <p:cNvPr id="22" name="Freeform 22"/>
            <p:cNvSpPr/>
            <p:nvPr/>
          </p:nvSpPr>
          <p:spPr>
            <a:xfrm>
              <a:off x="0" y="0"/>
              <a:ext cx="6547231" cy="4064635"/>
            </a:xfrm>
            <a:custGeom>
              <a:avLst/>
              <a:gdLst/>
              <a:ahLst/>
              <a:cxnLst/>
              <a:rect l="l" t="t" r="r" b="b"/>
              <a:pathLst>
                <a:path w="6547231" h="4064635">
                  <a:moveTo>
                    <a:pt x="0" y="0"/>
                  </a:moveTo>
                  <a:lnTo>
                    <a:pt x="6547231" y="0"/>
                  </a:lnTo>
                  <a:lnTo>
                    <a:pt x="6547231" y="4064635"/>
                  </a:lnTo>
                  <a:lnTo>
                    <a:pt x="0" y="4064635"/>
                  </a:lnTo>
                  <a:lnTo>
                    <a:pt x="0" y="0"/>
                  </a:lnTo>
                  <a:close/>
                </a:path>
              </a:pathLst>
            </a:custGeom>
            <a:blipFill>
              <a:blip r:embed="rId5"/>
              <a:stretch>
                <a:fillRect l="-5250" r="-5250"/>
              </a:stretch>
            </a:blipFill>
          </p:spPr>
        </p:sp>
      </p:grpSp>
      <p:sp>
        <p:nvSpPr>
          <p:cNvPr id="23" name="TextBox 23"/>
          <p:cNvSpPr txBox="1"/>
          <p:nvPr/>
        </p:nvSpPr>
        <p:spPr>
          <a:xfrm>
            <a:off x="568960" y="84034"/>
            <a:ext cx="7721650" cy="521333"/>
          </a:xfrm>
          <a:prstGeom prst="rect">
            <a:avLst/>
          </a:prstGeom>
        </p:spPr>
        <p:txBody>
          <a:bodyPr lIns="0" tIns="0" rIns="0" bIns="0" rtlCol="0" anchor="t">
            <a:spAutoFit/>
          </a:bodyPr>
          <a:lstStyle/>
          <a:p>
            <a:pPr algn="ctr">
              <a:lnSpc>
                <a:spcPts val="4340"/>
              </a:lnSpc>
            </a:pPr>
            <a:r>
              <a:rPr lang="en-US" sz="2800" b="1" dirty="0">
                <a:solidFill>
                  <a:srgbClr val="000000"/>
                </a:solidFill>
                <a:latin typeface="Canva Sans Bold"/>
                <a:ea typeface="Canva Sans Bold"/>
                <a:cs typeface="Canva Sans Bold"/>
                <a:sym typeface="Canva Sans Bold"/>
              </a:rPr>
              <a:t>Tangible Achievements: Projects &amp; Tasks</a:t>
            </a:r>
          </a:p>
        </p:txBody>
      </p:sp>
      <p:sp>
        <p:nvSpPr>
          <p:cNvPr id="24" name="TextBox 24"/>
          <p:cNvSpPr txBox="1"/>
          <p:nvPr/>
        </p:nvSpPr>
        <p:spPr>
          <a:xfrm>
            <a:off x="731520" y="4971533"/>
            <a:ext cx="3849090" cy="485333"/>
          </a:xfrm>
          <a:prstGeom prst="rect">
            <a:avLst/>
          </a:prstGeom>
        </p:spPr>
        <p:txBody>
          <a:bodyPr lIns="0" tIns="0" rIns="0" bIns="0" rtlCol="0" anchor="t">
            <a:spAutoFit/>
          </a:bodyPr>
          <a:lstStyle/>
          <a:p>
            <a:pPr algn="l">
              <a:lnSpc>
                <a:spcPts val="1962"/>
              </a:lnSpc>
            </a:pPr>
            <a:r>
              <a:rPr lang="en-US" sz="1569">
                <a:solidFill>
                  <a:srgbClr val="000000"/>
                </a:solidFill>
                <a:latin typeface="Hammersmith One"/>
                <a:ea typeface="Hammersmith One"/>
                <a:cs typeface="Hammersmith One"/>
                <a:sym typeface="Hammersmith One"/>
              </a:rPr>
              <a:t>JobBoard – Explore, Filter, and Apply for Jobs</a:t>
            </a:r>
          </a:p>
        </p:txBody>
      </p:sp>
      <p:sp>
        <p:nvSpPr>
          <p:cNvPr id="25" name="TextBox 25"/>
          <p:cNvSpPr txBox="1"/>
          <p:nvPr/>
        </p:nvSpPr>
        <p:spPr>
          <a:xfrm>
            <a:off x="606691" y="5615204"/>
            <a:ext cx="4212101" cy="966837"/>
          </a:xfrm>
          <a:prstGeom prst="rect">
            <a:avLst/>
          </a:prstGeom>
        </p:spPr>
        <p:txBody>
          <a:bodyPr lIns="0" tIns="0" rIns="0" bIns="0" rtlCol="0" anchor="t">
            <a:spAutoFit/>
          </a:bodyPr>
          <a:lstStyle/>
          <a:p>
            <a:pPr algn="l">
              <a:lnSpc>
                <a:spcPts val="1971"/>
              </a:lnSpc>
            </a:pPr>
            <a:r>
              <a:rPr lang="en-US" sz="1237">
                <a:solidFill>
                  <a:srgbClr val="000000"/>
                </a:solidFill>
                <a:latin typeface="Hammersmith One"/>
                <a:ea typeface="Hammersmith One"/>
                <a:cs typeface="Hammersmith One"/>
                <a:sym typeface="Hammersmith One"/>
              </a:rPr>
              <a:t>A modern, responsive job board platform where users can browse listings, filter jobs by category, upload resumes, and apply instantly. Also includes full backend integration with MongoDB.</a:t>
            </a:r>
          </a:p>
        </p:txBody>
      </p:sp>
      <p:sp>
        <p:nvSpPr>
          <p:cNvPr id="26" name="TextBox 26"/>
          <p:cNvSpPr txBox="1"/>
          <p:nvPr/>
        </p:nvSpPr>
        <p:spPr>
          <a:xfrm>
            <a:off x="5534975" y="4971533"/>
            <a:ext cx="3964625" cy="485333"/>
          </a:xfrm>
          <a:prstGeom prst="rect">
            <a:avLst/>
          </a:prstGeom>
        </p:spPr>
        <p:txBody>
          <a:bodyPr lIns="0" tIns="0" rIns="0" bIns="0" rtlCol="0" anchor="t">
            <a:spAutoFit/>
          </a:bodyPr>
          <a:lstStyle/>
          <a:p>
            <a:pPr algn="l">
              <a:lnSpc>
                <a:spcPts val="1962"/>
              </a:lnSpc>
            </a:pPr>
            <a:r>
              <a:rPr lang="en-US" sz="1569">
                <a:solidFill>
                  <a:srgbClr val="000000"/>
                </a:solidFill>
                <a:latin typeface="Hammersmith One"/>
                <a:ea typeface="Hammersmith One"/>
                <a:cs typeface="Hammersmith One"/>
                <a:sym typeface="Hammersmith One"/>
              </a:rPr>
              <a:t>JazzQuizMaker – Create &amp; Take Quizzes Easily</a:t>
            </a:r>
          </a:p>
        </p:txBody>
      </p:sp>
      <p:sp>
        <p:nvSpPr>
          <p:cNvPr id="27" name="TextBox 27"/>
          <p:cNvSpPr txBox="1"/>
          <p:nvPr/>
        </p:nvSpPr>
        <p:spPr>
          <a:xfrm>
            <a:off x="5360433" y="5615204"/>
            <a:ext cx="4393167" cy="966978"/>
          </a:xfrm>
          <a:prstGeom prst="rect">
            <a:avLst/>
          </a:prstGeom>
        </p:spPr>
        <p:txBody>
          <a:bodyPr lIns="0" tIns="0" rIns="0" bIns="0" rtlCol="0" anchor="t">
            <a:spAutoFit/>
          </a:bodyPr>
          <a:lstStyle/>
          <a:p>
            <a:pPr algn="l">
              <a:lnSpc>
                <a:spcPts val="1969"/>
              </a:lnSpc>
            </a:pPr>
            <a:r>
              <a:rPr lang="en-US" sz="1235">
                <a:solidFill>
                  <a:srgbClr val="000000"/>
                </a:solidFill>
                <a:latin typeface="Hammersmith One"/>
                <a:ea typeface="Hammersmith One"/>
                <a:cs typeface="Hammersmith One"/>
                <a:sym typeface="Hammersmith One"/>
              </a:rPr>
              <a:t>An intuitive full-stack quiz web app with authentication, dynamic quiz creation, result calculation, and protected routes — made with React and Express.</a:t>
            </a:r>
          </a:p>
          <a:p>
            <a:pPr algn="l">
              <a:lnSpc>
                <a:spcPts val="1968"/>
              </a:lnSpc>
            </a:pPr>
            <a:endParaRPr/>
          </a:p>
        </p:txBody>
      </p:sp>
      <p:sp>
        <p:nvSpPr>
          <p:cNvPr id="28" name="TextBox 28"/>
          <p:cNvSpPr txBox="1"/>
          <p:nvPr/>
        </p:nvSpPr>
        <p:spPr>
          <a:xfrm>
            <a:off x="762000" y="996363"/>
            <a:ext cx="8839200" cy="1615827"/>
          </a:xfrm>
          <a:prstGeom prst="rect">
            <a:avLst/>
          </a:prstGeom>
        </p:spPr>
        <p:txBody>
          <a:bodyPr wrap="square" lIns="0" tIns="0" rIns="0" bIns="0" rtlCol="0" anchor="t">
            <a:spAutoFit/>
          </a:bodyPr>
          <a:lstStyle/>
          <a:p>
            <a:pPr algn="just">
              <a:lnSpc>
                <a:spcPts val="2100"/>
              </a:lnSpc>
            </a:pPr>
            <a:r>
              <a:rPr lang="en-US" sz="1500" b="1" dirty="0">
                <a:solidFill>
                  <a:srgbClr val="000000"/>
                </a:solidFill>
                <a:latin typeface="Canva Sans Bold"/>
                <a:ea typeface="Canva Sans Bold"/>
                <a:cs typeface="Canva Sans Bold"/>
                <a:sym typeface="Canva Sans Bold"/>
              </a:rPr>
              <a:t>     During my internship, I developed several focused mini projects that transformed theoretical understanding into practical, real-world execution. These projects deepened my technical expertise across both frontend and backend domains while simultaneously enhancing my analytical thinking, problem-solving ability, and professional discipline. Through this applied experience, I refined my capacity to design, build, and optimize solutions with precision, translating conceptual knowledge into tangible developmental impact.</a:t>
            </a: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a:grpSpLocks noChangeAspect="1"/>
          </p:cNvGrpSpPr>
          <p:nvPr/>
        </p:nvGrpSpPr>
        <p:grpSpPr>
          <a:xfrm>
            <a:off x="228600" y="772160"/>
            <a:ext cx="9525000" cy="6014720"/>
            <a:chOff x="0" y="0"/>
            <a:chExt cx="24384000" cy="13716000"/>
          </a:xfrm>
        </p:grpSpPr>
        <p:sp>
          <p:nvSpPr>
            <p:cNvPr id="7" name="Freeform 7"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8" name="Group 8"/>
          <p:cNvGrpSpPr/>
          <p:nvPr/>
        </p:nvGrpSpPr>
        <p:grpSpPr>
          <a:xfrm>
            <a:off x="0" y="731520"/>
            <a:ext cx="492443" cy="6583680"/>
            <a:chOff x="0" y="0"/>
            <a:chExt cx="656590" cy="8778240"/>
          </a:xfrm>
        </p:grpSpPr>
        <p:grpSp>
          <p:nvGrpSpPr>
            <p:cNvPr id="9" name="Group 9"/>
            <p:cNvGrpSpPr/>
            <p:nvPr/>
          </p:nvGrpSpPr>
          <p:grpSpPr>
            <a:xfrm>
              <a:off x="0" y="0"/>
              <a:ext cx="656590" cy="8778240"/>
              <a:chOff x="0" y="0"/>
              <a:chExt cx="656590" cy="8778240"/>
            </a:xfrm>
          </p:grpSpPr>
          <p:sp>
            <p:nvSpPr>
              <p:cNvPr id="10" name="Freeform 10"/>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11" name="Freeform 11"/>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2" name="TextBox 12"/>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3" name="Group 13"/>
          <p:cNvGrpSpPr/>
          <p:nvPr/>
        </p:nvGrpSpPr>
        <p:grpSpPr>
          <a:xfrm>
            <a:off x="-40640" y="690880"/>
            <a:ext cx="9834880" cy="81280"/>
            <a:chOff x="0" y="0"/>
            <a:chExt cx="13113173" cy="108373"/>
          </a:xfrm>
        </p:grpSpPr>
        <p:sp>
          <p:nvSpPr>
            <p:cNvPr id="14" name="Freeform 14"/>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5" name="Group 15"/>
          <p:cNvGrpSpPr/>
          <p:nvPr/>
        </p:nvGrpSpPr>
        <p:grpSpPr>
          <a:xfrm>
            <a:off x="568960" y="6908800"/>
            <a:ext cx="8453120" cy="406400"/>
            <a:chOff x="0" y="0"/>
            <a:chExt cx="11270827" cy="541867"/>
          </a:xfrm>
        </p:grpSpPr>
        <p:sp>
          <p:nvSpPr>
            <p:cNvPr id="16" name="Freeform 16"/>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7" name="TextBox 17"/>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8" name="TextBox 18"/>
          <p:cNvSpPr txBox="1"/>
          <p:nvPr/>
        </p:nvSpPr>
        <p:spPr>
          <a:xfrm>
            <a:off x="8625840" y="6873240"/>
            <a:ext cx="1027617"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[‹10›]</a:t>
            </a:r>
          </a:p>
        </p:txBody>
      </p:sp>
      <p:sp>
        <p:nvSpPr>
          <p:cNvPr id="19" name="TextBox 19"/>
          <p:cNvSpPr txBox="1"/>
          <p:nvPr/>
        </p:nvSpPr>
        <p:spPr>
          <a:xfrm>
            <a:off x="661649" y="-43179"/>
            <a:ext cx="4686598" cy="667362"/>
          </a:xfrm>
          <a:prstGeom prst="rect">
            <a:avLst/>
          </a:prstGeom>
        </p:spPr>
        <p:txBody>
          <a:bodyPr lIns="0" tIns="0" rIns="0" bIns="0" rtlCol="0" anchor="t">
            <a:spAutoFit/>
          </a:bodyPr>
          <a:lstStyle/>
          <a:p>
            <a:pPr algn="ctr">
              <a:lnSpc>
                <a:spcPts val="5740"/>
              </a:lnSpc>
            </a:pPr>
            <a:r>
              <a:rPr lang="en-US" sz="3200" b="1" dirty="0">
                <a:solidFill>
                  <a:srgbClr val="000000"/>
                </a:solidFill>
                <a:latin typeface="Canva Sans Bold"/>
                <a:ea typeface="Canva Sans Bold"/>
                <a:cs typeface="Canva Sans Bold"/>
                <a:sym typeface="Canva Sans Bold"/>
              </a:rPr>
              <a:t>About my Projects</a:t>
            </a:r>
          </a:p>
        </p:txBody>
      </p:sp>
      <p:sp>
        <p:nvSpPr>
          <p:cNvPr id="20" name="TextBox 20"/>
          <p:cNvSpPr txBox="1"/>
          <p:nvPr/>
        </p:nvSpPr>
        <p:spPr>
          <a:xfrm>
            <a:off x="481648" y="865552"/>
            <a:ext cx="8790304" cy="431799"/>
          </a:xfrm>
          <a:prstGeom prst="rect">
            <a:avLst/>
          </a:prstGeom>
        </p:spPr>
        <p:txBody>
          <a:bodyPr lIns="0" tIns="0" rIns="0" bIns="0" rtlCol="0" anchor="t">
            <a:spAutoFit/>
          </a:bodyPr>
          <a:lstStyle/>
          <a:p>
            <a:pPr algn="ctr">
              <a:lnSpc>
                <a:spcPts val="3500"/>
              </a:lnSpc>
            </a:pPr>
            <a:r>
              <a:rPr lang="en-US" sz="2500" b="1">
                <a:solidFill>
                  <a:srgbClr val="CFD0D8"/>
                </a:solidFill>
                <a:latin typeface="Canva Sans Bold"/>
                <a:ea typeface="Canva Sans Bold"/>
                <a:cs typeface="Canva Sans Bold"/>
                <a:sym typeface="Canva Sans Bold"/>
              </a:rPr>
              <a:t>Project 1: JazzQuizMaker – Create &amp; Take Quizzes Easily</a:t>
            </a:r>
          </a:p>
        </p:txBody>
      </p:sp>
      <p:sp>
        <p:nvSpPr>
          <p:cNvPr id="21" name="TextBox 21"/>
          <p:cNvSpPr txBox="1"/>
          <p:nvPr/>
        </p:nvSpPr>
        <p:spPr>
          <a:xfrm>
            <a:off x="568960" y="1421177"/>
            <a:ext cx="8778240" cy="5441315"/>
          </a:xfrm>
          <a:prstGeom prst="rect">
            <a:avLst/>
          </a:prstGeom>
        </p:spPr>
        <p:txBody>
          <a:bodyPr lIns="0" tIns="0" rIns="0" bIns="0" rtlCol="0" anchor="t">
            <a:spAutoFit/>
          </a:bodyPr>
          <a:lstStyle/>
          <a:p>
            <a:pPr marL="302264" lvl="1" indent="-151132" algn="l">
              <a:lnSpc>
                <a:spcPts val="1960"/>
              </a:lnSpc>
              <a:buFont typeface="Arial"/>
              <a:buChar char="•"/>
            </a:pPr>
            <a:r>
              <a:rPr lang="en-US" sz="1400" dirty="0">
                <a:solidFill>
                  <a:srgbClr val="CFD0D8"/>
                </a:solidFill>
                <a:latin typeface="Hammersmith One"/>
                <a:ea typeface="Hammersmith One"/>
                <a:cs typeface="Hammersmith One"/>
                <a:sym typeface="Hammersmith One"/>
              </a:rPr>
              <a:t>Description: It is a full-stack, MERN (</a:t>
            </a:r>
            <a:r>
              <a:rPr lang="en-US" sz="1400" dirty="0" err="1">
                <a:solidFill>
                  <a:srgbClr val="CFD0D8"/>
                </a:solidFill>
                <a:latin typeface="Hammersmith One"/>
                <a:ea typeface="Hammersmith One"/>
                <a:cs typeface="Hammersmith One"/>
                <a:sym typeface="Hammersmith One"/>
              </a:rPr>
              <a:t>MongoDB</a:t>
            </a:r>
            <a:r>
              <a:rPr lang="en-US" sz="1400" dirty="0">
                <a:solidFill>
                  <a:srgbClr val="CFD0D8"/>
                </a:solidFill>
                <a:latin typeface="Hammersmith One"/>
                <a:ea typeface="Hammersmith One"/>
                <a:cs typeface="Hammersmith One"/>
                <a:sym typeface="Hammersmith One"/>
              </a:rPr>
              <a:t>, Express.js, React.js, Node.js) web application that enables users to create, take, and manage quizzes effortlessly. The platform supports secure authentication, allowing users to maintain personal profiles and track their progress. Users can dynamically design quizzes with multiple question types, and the app automatically calculates results upon completion. Protected routes ensure data privacy and access control, while a responsive interface provides a seamless user experience across devices. This project highlights the integration of frontend and backend technologies, showcasing practical skills in authentication, dynamic content management, and real-time result processing within a structured, interactive learning environment.</a:t>
            </a:r>
          </a:p>
          <a:p>
            <a:pPr marL="302264" lvl="1" indent="-151132" algn="l">
              <a:lnSpc>
                <a:spcPts val="1960"/>
              </a:lnSpc>
              <a:buFont typeface="Arial"/>
              <a:buChar char="•"/>
            </a:pPr>
            <a:r>
              <a:rPr lang="en-US" sz="1400" dirty="0">
                <a:solidFill>
                  <a:srgbClr val="CFD0D8"/>
                </a:solidFill>
                <a:latin typeface="Hammersmith One"/>
                <a:ea typeface="Hammersmith One"/>
                <a:cs typeface="Hammersmith One"/>
                <a:sym typeface="Hammersmith One"/>
              </a:rPr>
              <a:t>Tech Stack:</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Frontend – React.js, HTML/CSS</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Backend – Node.js, Express.js</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Database – </a:t>
            </a:r>
            <a:r>
              <a:rPr lang="en-US" sz="1400" dirty="0" err="1">
                <a:solidFill>
                  <a:srgbClr val="CFD0D8"/>
                </a:solidFill>
                <a:latin typeface="Hammersmith One"/>
                <a:ea typeface="Hammersmith One"/>
                <a:cs typeface="Hammersmith One"/>
                <a:sym typeface="Hammersmith One"/>
              </a:rPr>
              <a:t>MongoDB</a:t>
            </a:r>
            <a:r>
              <a:rPr lang="en-US" sz="1400" dirty="0">
                <a:solidFill>
                  <a:srgbClr val="CFD0D8"/>
                </a:solidFill>
                <a:latin typeface="Hammersmith One"/>
                <a:ea typeface="Hammersmith One"/>
                <a:cs typeface="Hammersmith One"/>
                <a:sym typeface="Hammersmith One"/>
              </a:rPr>
              <a:t> (Mongoose)</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Auth – JWT login/signup</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Tools – </a:t>
            </a:r>
            <a:r>
              <a:rPr lang="en-US" sz="1400" dirty="0" err="1">
                <a:solidFill>
                  <a:srgbClr val="CFD0D8"/>
                </a:solidFill>
                <a:latin typeface="Hammersmith One"/>
                <a:ea typeface="Hammersmith One"/>
                <a:cs typeface="Hammersmith One"/>
                <a:sym typeface="Hammersmith One"/>
              </a:rPr>
              <a:t>Axios</a:t>
            </a:r>
            <a:r>
              <a:rPr lang="en-US" sz="1400" dirty="0">
                <a:solidFill>
                  <a:srgbClr val="CFD0D8"/>
                </a:solidFill>
                <a:latin typeface="Hammersmith One"/>
                <a:ea typeface="Hammersmith One"/>
                <a:cs typeface="Hammersmith One"/>
                <a:sym typeface="Hammersmith One"/>
              </a:rPr>
              <a:t>, CORS, Postman</a:t>
            </a:r>
          </a:p>
          <a:p>
            <a:pPr marL="302264" lvl="1" indent="-151132" algn="l">
              <a:lnSpc>
                <a:spcPts val="1960"/>
              </a:lnSpc>
              <a:buFont typeface="Arial"/>
              <a:buChar char="•"/>
            </a:pPr>
            <a:r>
              <a:rPr lang="en-US" sz="1400" dirty="0">
                <a:solidFill>
                  <a:srgbClr val="CFD0D8"/>
                </a:solidFill>
                <a:latin typeface="Hammersmith One"/>
                <a:ea typeface="Hammersmith One"/>
                <a:cs typeface="Hammersmith One"/>
                <a:sym typeface="Hammersmith One"/>
              </a:rPr>
              <a:t>Key Features:</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JWT-secured login/register</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Auth-gated quiz creation</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Live quiz result summary</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Component reuse &amp; modular UI</a:t>
            </a:r>
          </a:p>
          <a:p>
            <a:pPr marL="604528" lvl="2" indent="-201509" algn="l">
              <a:lnSpc>
                <a:spcPts val="1960"/>
              </a:lnSpc>
              <a:buFont typeface="Arial"/>
              <a:buChar char="⚬"/>
            </a:pPr>
            <a:r>
              <a:rPr lang="en-US" sz="1400" dirty="0">
                <a:solidFill>
                  <a:srgbClr val="CFD0D8"/>
                </a:solidFill>
                <a:latin typeface="Hammersmith One"/>
                <a:ea typeface="Hammersmith One"/>
                <a:cs typeface="Hammersmith One"/>
                <a:sym typeface="Hammersmith One"/>
              </a:rPr>
              <a:t>Complete backend–frontend API integration</a:t>
            </a:r>
          </a:p>
          <a:p>
            <a:pPr algn="l">
              <a:lnSpc>
                <a:spcPts val="1960"/>
              </a:lnSpc>
            </a:pPr>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a:grpSpLocks noChangeAspect="1"/>
          </p:cNvGrpSpPr>
          <p:nvPr/>
        </p:nvGrpSpPr>
        <p:grpSpPr>
          <a:xfrm>
            <a:off x="457200" y="772160"/>
            <a:ext cx="9337040" cy="6005195"/>
            <a:chOff x="0" y="0"/>
            <a:chExt cx="24384000" cy="13716000"/>
          </a:xfrm>
        </p:grpSpPr>
        <p:sp>
          <p:nvSpPr>
            <p:cNvPr id="7" name="Freeform 7"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8" name="Group 8"/>
          <p:cNvGrpSpPr/>
          <p:nvPr/>
        </p:nvGrpSpPr>
        <p:grpSpPr>
          <a:xfrm>
            <a:off x="0" y="731520"/>
            <a:ext cx="492443" cy="6583680"/>
            <a:chOff x="0" y="0"/>
            <a:chExt cx="656590" cy="8778240"/>
          </a:xfrm>
        </p:grpSpPr>
        <p:grpSp>
          <p:nvGrpSpPr>
            <p:cNvPr id="9" name="Group 9"/>
            <p:cNvGrpSpPr/>
            <p:nvPr/>
          </p:nvGrpSpPr>
          <p:grpSpPr>
            <a:xfrm>
              <a:off x="0" y="0"/>
              <a:ext cx="656590" cy="8778240"/>
              <a:chOff x="0" y="0"/>
              <a:chExt cx="656590" cy="8778240"/>
            </a:xfrm>
          </p:grpSpPr>
          <p:sp>
            <p:nvSpPr>
              <p:cNvPr id="10" name="Freeform 10"/>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11" name="Freeform 11"/>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2" name="TextBox 12"/>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3" name="Group 13"/>
          <p:cNvGrpSpPr/>
          <p:nvPr/>
        </p:nvGrpSpPr>
        <p:grpSpPr>
          <a:xfrm>
            <a:off x="-40640" y="690880"/>
            <a:ext cx="9834880" cy="81280"/>
            <a:chOff x="0" y="0"/>
            <a:chExt cx="13113173" cy="108373"/>
          </a:xfrm>
        </p:grpSpPr>
        <p:sp>
          <p:nvSpPr>
            <p:cNvPr id="14" name="Freeform 14"/>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5" name="Group 15"/>
          <p:cNvGrpSpPr/>
          <p:nvPr/>
        </p:nvGrpSpPr>
        <p:grpSpPr>
          <a:xfrm>
            <a:off x="568960" y="6908800"/>
            <a:ext cx="8453120" cy="406400"/>
            <a:chOff x="0" y="0"/>
            <a:chExt cx="11270827" cy="541867"/>
          </a:xfrm>
        </p:grpSpPr>
        <p:sp>
          <p:nvSpPr>
            <p:cNvPr id="16" name="Freeform 16"/>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7" name="TextBox 17"/>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8" name="TextBox 18"/>
          <p:cNvSpPr txBox="1"/>
          <p:nvPr/>
        </p:nvSpPr>
        <p:spPr>
          <a:xfrm>
            <a:off x="8625840" y="6873240"/>
            <a:ext cx="1011709"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[‹11›]</a:t>
            </a:r>
          </a:p>
        </p:txBody>
      </p:sp>
      <p:sp>
        <p:nvSpPr>
          <p:cNvPr id="19" name="TextBox 19"/>
          <p:cNvSpPr txBox="1"/>
          <p:nvPr/>
        </p:nvSpPr>
        <p:spPr>
          <a:xfrm>
            <a:off x="533400" y="152400"/>
            <a:ext cx="5081439" cy="514348"/>
          </a:xfrm>
          <a:prstGeom prst="rect">
            <a:avLst/>
          </a:prstGeom>
        </p:spPr>
        <p:txBody>
          <a:bodyPr lIns="0" tIns="0" rIns="0" bIns="0" rtlCol="0" anchor="t">
            <a:spAutoFit/>
          </a:bodyPr>
          <a:lstStyle/>
          <a:p>
            <a:pPr algn="ctr">
              <a:lnSpc>
                <a:spcPts val="4200"/>
              </a:lnSpc>
            </a:pPr>
            <a:r>
              <a:rPr lang="en-US" sz="3000" b="1" dirty="0">
                <a:solidFill>
                  <a:srgbClr val="000000"/>
                </a:solidFill>
                <a:latin typeface="Canva Sans Bold"/>
                <a:ea typeface="Canva Sans Bold"/>
                <a:cs typeface="Canva Sans Bold"/>
                <a:sym typeface="Canva Sans Bold"/>
              </a:rPr>
              <a:t>More </a:t>
            </a:r>
            <a:r>
              <a:rPr lang="en-US" sz="2400" b="1" dirty="0">
                <a:solidFill>
                  <a:srgbClr val="000000"/>
                </a:solidFill>
                <a:latin typeface="Canva Sans Bold"/>
                <a:ea typeface="Canva Sans Bold"/>
                <a:cs typeface="Canva Sans Bold"/>
                <a:sym typeface="Canva Sans Bold"/>
              </a:rPr>
              <a:t>About </a:t>
            </a:r>
            <a:r>
              <a:rPr lang="en-US" sz="3000" b="1" dirty="0" err="1">
                <a:solidFill>
                  <a:srgbClr val="000000"/>
                </a:solidFill>
                <a:latin typeface="Canva Sans Bold"/>
                <a:ea typeface="Canva Sans Bold"/>
                <a:cs typeface="Canva Sans Bold"/>
                <a:sym typeface="Canva Sans Bold"/>
              </a:rPr>
              <a:t>JazzQuizmaker</a:t>
            </a:r>
            <a:endParaRPr lang="en-US" sz="3000" b="1" dirty="0">
              <a:solidFill>
                <a:srgbClr val="000000"/>
              </a:solidFill>
              <a:latin typeface="Canva Sans Bold"/>
              <a:ea typeface="Canva Sans Bold"/>
              <a:cs typeface="Canva Sans Bold"/>
              <a:sym typeface="Canva Sans Bold"/>
            </a:endParaRPr>
          </a:p>
        </p:txBody>
      </p:sp>
      <p:sp>
        <p:nvSpPr>
          <p:cNvPr id="20" name="TextBox 20"/>
          <p:cNvSpPr txBox="1"/>
          <p:nvPr/>
        </p:nvSpPr>
        <p:spPr>
          <a:xfrm>
            <a:off x="685800" y="1539875"/>
            <a:ext cx="8816034" cy="4616648"/>
          </a:xfrm>
          <a:prstGeom prst="rect">
            <a:avLst/>
          </a:prstGeom>
        </p:spPr>
        <p:txBody>
          <a:bodyPr wrap="square" lIns="0" tIns="0" rIns="0" bIns="0" rtlCol="0" anchor="t">
            <a:spAutoFit/>
          </a:bodyPr>
          <a:lstStyle/>
          <a:p>
            <a:pPr algn="ctr">
              <a:lnSpc>
                <a:spcPts val="1960"/>
              </a:lnSpc>
            </a:pPr>
            <a:r>
              <a:rPr lang="en-US" sz="1400" dirty="0">
                <a:solidFill>
                  <a:srgbClr val="FFFFFF"/>
                </a:solidFill>
                <a:latin typeface="Hammersmith One"/>
                <a:ea typeface="Hammersmith One"/>
                <a:cs typeface="Hammersmith One"/>
                <a:sym typeface="Hammersmith One"/>
              </a:rPr>
              <a:t>Frontend (React.js, HTML/CSS): Modular React components deliver reusable, maintainable, and responsive interfaces, including quiz forms, dashboards, and results pages. HTML/CSS ensures a polished, user-friendly design across devices.</a:t>
            </a:r>
          </a:p>
          <a:p>
            <a:pPr algn="ctr">
              <a:lnSpc>
                <a:spcPts val="1960"/>
              </a:lnSpc>
            </a:pPr>
            <a:r>
              <a:rPr lang="en-US" sz="1400" dirty="0">
                <a:solidFill>
                  <a:srgbClr val="FFFFFF"/>
                </a:solidFill>
                <a:latin typeface="Hammersmith One"/>
                <a:ea typeface="Hammersmith One"/>
                <a:cs typeface="Hammersmith One"/>
                <a:sym typeface="Hammersmith One"/>
              </a:rPr>
              <a:t>Backend (Node.js, Express.js, JWT): Express handles API routing and server logic, while JWT-based authentication secures login, registration, and access to protected routes, maintaining user privacy and data integrity.</a:t>
            </a:r>
          </a:p>
          <a:p>
            <a:pPr algn="ctr">
              <a:lnSpc>
                <a:spcPts val="1960"/>
              </a:lnSpc>
            </a:pPr>
            <a:r>
              <a:rPr lang="en-US" sz="1400" dirty="0">
                <a:solidFill>
                  <a:srgbClr val="FFFFFF"/>
                </a:solidFill>
                <a:latin typeface="Hammersmith One"/>
                <a:ea typeface="Hammersmith One"/>
                <a:cs typeface="Hammersmith One"/>
                <a:sym typeface="Hammersmith One"/>
              </a:rPr>
              <a:t>Database (</a:t>
            </a:r>
            <a:r>
              <a:rPr lang="en-US" sz="1400" dirty="0" err="1">
                <a:solidFill>
                  <a:srgbClr val="FFFFFF"/>
                </a:solidFill>
                <a:latin typeface="Hammersmith One"/>
                <a:ea typeface="Hammersmith One"/>
                <a:cs typeface="Hammersmith One"/>
                <a:sym typeface="Hammersmith One"/>
              </a:rPr>
              <a:t>MongoDB</a:t>
            </a:r>
            <a:r>
              <a:rPr lang="en-US" sz="1400" dirty="0">
                <a:solidFill>
                  <a:srgbClr val="FFFFFF"/>
                </a:solidFill>
                <a:latin typeface="Hammersmith One"/>
                <a:ea typeface="Hammersmith One"/>
                <a:cs typeface="Hammersmith One"/>
                <a:sym typeface="Hammersmith One"/>
              </a:rPr>
              <a:t>, Mongoose): </a:t>
            </a:r>
            <a:r>
              <a:rPr lang="en-US" sz="1400" dirty="0" err="1">
                <a:solidFill>
                  <a:srgbClr val="FFFFFF"/>
                </a:solidFill>
                <a:latin typeface="Hammersmith One"/>
                <a:ea typeface="Hammersmith One"/>
                <a:cs typeface="Hammersmith One"/>
                <a:sym typeface="Hammersmith One"/>
              </a:rPr>
              <a:t>MongoDB</a:t>
            </a:r>
            <a:r>
              <a:rPr lang="en-US" sz="1400" dirty="0">
                <a:solidFill>
                  <a:srgbClr val="FFFFFF"/>
                </a:solidFill>
                <a:latin typeface="Hammersmith One"/>
                <a:ea typeface="Hammersmith One"/>
                <a:cs typeface="Hammersmith One"/>
                <a:sym typeface="Hammersmith One"/>
              </a:rPr>
              <a:t> stores user profiles, quizzes, questions, and results, supporting flexible schema design and efficient data retrieval for dynamic quiz content.</a:t>
            </a:r>
          </a:p>
          <a:p>
            <a:pPr algn="l">
              <a:lnSpc>
                <a:spcPts val="1960"/>
              </a:lnSpc>
            </a:pPr>
            <a:r>
              <a:rPr lang="en-US" sz="1400" dirty="0">
                <a:solidFill>
                  <a:srgbClr val="FFFFFF"/>
                </a:solidFill>
                <a:latin typeface="Hammersmith One"/>
                <a:ea typeface="Hammersmith One"/>
                <a:cs typeface="Hammersmith One"/>
                <a:sym typeface="Hammersmith One"/>
              </a:rPr>
              <a:t>Key Features:</a:t>
            </a:r>
          </a:p>
          <a:p>
            <a:pPr marL="302264" lvl="1" indent="-151132" algn="l">
              <a:lnSpc>
                <a:spcPts val="1960"/>
              </a:lnSpc>
              <a:buFont typeface="Arial"/>
              <a:buChar char="•"/>
            </a:pPr>
            <a:r>
              <a:rPr lang="en-US" sz="1400" dirty="0">
                <a:solidFill>
                  <a:srgbClr val="FFFFFF"/>
                </a:solidFill>
                <a:latin typeface="Hammersmith One"/>
                <a:ea typeface="Hammersmith One"/>
                <a:cs typeface="Hammersmith One"/>
                <a:sym typeface="Hammersmith One"/>
              </a:rPr>
              <a:t>JWT-secured login/register with protected dashboards</a:t>
            </a:r>
          </a:p>
          <a:p>
            <a:pPr marL="302264" lvl="1" indent="-151132" algn="l">
              <a:lnSpc>
                <a:spcPts val="1960"/>
              </a:lnSpc>
              <a:buFont typeface="Arial"/>
              <a:buChar char="•"/>
            </a:pPr>
            <a:r>
              <a:rPr lang="en-US" sz="1400" dirty="0">
                <a:solidFill>
                  <a:srgbClr val="FFFFFF"/>
                </a:solidFill>
                <a:latin typeface="Hammersmith One"/>
                <a:ea typeface="Hammersmith One"/>
                <a:cs typeface="Hammersmith One"/>
                <a:sym typeface="Hammersmith One"/>
              </a:rPr>
              <a:t>Dynamic quiz creation and management</a:t>
            </a:r>
          </a:p>
          <a:p>
            <a:pPr marL="302264" lvl="1" indent="-151132" algn="l">
              <a:lnSpc>
                <a:spcPts val="1960"/>
              </a:lnSpc>
              <a:buFont typeface="Arial"/>
              <a:buChar char="•"/>
            </a:pPr>
            <a:r>
              <a:rPr lang="en-US" sz="1400" dirty="0">
                <a:solidFill>
                  <a:srgbClr val="FFFFFF"/>
                </a:solidFill>
                <a:latin typeface="Hammersmith One"/>
                <a:ea typeface="Hammersmith One"/>
                <a:cs typeface="Hammersmith One"/>
                <a:sym typeface="Hammersmith One"/>
              </a:rPr>
              <a:t>Real-time quiz participation and instant result calculation</a:t>
            </a:r>
          </a:p>
          <a:p>
            <a:pPr marL="302264" lvl="1" indent="-151132" algn="l">
              <a:lnSpc>
                <a:spcPts val="1960"/>
              </a:lnSpc>
              <a:buFont typeface="Arial"/>
              <a:buChar char="•"/>
            </a:pPr>
            <a:r>
              <a:rPr lang="en-US" sz="1400" dirty="0">
                <a:solidFill>
                  <a:srgbClr val="FFFFFF"/>
                </a:solidFill>
                <a:latin typeface="Hammersmith One"/>
                <a:ea typeface="Hammersmith One"/>
                <a:cs typeface="Hammersmith One"/>
                <a:sym typeface="Hammersmith One"/>
              </a:rPr>
              <a:t>Component-based, modular UI for maintainability</a:t>
            </a:r>
          </a:p>
          <a:p>
            <a:pPr marL="302264" lvl="1" indent="-151132" algn="l">
              <a:lnSpc>
                <a:spcPts val="1960"/>
              </a:lnSpc>
              <a:buFont typeface="Arial"/>
              <a:buChar char="•"/>
            </a:pPr>
            <a:r>
              <a:rPr lang="en-US" sz="1400" dirty="0">
                <a:solidFill>
                  <a:srgbClr val="FFFFFF"/>
                </a:solidFill>
                <a:latin typeface="Hammersmith One"/>
                <a:ea typeface="Hammersmith One"/>
                <a:cs typeface="Hammersmith One"/>
                <a:sym typeface="Hammersmith One"/>
              </a:rPr>
              <a:t>Seamless frontend-backend integration with </a:t>
            </a:r>
            <a:r>
              <a:rPr lang="en-US" sz="1400" dirty="0" err="1">
                <a:solidFill>
                  <a:srgbClr val="FFFFFF"/>
                </a:solidFill>
                <a:latin typeface="Hammersmith One"/>
                <a:ea typeface="Hammersmith One"/>
                <a:cs typeface="Hammersmith One"/>
                <a:sym typeface="Hammersmith One"/>
              </a:rPr>
              <a:t>Axios</a:t>
            </a:r>
            <a:endParaRPr lang="en-US" sz="1400" dirty="0">
              <a:solidFill>
                <a:srgbClr val="FFFFFF"/>
              </a:solidFill>
              <a:latin typeface="Hammersmith One"/>
              <a:ea typeface="Hammersmith One"/>
              <a:cs typeface="Hammersmith One"/>
              <a:sym typeface="Hammersmith One"/>
            </a:endParaRPr>
          </a:p>
          <a:p>
            <a:pPr algn="l">
              <a:lnSpc>
                <a:spcPts val="1960"/>
              </a:lnSpc>
            </a:pPr>
            <a:endParaRPr/>
          </a:p>
          <a:p>
            <a:pPr algn="l">
              <a:lnSpc>
                <a:spcPts val="1960"/>
              </a:lnSpc>
            </a:pPr>
            <a:r>
              <a:rPr lang="en-US" sz="1400" dirty="0">
                <a:solidFill>
                  <a:srgbClr val="FFFFFF"/>
                </a:solidFill>
                <a:latin typeface="Hammersmith One"/>
                <a:ea typeface="Hammersmith One"/>
                <a:cs typeface="Hammersmith One"/>
                <a:sym typeface="Hammersmith One"/>
              </a:rPr>
              <a:t>Development Tools: Postman, CORS, and </a:t>
            </a:r>
            <a:r>
              <a:rPr lang="en-US" sz="1400" dirty="0" err="1">
                <a:solidFill>
                  <a:srgbClr val="FFFFFF"/>
                </a:solidFill>
                <a:latin typeface="Hammersmith One"/>
                <a:ea typeface="Hammersmith One"/>
                <a:cs typeface="Hammersmith One"/>
                <a:sym typeface="Hammersmith One"/>
              </a:rPr>
              <a:t>Axios</a:t>
            </a:r>
            <a:r>
              <a:rPr lang="en-US" sz="1400" dirty="0">
                <a:solidFill>
                  <a:srgbClr val="FFFFFF"/>
                </a:solidFill>
                <a:latin typeface="Hammersmith One"/>
                <a:ea typeface="Hammersmith One"/>
                <a:cs typeface="Hammersmith One"/>
                <a:sym typeface="Hammersmith One"/>
              </a:rPr>
              <a:t> ensure reliable API communication and professional workflow management.</a:t>
            </a:r>
          </a:p>
          <a:p>
            <a:pPr algn="l">
              <a:lnSpc>
                <a:spcPts val="1960"/>
              </a:lnSpc>
            </a:pP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04800" y="731520"/>
            <a:ext cx="9561154" cy="605536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40640" y="6786880"/>
            <a:ext cx="9834880" cy="81280"/>
            <a:chOff x="0" y="0"/>
            <a:chExt cx="13113173" cy="108373"/>
          </a:xfrm>
        </p:grpSpPr>
        <p:sp>
          <p:nvSpPr>
            <p:cNvPr id="5" name="Freeform 5"/>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6" name="Group 6"/>
          <p:cNvGrpSpPr>
            <a:grpSpLocks noChangeAspect="1"/>
          </p:cNvGrpSpPr>
          <p:nvPr/>
        </p:nvGrpSpPr>
        <p:grpSpPr>
          <a:xfrm>
            <a:off x="9022080" y="15031"/>
            <a:ext cx="731520" cy="716489"/>
            <a:chOff x="0" y="0"/>
            <a:chExt cx="975360" cy="955318"/>
          </a:xfrm>
        </p:grpSpPr>
        <p:sp>
          <p:nvSpPr>
            <p:cNvPr id="7" name="Freeform 7"/>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3"/>
              <a:stretch>
                <a:fillRect b="-2"/>
              </a:stretch>
            </a:blipFill>
          </p:spPr>
        </p:sp>
      </p:grpSp>
      <p:grpSp>
        <p:nvGrpSpPr>
          <p:cNvPr id="8" name="Group 8"/>
          <p:cNvGrpSpPr/>
          <p:nvPr/>
        </p:nvGrpSpPr>
        <p:grpSpPr>
          <a:xfrm>
            <a:off x="0" y="731520"/>
            <a:ext cx="492443" cy="6583680"/>
            <a:chOff x="0" y="0"/>
            <a:chExt cx="656590" cy="8778240"/>
          </a:xfrm>
        </p:grpSpPr>
        <p:grpSp>
          <p:nvGrpSpPr>
            <p:cNvPr id="9" name="Group 9"/>
            <p:cNvGrpSpPr/>
            <p:nvPr/>
          </p:nvGrpSpPr>
          <p:grpSpPr>
            <a:xfrm>
              <a:off x="0" y="0"/>
              <a:ext cx="656590" cy="8778240"/>
              <a:chOff x="0" y="0"/>
              <a:chExt cx="656590" cy="8778240"/>
            </a:xfrm>
          </p:grpSpPr>
          <p:sp>
            <p:nvSpPr>
              <p:cNvPr id="10" name="Freeform 10"/>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11" name="Freeform 11"/>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2" name="TextBox 12"/>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3" name="Group 13"/>
          <p:cNvGrpSpPr/>
          <p:nvPr/>
        </p:nvGrpSpPr>
        <p:grpSpPr>
          <a:xfrm>
            <a:off x="-40640" y="690880"/>
            <a:ext cx="9834880" cy="81280"/>
            <a:chOff x="0" y="0"/>
            <a:chExt cx="13113173" cy="108373"/>
          </a:xfrm>
        </p:grpSpPr>
        <p:sp>
          <p:nvSpPr>
            <p:cNvPr id="14" name="Freeform 14"/>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5" name="Group 15"/>
          <p:cNvGrpSpPr/>
          <p:nvPr/>
        </p:nvGrpSpPr>
        <p:grpSpPr>
          <a:xfrm>
            <a:off x="568960" y="6908800"/>
            <a:ext cx="8453120" cy="406400"/>
            <a:chOff x="0" y="0"/>
            <a:chExt cx="11270827" cy="541867"/>
          </a:xfrm>
        </p:grpSpPr>
        <p:sp>
          <p:nvSpPr>
            <p:cNvPr id="16" name="Freeform 16"/>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7" name="TextBox 17"/>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8" name="TextBox 18"/>
          <p:cNvSpPr txBox="1"/>
          <p:nvPr/>
        </p:nvSpPr>
        <p:spPr>
          <a:xfrm>
            <a:off x="8625840" y="6873240"/>
            <a:ext cx="112776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[‹12›]</a:t>
            </a:r>
          </a:p>
        </p:txBody>
      </p:sp>
      <p:sp>
        <p:nvSpPr>
          <p:cNvPr id="19" name="TextBox 19"/>
          <p:cNvSpPr txBox="1"/>
          <p:nvPr/>
        </p:nvSpPr>
        <p:spPr>
          <a:xfrm>
            <a:off x="731520" y="134622"/>
            <a:ext cx="4001135" cy="577209"/>
          </a:xfrm>
          <a:prstGeom prst="rect">
            <a:avLst/>
          </a:prstGeom>
        </p:spPr>
        <p:txBody>
          <a:bodyPr lIns="0" tIns="0" rIns="0" bIns="0" rtlCol="0" anchor="t">
            <a:spAutoFit/>
          </a:bodyPr>
          <a:lstStyle/>
          <a:p>
            <a:pPr algn="ctr">
              <a:lnSpc>
                <a:spcPts val="4900"/>
              </a:lnSpc>
            </a:pPr>
            <a:r>
              <a:rPr lang="en-US" sz="3200" b="1" dirty="0">
                <a:solidFill>
                  <a:srgbClr val="000000"/>
                </a:solidFill>
                <a:latin typeface="Canva Sans Bold"/>
                <a:ea typeface="Canva Sans Bold"/>
                <a:cs typeface="Canva Sans Bold"/>
                <a:sym typeface="Canva Sans Bold"/>
              </a:rPr>
              <a:t>About my Projects</a:t>
            </a:r>
          </a:p>
        </p:txBody>
      </p:sp>
      <p:sp>
        <p:nvSpPr>
          <p:cNvPr id="20" name="TextBox 20"/>
          <p:cNvSpPr txBox="1"/>
          <p:nvPr/>
        </p:nvSpPr>
        <p:spPr>
          <a:xfrm>
            <a:off x="618316" y="826768"/>
            <a:ext cx="9175924" cy="448310"/>
          </a:xfrm>
          <a:prstGeom prst="rect">
            <a:avLst/>
          </a:prstGeom>
        </p:spPr>
        <p:txBody>
          <a:bodyPr lIns="0" tIns="0" rIns="0" bIns="0" rtlCol="0" anchor="t">
            <a:spAutoFit/>
          </a:bodyPr>
          <a:lstStyle/>
          <a:p>
            <a:pPr algn="ctr">
              <a:lnSpc>
                <a:spcPts val="3640"/>
              </a:lnSpc>
            </a:pPr>
            <a:r>
              <a:rPr lang="en-US" sz="2600" b="1">
                <a:solidFill>
                  <a:srgbClr val="CFD0D8"/>
                </a:solidFill>
                <a:latin typeface="Canva Sans Bold"/>
                <a:ea typeface="Canva Sans Bold"/>
                <a:cs typeface="Canva Sans Bold"/>
                <a:sym typeface="Canva Sans Bold"/>
              </a:rPr>
              <a:t>Project 2: JobBoard – Explore, Filter, and Apply for Jobs</a:t>
            </a:r>
          </a:p>
        </p:txBody>
      </p:sp>
      <p:sp>
        <p:nvSpPr>
          <p:cNvPr id="21" name="TextBox 21"/>
          <p:cNvSpPr txBox="1"/>
          <p:nvPr/>
        </p:nvSpPr>
        <p:spPr>
          <a:xfrm>
            <a:off x="618316" y="1475103"/>
            <a:ext cx="8946767" cy="5173345"/>
          </a:xfrm>
          <a:prstGeom prst="rect">
            <a:avLst/>
          </a:prstGeom>
        </p:spPr>
        <p:txBody>
          <a:bodyPr lIns="0" tIns="0" rIns="0" bIns="0" rtlCol="0" anchor="t">
            <a:spAutoFit/>
          </a:bodyPr>
          <a:lstStyle/>
          <a:p>
            <a:pPr marL="302264" lvl="1" indent="-151132" algn="l">
              <a:lnSpc>
                <a:spcPts val="1960"/>
              </a:lnSpc>
              <a:buFont typeface="Arial"/>
              <a:buChar char="•"/>
            </a:pPr>
            <a:r>
              <a:rPr lang="en-US" sz="1400">
                <a:solidFill>
                  <a:srgbClr val="CFD0D8"/>
                </a:solidFill>
                <a:latin typeface="Hammersmith One"/>
                <a:ea typeface="Hammersmith One"/>
                <a:cs typeface="Hammersmith One"/>
                <a:sym typeface="Hammersmith One"/>
              </a:rPr>
              <a:t>Description: It is an interactive web application designed to simplify the job search process by allowing users to explore, filter, and apply for jobs seamlessly. The platform features dynamic search and advanced filtering options, enabling users to find relevant job listings based on location, role, and experience. Built with a responsive frontend and a robust backend, JobBoard integrates real-time data management, secure user authentication, and application tracking. This project not only demonstrates practical implementation of web development concepts but also enhances user experience through intuitive navigation and efficient job-matching functionality, making job hunting streamlined and accessible. Includes backend integration with MongoDB.</a:t>
            </a:r>
          </a:p>
          <a:p>
            <a:pPr marL="323853" lvl="1" indent="-161927" algn="l">
              <a:lnSpc>
                <a:spcPts val="2100"/>
              </a:lnSpc>
              <a:buFont typeface="Arial"/>
              <a:buChar char="•"/>
            </a:pPr>
            <a:r>
              <a:rPr lang="en-US" sz="1500">
                <a:solidFill>
                  <a:srgbClr val="CFD0D8"/>
                </a:solidFill>
                <a:latin typeface="Hammersmith One"/>
                <a:ea typeface="Hammersmith One"/>
                <a:cs typeface="Hammersmith One"/>
                <a:sym typeface="Hammersmith One"/>
              </a:rPr>
              <a:t>Tech Stack:</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Frontend – React.js, CSS</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Backend – Node.js, Express.js</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Database – MongoDB (Mongoose)</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Extras – Multer, Axios, CORS, JWT Auth</a:t>
            </a:r>
          </a:p>
          <a:p>
            <a:pPr marL="323853" lvl="1" indent="-161927" algn="l">
              <a:lnSpc>
                <a:spcPts val="2100"/>
              </a:lnSpc>
              <a:buFont typeface="Arial"/>
              <a:buChar char="•"/>
            </a:pPr>
            <a:r>
              <a:rPr lang="en-US" sz="1500">
                <a:solidFill>
                  <a:srgbClr val="CFD0D8"/>
                </a:solidFill>
                <a:latin typeface="Hammersmith One"/>
                <a:ea typeface="Hammersmith One"/>
                <a:cs typeface="Hammersmith One"/>
                <a:sym typeface="Hammersmith One"/>
              </a:rPr>
              <a:t>Key Features:</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Resume upload (PDF, DOC)</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Job filter by type, keyword, location</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Dynamic job detail pages</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Job posting via protected dashboard</a:t>
            </a:r>
          </a:p>
          <a:p>
            <a:pPr marL="647706" lvl="2" indent="-215902" algn="l">
              <a:lnSpc>
                <a:spcPts val="2100"/>
              </a:lnSpc>
              <a:buFont typeface="Arial"/>
              <a:buChar char="⚬"/>
            </a:pPr>
            <a:r>
              <a:rPr lang="en-US" sz="1500">
                <a:solidFill>
                  <a:srgbClr val="CFD0D8"/>
                </a:solidFill>
                <a:latin typeface="Hammersmith One"/>
                <a:ea typeface="Hammersmith One"/>
                <a:cs typeface="Hammersmith One"/>
                <a:sym typeface="Hammersmith One"/>
              </a:rPr>
              <a:t>Mobile-friendly UI</a:t>
            </a:r>
          </a:p>
          <a:p>
            <a:pPr algn="l">
              <a:lnSpc>
                <a:spcPts val="2100"/>
              </a:lnSpc>
            </a:pPr>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152400" y="772160"/>
            <a:ext cx="9601200" cy="6014720"/>
            <a:chOff x="0" y="0"/>
            <a:chExt cx="24384000" cy="13716000"/>
          </a:xfrm>
        </p:grpSpPr>
        <p:sp>
          <p:nvSpPr>
            <p:cNvPr id="7" name="Freeform 7"/>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A2A2D">
                <a:alpha val="90196"/>
              </a:srgbClr>
            </a:solidFill>
          </p:spPr>
        </p:sp>
      </p:grpSp>
      <p:grpSp>
        <p:nvGrpSpPr>
          <p:cNvPr id="8" name="Group 8"/>
          <p:cNvGrpSpPr>
            <a:grpSpLocks noChangeAspect="1"/>
          </p:cNvGrpSpPr>
          <p:nvPr/>
        </p:nvGrpSpPr>
        <p:grpSpPr>
          <a:xfrm>
            <a:off x="0" y="938530"/>
            <a:ext cx="9753600" cy="5848350"/>
            <a:chOff x="0" y="0"/>
            <a:chExt cx="24384000" cy="13716000"/>
          </a:xfrm>
        </p:grpSpPr>
        <p:sp>
          <p:nvSpPr>
            <p:cNvPr id="9" name="Freeform 9"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10" name="Group 10"/>
          <p:cNvGrpSpPr/>
          <p:nvPr/>
        </p:nvGrpSpPr>
        <p:grpSpPr>
          <a:xfrm>
            <a:off x="0" y="731520"/>
            <a:ext cx="492443" cy="6583680"/>
            <a:chOff x="0" y="0"/>
            <a:chExt cx="656590" cy="8778240"/>
          </a:xfrm>
        </p:grpSpPr>
        <p:grpSp>
          <p:nvGrpSpPr>
            <p:cNvPr id="11" name="Group 11"/>
            <p:cNvGrpSpPr/>
            <p:nvPr/>
          </p:nvGrpSpPr>
          <p:grpSpPr>
            <a:xfrm>
              <a:off x="0" y="0"/>
              <a:ext cx="656590" cy="8778240"/>
              <a:chOff x="0" y="0"/>
              <a:chExt cx="656590" cy="8778240"/>
            </a:xfrm>
          </p:grpSpPr>
          <p:sp>
            <p:nvSpPr>
              <p:cNvPr id="12" name="Freeform 12"/>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13" name="Freeform 13"/>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4" name="TextBox 14"/>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5" name="Group 15"/>
          <p:cNvGrpSpPr/>
          <p:nvPr/>
        </p:nvGrpSpPr>
        <p:grpSpPr>
          <a:xfrm>
            <a:off x="-40640" y="690880"/>
            <a:ext cx="9834880" cy="81280"/>
            <a:chOff x="0" y="0"/>
            <a:chExt cx="13113173" cy="108373"/>
          </a:xfrm>
        </p:grpSpPr>
        <p:sp>
          <p:nvSpPr>
            <p:cNvPr id="16" name="Freeform 16"/>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7" name="Group 17"/>
          <p:cNvGrpSpPr/>
          <p:nvPr/>
        </p:nvGrpSpPr>
        <p:grpSpPr>
          <a:xfrm>
            <a:off x="568960" y="6908800"/>
            <a:ext cx="8453120" cy="406400"/>
            <a:chOff x="0" y="0"/>
            <a:chExt cx="11270827" cy="541867"/>
          </a:xfrm>
        </p:grpSpPr>
        <p:sp>
          <p:nvSpPr>
            <p:cNvPr id="18" name="Freeform 18"/>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9" name="TextBox 19"/>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20" name="TextBox 20"/>
          <p:cNvSpPr txBox="1"/>
          <p:nvPr/>
        </p:nvSpPr>
        <p:spPr>
          <a:xfrm>
            <a:off x="8585200" y="6906260"/>
            <a:ext cx="1019839"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[‹13›]</a:t>
            </a:r>
          </a:p>
        </p:txBody>
      </p:sp>
      <p:sp>
        <p:nvSpPr>
          <p:cNvPr id="21" name="TextBox 21"/>
          <p:cNvSpPr txBox="1"/>
          <p:nvPr/>
        </p:nvSpPr>
        <p:spPr>
          <a:xfrm>
            <a:off x="568960" y="95782"/>
            <a:ext cx="4069110" cy="497838"/>
          </a:xfrm>
          <a:prstGeom prst="rect">
            <a:avLst/>
          </a:prstGeom>
        </p:spPr>
        <p:txBody>
          <a:bodyPr lIns="0" tIns="0" rIns="0" bIns="0" rtlCol="0" anchor="t">
            <a:spAutoFit/>
          </a:bodyPr>
          <a:lstStyle/>
          <a:p>
            <a:pPr algn="ctr">
              <a:lnSpc>
                <a:spcPts val="4060"/>
              </a:lnSpc>
            </a:pPr>
            <a:r>
              <a:rPr lang="en-US" sz="2900" b="1">
                <a:solidFill>
                  <a:srgbClr val="000000"/>
                </a:solidFill>
                <a:latin typeface="Canva Sans Bold"/>
                <a:ea typeface="Canva Sans Bold"/>
                <a:cs typeface="Canva Sans Bold"/>
                <a:sym typeface="Canva Sans Bold"/>
              </a:rPr>
              <a:t>More About JobBoard </a:t>
            </a:r>
          </a:p>
        </p:txBody>
      </p:sp>
      <p:sp>
        <p:nvSpPr>
          <p:cNvPr id="22" name="TextBox 22"/>
          <p:cNvSpPr txBox="1"/>
          <p:nvPr/>
        </p:nvSpPr>
        <p:spPr>
          <a:xfrm>
            <a:off x="731520" y="1078821"/>
            <a:ext cx="8290560" cy="5313088"/>
          </a:xfrm>
          <a:prstGeom prst="rect">
            <a:avLst/>
          </a:prstGeom>
        </p:spPr>
        <p:txBody>
          <a:bodyPr lIns="0" tIns="0" rIns="0" bIns="0" rtlCol="0" anchor="t">
            <a:spAutoFit/>
          </a:bodyPr>
          <a:lstStyle/>
          <a:p>
            <a:pPr algn="just">
              <a:lnSpc>
                <a:spcPts val="1840"/>
              </a:lnSpc>
            </a:pPr>
            <a:r>
              <a:rPr lang="en-US" sz="1314">
                <a:solidFill>
                  <a:srgbClr val="FFFFFF"/>
                </a:solidFill>
                <a:latin typeface="Canva Sans"/>
                <a:ea typeface="Canva Sans"/>
                <a:cs typeface="Canva Sans"/>
                <a:sym typeface="Canva Sans"/>
              </a:rPr>
              <a:t>Frontend Architecture</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Developed using React for modular and reusable UI components.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React Router DOM enables smooth, client-side navigation without page reloads.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Axios manages secure communication between frontend and backend APIs.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Implements a deep-blue, responsive theme ensuring consistent usability across all devices.</a:t>
            </a:r>
          </a:p>
          <a:p>
            <a:pPr algn="just">
              <a:lnSpc>
                <a:spcPts val="1840"/>
              </a:lnSpc>
            </a:pPr>
            <a:r>
              <a:rPr lang="en-US" sz="1314">
                <a:solidFill>
                  <a:srgbClr val="FFFFFF"/>
                </a:solidFill>
                <a:latin typeface="Canva Sans"/>
                <a:ea typeface="Canva Sans"/>
                <a:cs typeface="Canva Sans"/>
                <a:sym typeface="Canva Sans"/>
              </a:rPr>
              <a:t>Backend Architecture</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Built on Node.js and Express.js for efficient, event-driven API handling.</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Manages routing, middleware, and request-response operations.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Multer facilitates secure uploads of PDF, DOC, and DOCX files.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JWT-based authentication secures user sessions and dashboard access.</a:t>
            </a:r>
          </a:p>
          <a:p>
            <a:pPr algn="just">
              <a:lnSpc>
                <a:spcPts val="1840"/>
              </a:lnSpc>
            </a:pPr>
            <a:r>
              <a:rPr lang="en-US" sz="1314">
                <a:solidFill>
                  <a:srgbClr val="FFFFFF"/>
                </a:solidFill>
                <a:latin typeface="Canva Sans"/>
                <a:ea typeface="Canva Sans"/>
                <a:cs typeface="Canva Sans"/>
                <a:sym typeface="Canva Sans"/>
              </a:rPr>
              <a:t>Database Integration</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Utilizes MongoDB as a NoSQL database for dynamic data storage.</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MongoDB Compass supports data visualization and efficient query management.</a:t>
            </a:r>
          </a:p>
          <a:p>
            <a:pPr algn="just">
              <a:lnSpc>
                <a:spcPts val="1840"/>
              </a:lnSpc>
            </a:pPr>
            <a:r>
              <a:rPr lang="en-US" sz="1314">
                <a:solidFill>
                  <a:srgbClr val="FFFFFF"/>
                </a:solidFill>
                <a:latin typeface="Canva Sans"/>
                <a:ea typeface="Canva Sans"/>
                <a:cs typeface="Canva Sans"/>
                <a:sym typeface="Canva Sans"/>
              </a:rPr>
              <a:t>Key Features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Authentication: Secure user registration, login, and logout.</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Job Listings: Comprehensive details including company, type, and deadlines.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Search and Filter: Keyword, location, and category-based filtering.</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Resume Upload: Instant validation and response for file submissions.</a:t>
            </a:r>
          </a:p>
          <a:p>
            <a:pPr algn="just">
              <a:lnSpc>
                <a:spcPts val="1840"/>
              </a:lnSpc>
            </a:pPr>
            <a:r>
              <a:rPr lang="en-US" sz="1314">
                <a:solidFill>
                  <a:srgbClr val="FFFFFF"/>
                </a:solidFill>
                <a:latin typeface="Canva Sans"/>
                <a:ea typeface="Canva Sans"/>
                <a:cs typeface="Canva Sans"/>
                <a:sym typeface="Canva Sans"/>
              </a:rPr>
              <a:t>Core Components and Tools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Frontend Components: Home.js, Jobs.js, JobDetails.js, Dashboard.js, Login.js, Register.js.</a:t>
            </a:r>
          </a:p>
          <a:p>
            <a:pPr marL="283883" lvl="1" indent="-141942" algn="just">
              <a:lnSpc>
                <a:spcPts val="1840"/>
              </a:lnSpc>
              <a:buFont typeface="Arial"/>
              <a:buChar char="•"/>
            </a:pPr>
            <a:r>
              <a:rPr lang="en-US" sz="1314">
                <a:solidFill>
                  <a:srgbClr val="FFFFFF"/>
                </a:solidFill>
                <a:latin typeface="Canva Sans"/>
                <a:ea typeface="Canva Sans"/>
                <a:cs typeface="Canva Sans"/>
                <a:sym typeface="Canva Sans"/>
              </a:rPr>
              <a:t>Backend APIs: CRUD operations and file uploads (e.g., /api/resume/upload).</a:t>
            </a:r>
          </a:p>
          <a:p>
            <a:pPr algn="just">
              <a:lnSpc>
                <a:spcPts val="1840"/>
              </a:lnSpc>
            </a:pPr>
            <a:r>
              <a:rPr lang="en-US" sz="1314">
                <a:solidFill>
                  <a:srgbClr val="FFFFFF"/>
                </a:solidFill>
                <a:latin typeface="Canva Sans"/>
                <a:ea typeface="Canva Sans"/>
                <a:cs typeface="Canva Sans"/>
                <a:sym typeface="Canva Sans"/>
              </a:rPr>
              <a:t>Development Tools: Postman for testing, Git Bash for version control, and MongoDB Compass for database management.</a:t>
            </a: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896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1010603"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[‹14›]</a:t>
            </a:r>
          </a:p>
        </p:txBody>
      </p:sp>
      <p:sp>
        <p:nvSpPr>
          <p:cNvPr id="17" name="Freeform 17"/>
          <p:cNvSpPr/>
          <p:nvPr/>
        </p:nvSpPr>
        <p:spPr>
          <a:xfrm>
            <a:off x="6225210" y="2294930"/>
            <a:ext cx="3162630" cy="1695148"/>
          </a:xfrm>
          <a:custGeom>
            <a:avLst/>
            <a:gdLst/>
            <a:ahLst/>
            <a:cxnLst/>
            <a:rect l="l" t="t" r="r" b="b"/>
            <a:pathLst>
              <a:path w="3162630" h="1695148">
                <a:moveTo>
                  <a:pt x="0" y="0"/>
                </a:moveTo>
                <a:lnTo>
                  <a:pt x="3162630" y="0"/>
                </a:lnTo>
                <a:lnTo>
                  <a:pt x="3162630" y="1695148"/>
                </a:lnTo>
                <a:lnTo>
                  <a:pt x="0" y="1695148"/>
                </a:lnTo>
                <a:lnTo>
                  <a:pt x="0" y="0"/>
                </a:lnTo>
                <a:close/>
              </a:path>
            </a:pathLst>
          </a:custGeom>
          <a:blipFill>
            <a:blip r:embed="rId3"/>
            <a:stretch>
              <a:fillRect t="-2472" b="-2472"/>
            </a:stretch>
          </a:blipFill>
        </p:spPr>
      </p:sp>
      <p:sp>
        <p:nvSpPr>
          <p:cNvPr id="18" name="Freeform 18"/>
          <p:cNvSpPr/>
          <p:nvPr/>
        </p:nvSpPr>
        <p:spPr>
          <a:xfrm>
            <a:off x="6256690" y="5418454"/>
            <a:ext cx="3131150" cy="1358901"/>
          </a:xfrm>
          <a:custGeom>
            <a:avLst/>
            <a:gdLst/>
            <a:ahLst/>
            <a:cxnLst/>
            <a:rect l="l" t="t" r="r" b="b"/>
            <a:pathLst>
              <a:path w="3131150" h="1358901">
                <a:moveTo>
                  <a:pt x="0" y="0"/>
                </a:moveTo>
                <a:lnTo>
                  <a:pt x="3131150" y="0"/>
                </a:lnTo>
                <a:lnTo>
                  <a:pt x="3131150" y="1358901"/>
                </a:lnTo>
                <a:lnTo>
                  <a:pt x="0" y="1358901"/>
                </a:lnTo>
                <a:lnTo>
                  <a:pt x="0" y="0"/>
                </a:lnTo>
                <a:close/>
              </a:path>
            </a:pathLst>
          </a:custGeom>
          <a:blipFill>
            <a:blip r:embed="rId4" cstate="print"/>
            <a:stretch>
              <a:fillRect r="-37386" b="-78067"/>
            </a:stretch>
          </a:blipFill>
        </p:spPr>
      </p:sp>
      <p:sp>
        <p:nvSpPr>
          <p:cNvPr id="19" name="Freeform 19"/>
          <p:cNvSpPr/>
          <p:nvPr/>
        </p:nvSpPr>
        <p:spPr>
          <a:xfrm>
            <a:off x="568960" y="5323048"/>
            <a:ext cx="3035629" cy="1296666"/>
          </a:xfrm>
          <a:custGeom>
            <a:avLst/>
            <a:gdLst/>
            <a:ahLst/>
            <a:cxnLst/>
            <a:rect l="l" t="t" r="r" b="b"/>
            <a:pathLst>
              <a:path w="3035629" h="1296666">
                <a:moveTo>
                  <a:pt x="0" y="0"/>
                </a:moveTo>
                <a:lnTo>
                  <a:pt x="3035629" y="0"/>
                </a:lnTo>
                <a:lnTo>
                  <a:pt x="3035629" y="1296667"/>
                </a:lnTo>
                <a:lnTo>
                  <a:pt x="0" y="1296667"/>
                </a:lnTo>
                <a:lnTo>
                  <a:pt x="0" y="0"/>
                </a:lnTo>
                <a:close/>
              </a:path>
            </a:pathLst>
          </a:custGeom>
          <a:blipFill>
            <a:blip r:embed="rId5"/>
            <a:stretch>
              <a:fillRect l="-60" r="-60" b="-31687"/>
            </a:stretch>
          </a:blipFill>
        </p:spPr>
      </p:sp>
      <p:sp>
        <p:nvSpPr>
          <p:cNvPr id="20" name="Freeform 20"/>
          <p:cNvSpPr/>
          <p:nvPr/>
        </p:nvSpPr>
        <p:spPr>
          <a:xfrm>
            <a:off x="6256690" y="4150866"/>
            <a:ext cx="3131150" cy="1167658"/>
          </a:xfrm>
          <a:custGeom>
            <a:avLst/>
            <a:gdLst/>
            <a:ahLst/>
            <a:cxnLst/>
            <a:rect l="l" t="t" r="r" b="b"/>
            <a:pathLst>
              <a:path w="3131150" h="1167658">
                <a:moveTo>
                  <a:pt x="0" y="0"/>
                </a:moveTo>
                <a:lnTo>
                  <a:pt x="3131150" y="0"/>
                </a:lnTo>
                <a:lnTo>
                  <a:pt x="3131150" y="1167658"/>
                </a:lnTo>
                <a:lnTo>
                  <a:pt x="0" y="1167658"/>
                </a:lnTo>
                <a:lnTo>
                  <a:pt x="0" y="0"/>
                </a:lnTo>
                <a:close/>
              </a:path>
            </a:pathLst>
          </a:custGeom>
          <a:blipFill>
            <a:blip r:embed="rId6" cstate="print"/>
            <a:stretch>
              <a:fillRect t="-7988" r="-38958" b="-101613"/>
            </a:stretch>
          </a:blipFill>
        </p:spPr>
      </p:sp>
      <p:sp>
        <p:nvSpPr>
          <p:cNvPr id="21" name="Freeform 21"/>
          <p:cNvSpPr/>
          <p:nvPr/>
        </p:nvSpPr>
        <p:spPr>
          <a:xfrm>
            <a:off x="568960" y="2320404"/>
            <a:ext cx="3041048" cy="1460905"/>
          </a:xfrm>
          <a:custGeom>
            <a:avLst/>
            <a:gdLst/>
            <a:ahLst/>
            <a:cxnLst/>
            <a:rect l="l" t="t" r="r" b="b"/>
            <a:pathLst>
              <a:path w="3041048" h="1460905">
                <a:moveTo>
                  <a:pt x="0" y="0"/>
                </a:moveTo>
                <a:lnTo>
                  <a:pt x="3041048" y="0"/>
                </a:lnTo>
                <a:lnTo>
                  <a:pt x="3041048" y="1460905"/>
                </a:lnTo>
                <a:lnTo>
                  <a:pt x="0" y="1460905"/>
                </a:lnTo>
                <a:lnTo>
                  <a:pt x="0" y="0"/>
                </a:lnTo>
                <a:close/>
              </a:path>
            </a:pathLst>
          </a:custGeom>
          <a:blipFill>
            <a:blip r:embed="rId7"/>
            <a:stretch>
              <a:fillRect t="-9048" b="-8042"/>
            </a:stretch>
          </a:blipFill>
        </p:spPr>
      </p:sp>
      <p:sp>
        <p:nvSpPr>
          <p:cNvPr id="22" name="Freeform 22"/>
          <p:cNvSpPr/>
          <p:nvPr/>
        </p:nvSpPr>
        <p:spPr>
          <a:xfrm>
            <a:off x="568960" y="3961503"/>
            <a:ext cx="3035629" cy="1117188"/>
          </a:xfrm>
          <a:custGeom>
            <a:avLst/>
            <a:gdLst/>
            <a:ahLst/>
            <a:cxnLst/>
            <a:rect l="l" t="t" r="r" b="b"/>
            <a:pathLst>
              <a:path w="3035629" h="1117188">
                <a:moveTo>
                  <a:pt x="0" y="0"/>
                </a:moveTo>
                <a:lnTo>
                  <a:pt x="3035629" y="0"/>
                </a:lnTo>
                <a:lnTo>
                  <a:pt x="3035629" y="1117189"/>
                </a:lnTo>
                <a:lnTo>
                  <a:pt x="0" y="1117189"/>
                </a:lnTo>
                <a:lnTo>
                  <a:pt x="0" y="0"/>
                </a:lnTo>
                <a:close/>
              </a:path>
            </a:pathLst>
          </a:custGeom>
          <a:blipFill>
            <a:blip r:embed="rId8"/>
            <a:stretch>
              <a:fillRect l="-62" r="-2546" b="-56639"/>
            </a:stretch>
          </a:blipFill>
        </p:spPr>
      </p:sp>
      <p:sp>
        <p:nvSpPr>
          <p:cNvPr id="23" name="TextBox 23"/>
          <p:cNvSpPr txBox="1"/>
          <p:nvPr/>
        </p:nvSpPr>
        <p:spPr>
          <a:xfrm>
            <a:off x="731520" y="88902"/>
            <a:ext cx="3773170" cy="563878"/>
          </a:xfrm>
          <a:prstGeom prst="rect">
            <a:avLst/>
          </a:prstGeom>
        </p:spPr>
        <p:txBody>
          <a:bodyPr lIns="0" tIns="0" rIns="0" bIns="0" rtlCol="0" anchor="t">
            <a:spAutoFit/>
          </a:bodyPr>
          <a:lstStyle/>
          <a:p>
            <a:pPr algn="ctr">
              <a:lnSpc>
                <a:spcPts val="4620"/>
              </a:lnSpc>
            </a:pPr>
            <a:r>
              <a:rPr lang="en-US" sz="3200" b="1" dirty="0">
                <a:solidFill>
                  <a:srgbClr val="000000"/>
                </a:solidFill>
                <a:latin typeface="Canva Sans Bold"/>
                <a:ea typeface="Canva Sans Bold"/>
                <a:cs typeface="Canva Sans Bold"/>
                <a:sym typeface="Canva Sans Bold"/>
              </a:rPr>
              <a:t>About my Projects</a:t>
            </a:r>
          </a:p>
        </p:txBody>
      </p:sp>
      <p:sp>
        <p:nvSpPr>
          <p:cNvPr id="24" name="TextBox 24"/>
          <p:cNvSpPr txBox="1"/>
          <p:nvPr/>
        </p:nvSpPr>
        <p:spPr>
          <a:xfrm>
            <a:off x="568960" y="1687322"/>
            <a:ext cx="3278966" cy="585373"/>
          </a:xfrm>
          <a:prstGeom prst="rect">
            <a:avLst/>
          </a:prstGeom>
        </p:spPr>
        <p:txBody>
          <a:bodyPr lIns="0" tIns="0" rIns="0" bIns="0" rtlCol="0" anchor="t">
            <a:spAutoFit/>
          </a:bodyPr>
          <a:lstStyle/>
          <a:p>
            <a:pPr algn="l">
              <a:lnSpc>
                <a:spcPts val="2437"/>
              </a:lnSpc>
            </a:pPr>
            <a:r>
              <a:rPr lang="en-US" sz="1497" u="sng">
                <a:solidFill>
                  <a:srgbClr val="000000"/>
                </a:solidFill>
                <a:latin typeface="Hammersmith One"/>
                <a:ea typeface="Hammersmith One"/>
                <a:cs typeface="Hammersmith One"/>
                <a:sym typeface="Hammersmith One"/>
              </a:rPr>
              <a:t>Project 1: JazzQuizMaker – Create &amp; Take Quizzes Easily</a:t>
            </a:r>
          </a:p>
        </p:txBody>
      </p:sp>
      <p:sp>
        <p:nvSpPr>
          <p:cNvPr id="25" name="TextBox 25"/>
          <p:cNvSpPr txBox="1"/>
          <p:nvPr/>
        </p:nvSpPr>
        <p:spPr>
          <a:xfrm>
            <a:off x="6202832" y="1687322"/>
            <a:ext cx="3550768" cy="569508"/>
          </a:xfrm>
          <a:prstGeom prst="rect">
            <a:avLst/>
          </a:prstGeom>
        </p:spPr>
        <p:txBody>
          <a:bodyPr lIns="0" tIns="0" rIns="0" bIns="0" rtlCol="0" anchor="t">
            <a:spAutoFit/>
          </a:bodyPr>
          <a:lstStyle/>
          <a:p>
            <a:pPr algn="l">
              <a:lnSpc>
                <a:spcPts val="2341"/>
              </a:lnSpc>
            </a:pPr>
            <a:r>
              <a:rPr lang="en-US" sz="1438" u="sng">
                <a:solidFill>
                  <a:srgbClr val="000000"/>
                </a:solidFill>
                <a:latin typeface="Hammersmith One"/>
                <a:ea typeface="Hammersmith One"/>
                <a:cs typeface="Hammersmith One"/>
                <a:sym typeface="Hammersmith One"/>
              </a:rPr>
              <a:t>Project 2: JobBoard – Explore, Filter, and Apply for Jobs</a:t>
            </a:r>
          </a:p>
        </p:txBody>
      </p:sp>
      <p:sp>
        <p:nvSpPr>
          <p:cNvPr id="26" name="TextBox 26"/>
          <p:cNvSpPr txBox="1"/>
          <p:nvPr/>
        </p:nvSpPr>
        <p:spPr>
          <a:xfrm>
            <a:off x="492443" y="1182498"/>
            <a:ext cx="9144000" cy="276224"/>
          </a:xfrm>
          <a:prstGeom prst="rect">
            <a:avLst/>
          </a:prstGeom>
        </p:spPr>
        <p:txBody>
          <a:bodyPr lIns="0" tIns="0" rIns="0" bIns="0" rtlCol="0" anchor="t">
            <a:spAutoFit/>
          </a:bodyPr>
          <a:lstStyle/>
          <a:p>
            <a:pPr algn="ctr">
              <a:lnSpc>
                <a:spcPts val="2100"/>
              </a:lnSpc>
            </a:pPr>
            <a:r>
              <a:rPr lang="en-US" sz="1500" b="1">
                <a:solidFill>
                  <a:srgbClr val="000000"/>
                </a:solidFill>
                <a:latin typeface="Poppins Bold"/>
                <a:ea typeface="Poppins Bold"/>
                <a:cs typeface="Poppins Bold"/>
                <a:sym typeface="Poppins Bold"/>
              </a:rPr>
              <a:t>A Comprehensive Showcase of the Application’s Frontend Design and Interactive Features</a:t>
            </a: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896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1001098"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[‹15›]</a:t>
            </a:r>
          </a:p>
        </p:txBody>
      </p:sp>
      <p:sp>
        <p:nvSpPr>
          <p:cNvPr id="17" name="TextBox 17"/>
          <p:cNvSpPr txBox="1"/>
          <p:nvPr/>
        </p:nvSpPr>
        <p:spPr>
          <a:xfrm>
            <a:off x="492443" y="209552"/>
            <a:ext cx="8062466" cy="454548"/>
          </a:xfrm>
          <a:prstGeom prst="rect">
            <a:avLst/>
          </a:prstGeom>
        </p:spPr>
        <p:txBody>
          <a:bodyPr lIns="0" tIns="0" rIns="0" bIns="0" rtlCol="0" anchor="t">
            <a:spAutoFit/>
          </a:bodyPr>
          <a:lstStyle/>
          <a:p>
            <a:pPr algn="ctr">
              <a:lnSpc>
                <a:spcPts val="3920"/>
              </a:lnSpc>
            </a:pPr>
            <a:r>
              <a:rPr lang="en-US" sz="2400" b="1" dirty="0">
                <a:solidFill>
                  <a:srgbClr val="000000"/>
                </a:solidFill>
                <a:latin typeface="Canva Sans Bold"/>
                <a:ea typeface="Canva Sans Bold"/>
                <a:cs typeface="Canva Sans Bold"/>
                <a:sym typeface="Canva Sans Bold"/>
              </a:rPr>
              <a:t>Overcoming Obstacles: Challenges &amp; Solutions</a:t>
            </a:r>
          </a:p>
        </p:txBody>
      </p:sp>
      <p:sp>
        <p:nvSpPr>
          <p:cNvPr id="18" name="TextBox 18"/>
          <p:cNvSpPr txBox="1"/>
          <p:nvPr/>
        </p:nvSpPr>
        <p:spPr>
          <a:xfrm>
            <a:off x="542931" y="1335036"/>
            <a:ext cx="8985674" cy="2054928"/>
          </a:xfrm>
          <a:prstGeom prst="rect">
            <a:avLst/>
          </a:prstGeom>
        </p:spPr>
        <p:txBody>
          <a:bodyPr lIns="0" tIns="0" rIns="0" bIns="0" rtlCol="0" anchor="t">
            <a:spAutoFit/>
          </a:bodyPr>
          <a:lstStyle/>
          <a:p>
            <a:pPr algn="ctr">
              <a:lnSpc>
                <a:spcPts val="2361"/>
              </a:lnSpc>
            </a:pPr>
            <a:r>
              <a:rPr lang="en-US" sz="1326" b="1">
                <a:solidFill>
                  <a:srgbClr val="000000"/>
                </a:solidFill>
                <a:latin typeface="Poppins Bold"/>
                <a:ea typeface="Poppins Bold"/>
                <a:cs typeface="Poppins Bold"/>
                <a:sym typeface="Poppins Bold"/>
              </a:rPr>
              <a:t>          Every challenge was an opportunity to innovate and strengthen my problem-solving abilities. During the internship and project development, I faced multifaceted technical and conceptual challenges. Each obstacle was approached strategically through research, iterative experimentation, and application of best practices. This methodical problem, solving not only resolved immediate issues but also sharpened my technical acumen, honed critical thinking, and cultivated resilience, transforming challenges into profound learning experiences and strengthening my capacity to deliver efficient, robust, and scalable solutions.</a:t>
            </a:r>
          </a:p>
        </p:txBody>
      </p:sp>
      <p:grpSp>
        <p:nvGrpSpPr>
          <p:cNvPr id="19" name="Group 19"/>
          <p:cNvGrpSpPr/>
          <p:nvPr/>
        </p:nvGrpSpPr>
        <p:grpSpPr>
          <a:xfrm>
            <a:off x="692706" y="3884374"/>
            <a:ext cx="2797572" cy="2660729"/>
            <a:chOff x="0" y="0"/>
            <a:chExt cx="6993930" cy="6651823"/>
          </a:xfrm>
        </p:grpSpPr>
        <p:sp>
          <p:nvSpPr>
            <p:cNvPr id="20" name="Freeform 20"/>
            <p:cNvSpPr/>
            <p:nvPr/>
          </p:nvSpPr>
          <p:spPr>
            <a:xfrm>
              <a:off x="0" y="0"/>
              <a:ext cx="6993890" cy="6651752"/>
            </a:xfrm>
            <a:custGeom>
              <a:avLst/>
              <a:gdLst/>
              <a:ahLst/>
              <a:cxnLst/>
              <a:rect l="l" t="t" r="r" b="b"/>
              <a:pathLst>
                <a:path w="6993890" h="6651752">
                  <a:moveTo>
                    <a:pt x="0" y="243840"/>
                  </a:moveTo>
                  <a:cubicBezTo>
                    <a:pt x="0" y="109220"/>
                    <a:pt x="109220" y="0"/>
                    <a:pt x="243840" y="0"/>
                  </a:cubicBezTo>
                  <a:lnTo>
                    <a:pt x="6750050" y="0"/>
                  </a:lnTo>
                  <a:cubicBezTo>
                    <a:pt x="6884670" y="0"/>
                    <a:pt x="6993890" y="109220"/>
                    <a:pt x="6993890" y="243840"/>
                  </a:cubicBezTo>
                  <a:lnTo>
                    <a:pt x="6993890" y="6407912"/>
                  </a:lnTo>
                  <a:cubicBezTo>
                    <a:pt x="6993890" y="6542532"/>
                    <a:pt x="6884670" y="6651752"/>
                    <a:pt x="6750050" y="6651752"/>
                  </a:cubicBezTo>
                  <a:lnTo>
                    <a:pt x="243840" y="6651752"/>
                  </a:lnTo>
                  <a:cubicBezTo>
                    <a:pt x="109220" y="6651752"/>
                    <a:pt x="0" y="6542532"/>
                    <a:pt x="0" y="6407912"/>
                  </a:cubicBezTo>
                  <a:close/>
                </a:path>
              </a:pathLst>
            </a:custGeom>
            <a:solidFill>
              <a:srgbClr val="2A2A2D">
                <a:alpha val="90196"/>
              </a:srgbClr>
            </a:solidFill>
          </p:spPr>
        </p:sp>
      </p:grpSp>
      <p:grpSp>
        <p:nvGrpSpPr>
          <p:cNvPr id="21" name="Group 21"/>
          <p:cNvGrpSpPr>
            <a:grpSpLocks noChangeAspect="1"/>
          </p:cNvGrpSpPr>
          <p:nvPr/>
        </p:nvGrpSpPr>
        <p:grpSpPr>
          <a:xfrm>
            <a:off x="692706" y="3864054"/>
            <a:ext cx="2797572" cy="81280"/>
            <a:chOff x="0" y="0"/>
            <a:chExt cx="6993930" cy="203200"/>
          </a:xfrm>
        </p:grpSpPr>
        <p:sp>
          <p:nvSpPr>
            <p:cNvPr id="22" name="Freeform 22" descr="preencoded.png"/>
            <p:cNvSpPr/>
            <p:nvPr/>
          </p:nvSpPr>
          <p:spPr>
            <a:xfrm>
              <a:off x="0" y="0"/>
              <a:ext cx="6993890" cy="203200"/>
            </a:xfrm>
            <a:custGeom>
              <a:avLst/>
              <a:gdLst/>
              <a:ahLst/>
              <a:cxnLst/>
              <a:rect l="l" t="t" r="r" b="b"/>
              <a:pathLst>
                <a:path w="6993890" h="203200">
                  <a:moveTo>
                    <a:pt x="0" y="0"/>
                  </a:moveTo>
                  <a:lnTo>
                    <a:pt x="6993890" y="0"/>
                  </a:lnTo>
                  <a:lnTo>
                    <a:pt x="6993890" y="203200"/>
                  </a:lnTo>
                  <a:lnTo>
                    <a:pt x="0" y="203200"/>
                  </a:lnTo>
                  <a:lnTo>
                    <a:pt x="0" y="0"/>
                  </a:lnTo>
                  <a:close/>
                </a:path>
              </a:pathLst>
            </a:custGeom>
            <a:blipFill>
              <a:blip r:embed="rId3"/>
              <a:stretch>
                <a:fillRect l="-26" r="-27"/>
              </a:stretch>
            </a:blipFill>
          </p:spPr>
        </p:sp>
      </p:grpSp>
      <p:sp>
        <p:nvSpPr>
          <p:cNvPr id="23" name="TextBox 23"/>
          <p:cNvSpPr txBox="1"/>
          <p:nvPr/>
        </p:nvSpPr>
        <p:spPr>
          <a:xfrm>
            <a:off x="864235" y="4243308"/>
            <a:ext cx="2079784" cy="255270"/>
          </a:xfrm>
          <a:prstGeom prst="rect">
            <a:avLst/>
          </a:prstGeom>
        </p:spPr>
        <p:txBody>
          <a:bodyPr lIns="0" tIns="0" rIns="0" bIns="0" rtlCol="0" anchor="t">
            <a:spAutoFit/>
          </a:bodyPr>
          <a:lstStyle/>
          <a:p>
            <a:pPr algn="l">
              <a:lnSpc>
                <a:spcPts val="1833"/>
              </a:lnSpc>
            </a:pPr>
            <a:r>
              <a:rPr lang="en-US" sz="1466" b="1">
                <a:solidFill>
                  <a:srgbClr val="CFD0D8"/>
                </a:solidFill>
                <a:latin typeface="Arimo Bold"/>
                <a:ea typeface="Arimo Bold"/>
                <a:cs typeface="Arimo Bold"/>
                <a:sym typeface="Arimo Bold"/>
              </a:rPr>
              <a:t>Virtual Communication</a:t>
            </a:r>
          </a:p>
        </p:txBody>
      </p:sp>
      <p:sp>
        <p:nvSpPr>
          <p:cNvPr id="24" name="TextBox 24"/>
          <p:cNvSpPr txBox="1"/>
          <p:nvPr/>
        </p:nvSpPr>
        <p:spPr>
          <a:xfrm>
            <a:off x="864235" y="4532153"/>
            <a:ext cx="2454513" cy="541020"/>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Problem: Ensuring clear and timely communication in a remote team.</a:t>
            </a:r>
          </a:p>
        </p:txBody>
      </p:sp>
      <p:sp>
        <p:nvSpPr>
          <p:cNvPr id="25" name="TextBox 25"/>
          <p:cNvSpPr txBox="1"/>
          <p:nvPr/>
        </p:nvSpPr>
        <p:spPr>
          <a:xfrm>
            <a:off x="864235" y="5106749"/>
            <a:ext cx="2454513" cy="1187450"/>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Solution: Actively participated in regular seminars, utilized project management tools, and communicated with designated mentor.</a:t>
            </a:r>
          </a:p>
        </p:txBody>
      </p:sp>
      <p:grpSp>
        <p:nvGrpSpPr>
          <p:cNvPr id="26" name="Group 26"/>
          <p:cNvGrpSpPr/>
          <p:nvPr/>
        </p:nvGrpSpPr>
        <p:grpSpPr>
          <a:xfrm>
            <a:off x="3641487" y="3884374"/>
            <a:ext cx="2797572" cy="2660729"/>
            <a:chOff x="0" y="0"/>
            <a:chExt cx="6993930" cy="6651823"/>
          </a:xfrm>
        </p:grpSpPr>
        <p:sp>
          <p:nvSpPr>
            <p:cNvPr id="27" name="Freeform 27"/>
            <p:cNvSpPr/>
            <p:nvPr/>
          </p:nvSpPr>
          <p:spPr>
            <a:xfrm>
              <a:off x="0" y="0"/>
              <a:ext cx="6993890" cy="6651752"/>
            </a:xfrm>
            <a:custGeom>
              <a:avLst/>
              <a:gdLst/>
              <a:ahLst/>
              <a:cxnLst/>
              <a:rect l="l" t="t" r="r" b="b"/>
              <a:pathLst>
                <a:path w="6993890" h="6651752">
                  <a:moveTo>
                    <a:pt x="0" y="243840"/>
                  </a:moveTo>
                  <a:cubicBezTo>
                    <a:pt x="0" y="109220"/>
                    <a:pt x="109220" y="0"/>
                    <a:pt x="243840" y="0"/>
                  </a:cubicBezTo>
                  <a:lnTo>
                    <a:pt x="6750050" y="0"/>
                  </a:lnTo>
                  <a:cubicBezTo>
                    <a:pt x="6884670" y="0"/>
                    <a:pt x="6993890" y="109220"/>
                    <a:pt x="6993890" y="243840"/>
                  </a:cubicBezTo>
                  <a:lnTo>
                    <a:pt x="6993890" y="6407912"/>
                  </a:lnTo>
                  <a:cubicBezTo>
                    <a:pt x="6993890" y="6542532"/>
                    <a:pt x="6884670" y="6651752"/>
                    <a:pt x="6750050" y="6651752"/>
                  </a:cubicBezTo>
                  <a:lnTo>
                    <a:pt x="243840" y="6651752"/>
                  </a:lnTo>
                  <a:cubicBezTo>
                    <a:pt x="109220" y="6651752"/>
                    <a:pt x="0" y="6542532"/>
                    <a:pt x="0" y="6407912"/>
                  </a:cubicBezTo>
                  <a:close/>
                </a:path>
              </a:pathLst>
            </a:custGeom>
            <a:solidFill>
              <a:srgbClr val="2A2A2D">
                <a:alpha val="90196"/>
              </a:srgbClr>
            </a:solidFill>
          </p:spPr>
        </p:sp>
      </p:grpSp>
      <p:grpSp>
        <p:nvGrpSpPr>
          <p:cNvPr id="28" name="Group 28"/>
          <p:cNvGrpSpPr>
            <a:grpSpLocks noChangeAspect="1"/>
          </p:cNvGrpSpPr>
          <p:nvPr/>
        </p:nvGrpSpPr>
        <p:grpSpPr>
          <a:xfrm>
            <a:off x="3641487" y="3864054"/>
            <a:ext cx="2797572" cy="81280"/>
            <a:chOff x="0" y="0"/>
            <a:chExt cx="6993930" cy="203200"/>
          </a:xfrm>
        </p:grpSpPr>
        <p:sp>
          <p:nvSpPr>
            <p:cNvPr id="29" name="Freeform 29" descr="preencoded.png"/>
            <p:cNvSpPr/>
            <p:nvPr/>
          </p:nvSpPr>
          <p:spPr>
            <a:xfrm>
              <a:off x="0" y="0"/>
              <a:ext cx="6993890" cy="203200"/>
            </a:xfrm>
            <a:custGeom>
              <a:avLst/>
              <a:gdLst/>
              <a:ahLst/>
              <a:cxnLst/>
              <a:rect l="l" t="t" r="r" b="b"/>
              <a:pathLst>
                <a:path w="6993890" h="203200">
                  <a:moveTo>
                    <a:pt x="0" y="0"/>
                  </a:moveTo>
                  <a:lnTo>
                    <a:pt x="6993890" y="0"/>
                  </a:lnTo>
                  <a:lnTo>
                    <a:pt x="6993890" y="203200"/>
                  </a:lnTo>
                  <a:lnTo>
                    <a:pt x="0" y="203200"/>
                  </a:lnTo>
                  <a:lnTo>
                    <a:pt x="0" y="0"/>
                  </a:lnTo>
                  <a:close/>
                </a:path>
              </a:pathLst>
            </a:custGeom>
            <a:blipFill>
              <a:blip r:embed="rId3"/>
              <a:stretch>
                <a:fillRect l="-26" r="-27"/>
              </a:stretch>
            </a:blipFill>
          </p:spPr>
        </p:sp>
      </p:grpSp>
      <p:sp>
        <p:nvSpPr>
          <p:cNvPr id="30" name="TextBox 30"/>
          <p:cNvSpPr txBox="1"/>
          <p:nvPr/>
        </p:nvSpPr>
        <p:spPr>
          <a:xfrm>
            <a:off x="3813017" y="4243308"/>
            <a:ext cx="2227885" cy="238337"/>
          </a:xfrm>
          <a:prstGeom prst="rect">
            <a:avLst/>
          </a:prstGeom>
        </p:spPr>
        <p:txBody>
          <a:bodyPr lIns="0" tIns="0" rIns="0" bIns="0" rtlCol="0" anchor="t">
            <a:spAutoFit/>
          </a:bodyPr>
          <a:lstStyle/>
          <a:p>
            <a:pPr algn="l">
              <a:lnSpc>
                <a:spcPts val="1833"/>
              </a:lnSpc>
            </a:pPr>
            <a:r>
              <a:rPr lang="en-US" sz="1466" b="1">
                <a:solidFill>
                  <a:srgbClr val="CFD0D8"/>
                </a:solidFill>
                <a:latin typeface="Arimo Bold"/>
                <a:ea typeface="Arimo Bold"/>
                <a:cs typeface="Arimo Bold"/>
                <a:sym typeface="Arimo Bold"/>
              </a:rPr>
              <a:t>Complex Error Handling</a:t>
            </a:r>
          </a:p>
        </p:txBody>
      </p:sp>
      <p:sp>
        <p:nvSpPr>
          <p:cNvPr id="31" name="TextBox 31"/>
          <p:cNvSpPr txBox="1"/>
          <p:nvPr/>
        </p:nvSpPr>
        <p:spPr>
          <a:xfrm>
            <a:off x="3813017" y="4532153"/>
            <a:ext cx="2454513" cy="782955"/>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Problem: Debugging intricate system errors in unfamiliar codebases.</a:t>
            </a:r>
          </a:p>
        </p:txBody>
      </p:sp>
      <p:sp>
        <p:nvSpPr>
          <p:cNvPr id="32" name="TextBox 32"/>
          <p:cNvSpPr txBox="1"/>
          <p:nvPr/>
        </p:nvSpPr>
        <p:spPr>
          <a:xfrm>
            <a:off x="3813017" y="5348684"/>
            <a:ext cx="2454513" cy="782955"/>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Solution: Employed systematic logging, unit testing, and sought mentor guidance when necessary.</a:t>
            </a:r>
          </a:p>
        </p:txBody>
      </p:sp>
      <p:grpSp>
        <p:nvGrpSpPr>
          <p:cNvPr id="33" name="Group 33"/>
          <p:cNvGrpSpPr/>
          <p:nvPr/>
        </p:nvGrpSpPr>
        <p:grpSpPr>
          <a:xfrm>
            <a:off x="6590268" y="3884374"/>
            <a:ext cx="2797572" cy="2660729"/>
            <a:chOff x="0" y="0"/>
            <a:chExt cx="6993930" cy="6651823"/>
          </a:xfrm>
        </p:grpSpPr>
        <p:sp>
          <p:nvSpPr>
            <p:cNvPr id="34" name="Freeform 34"/>
            <p:cNvSpPr/>
            <p:nvPr/>
          </p:nvSpPr>
          <p:spPr>
            <a:xfrm>
              <a:off x="0" y="0"/>
              <a:ext cx="6993890" cy="6651752"/>
            </a:xfrm>
            <a:custGeom>
              <a:avLst/>
              <a:gdLst/>
              <a:ahLst/>
              <a:cxnLst/>
              <a:rect l="l" t="t" r="r" b="b"/>
              <a:pathLst>
                <a:path w="6993890" h="6651752">
                  <a:moveTo>
                    <a:pt x="0" y="243840"/>
                  </a:moveTo>
                  <a:cubicBezTo>
                    <a:pt x="0" y="109220"/>
                    <a:pt x="109220" y="0"/>
                    <a:pt x="243840" y="0"/>
                  </a:cubicBezTo>
                  <a:lnTo>
                    <a:pt x="6750050" y="0"/>
                  </a:lnTo>
                  <a:cubicBezTo>
                    <a:pt x="6884670" y="0"/>
                    <a:pt x="6993890" y="109220"/>
                    <a:pt x="6993890" y="243840"/>
                  </a:cubicBezTo>
                  <a:lnTo>
                    <a:pt x="6993890" y="6407912"/>
                  </a:lnTo>
                  <a:cubicBezTo>
                    <a:pt x="6993890" y="6542532"/>
                    <a:pt x="6884670" y="6651752"/>
                    <a:pt x="6750050" y="6651752"/>
                  </a:cubicBezTo>
                  <a:lnTo>
                    <a:pt x="243840" y="6651752"/>
                  </a:lnTo>
                  <a:cubicBezTo>
                    <a:pt x="109220" y="6651752"/>
                    <a:pt x="0" y="6542532"/>
                    <a:pt x="0" y="6407912"/>
                  </a:cubicBezTo>
                  <a:close/>
                </a:path>
              </a:pathLst>
            </a:custGeom>
            <a:solidFill>
              <a:srgbClr val="2A2A2D">
                <a:alpha val="90196"/>
              </a:srgbClr>
            </a:solidFill>
          </p:spPr>
        </p:sp>
      </p:grpSp>
      <p:grpSp>
        <p:nvGrpSpPr>
          <p:cNvPr id="35" name="Group 35"/>
          <p:cNvGrpSpPr>
            <a:grpSpLocks noChangeAspect="1"/>
          </p:cNvGrpSpPr>
          <p:nvPr/>
        </p:nvGrpSpPr>
        <p:grpSpPr>
          <a:xfrm>
            <a:off x="6590268" y="3864054"/>
            <a:ext cx="2797572" cy="81280"/>
            <a:chOff x="0" y="0"/>
            <a:chExt cx="6993930" cy="203200"/>
          </a:xfrm>
        </p:grpSpPr>
        <p:sp>
          <p:nvSpPr>
            <p:cNvPr id="36" name="Freeform 36" descr="preencoded.png"/>
            <p:cNvSpPr/>
            <p:nvPr/>
          </p:nvSpPr>
          <p:spPr>
            <a:xfrm>
              <a:off x="0" y="0"/>
              <a:ext cx="6993890" cy="203200"/>
            </a:xfrm>
            <a:custGeom>
              <a:avLst/>
              <a:gdLst/>
              <a:ahLst/>
              <a:cxnLst/>
              <a:rect l="l" t="t" r="r" b="b"/>
              <a:pathLst>
                <a:path w="6993890" h="203200">
                  <a:moveTo>
                    <a:pt x="0" y="0"/>
                  </a:moveTo>
                  <a:lnTo>
                    <a:pt x="6993890" y="0"/>
                  </a:lnTo>
                  <a:lnTo>
                    <a:pt x="6993890" y="203200"/>
                  </a:lnTo>
                  <a:lnTo>
                    <a:pt x="0" y="203200"/>
                  </a:lnTo>
                  <a:lnTo>
                    <a:pt x="0" y="0"/>
                  </a:lnTo>
                  <a:close/>
                </a:path>
              </a:pathLst>
            </a:custGeom>
            <a:blipFill>
              <a:blip r:embed="rId3"/>
              <a:stretch>
                <a:fillRect l="-26" r="-27"/>
              </a:stretch>
            </a:blipFill>
          </p:spPr>
        </p:sp>
      </p:grpSp>
      <p:sp>
        <p:nvSpPr>
          <p:cNvPr id="37" name="TextBox 37"/>
          <p:cNvSpPr txBox="1"/>
          <p:nvPr/>
        </p:nvSpPr>
        <p:spPr>
          <a:xfrm>
            <a:off x="6761797" y="4243308"/>
            <a:ext cx="1890157" cy="255270"/>
          </a:xfrm>
          <a:prstGeom prst="rect">
            <a:avLst/>
          </a:prstGeom>
        </p:spPr>
        <p:txBody>
          <a:bodyPr lIns="0" tIns="0" rIns="0" bIns="0" rtlCol="0" anchor="t">
            <a:spAutoFit/>
          </a:bodyPr>
          <a:lstStyle/>
          <a:p>
            <a:pPr algn="l">
              <a:lnSpc>
                <a:spcPts val="1833"/>
              </a:lnSpc>
            </a:pPr>
            <a:r>
              <a:rPr lang="en-US" sz="1466" b="1">
                <a:solidFill>
                  <a:srgbClr val="CFD0D8"/>
                </a:solidFill>
                <a:latin typeface="Arimo Bold"/>
                <a:ea typeface="Arimo Bold"/>
                <a:cs typeface="Arimo Bold"/>
                <a:sym typeface="Arimo Bold"/>
              </a:rPr>
              <a:t>Meeting Deadlines</a:t>
            </a:r>
          </a:p>
        </p:txBody>
      </p:sp>
      <p:sp>
        <p:nvSpPr>
          <p:cNvPr id="38" name="TextBox 38"/>
          <p:cNvSpPr txBox="1"/>
          <p:nvPr/>
        </p:nvSpPr>
        <p:spPr>
          <a:xfrm>
            <a:off x="6761797" y="4532153"/>
            <a:ext cx="2454513" cy="541020"/>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Problem: Balancing multiple tasks under tight project deadlines.</a:t>
            </a:r>
          </a:p>
        </p:txBody>
      </p:sp>
      <p:sp>
        <p:nvSpPr>
          <p:cNvPr id="39" name="TextBox 39"/>
          <p:cNvSpPr txBox="1"/>
          <p:nvPr/>
        </p:nvSpPr>
        <p:spPr>
          <a:xfrm>
            <a:off x="6761797" y="5106749"/>
            <a:ext cx="2454513" cy="1266825"/>
          </a:xfrm>
          <a:prstGeom prst="rect">
            <a:avLst/>
          </a:prstGeom>
        </p:spPr>
        <p:txBody>
          <a:bodyPr lIns="0" tIns="0" rIns="0" bIns="0" rtlCol="0" anchor="t">
            <a:spAutoFit/>
          </a:bodyPr>
          <a:lstStyle/>
          <a:p>
            <a:pPr algn="l">
              <a:lnSpc>
                <a:spcPts val="1899"/>
              </a:lnSpc>
            </a:pPr>
            <a:r>
              <a:rPr lang="en-US" sz="1166">
                <a:solidFill>
                  <a:srgbClr val="CFD0D8"/>
                </a:solidFill>
                <a:latin typeface="Arimo"/>
                <a:ea typeface="Arimo"/>
                <a:cs typeface="Arimo"/>
                <a:sym typeface="Arimo"/>
              </a:rPr>
              <a:t>Solution: Prioritized tasks effectively, broke down large goals into smaller manageable steps, and communicated progress proactively.</a:t>
            </a:r>
          </a:p>
        </p:txBody>
      </p:sp>
      <p:sp>
        <p:nvSpPr>
          <p:cNvPr id="40" name="TextBox 40"/>
          <p:cNvSpPr txBox="1"/>
          <p:nvPr/>
        </p:nvSpPr>
        <p:spPr>
          <a:xfrm>
            <a:off x="1904127" y="3474801"/>
            <a:ext cx="153888" cy="389253"/>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1</a:t>
            </a:r>
          </a:p>
        </p:txBody>
      </p:sp>
      <p:sp>
        <p:nvSpPr>
          <p:cNvPr id="41" name="TextBox 41"/>
          <p:cNvSpPr txBox="1"/>
          <p:nvPr/>
        </p:nvSpPr>
        <p:spPr>
          <a:xfrm>
            <a:off x="5035768" y="3515441"/>
            <a:ext cx="162818" cy="389253"/>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2</a:t>
            </a:r>
          </a:p>
        </p:txBody>
      </p:sp>
      <p:sp>
        <p:nvSpPr>
          <p:cNvPr id="42" name="TextBox 42"/>
          <p:cNvSpPr txBox="1"/>
          <p:nvPr/>
        </p:nvSpPr>
        <p:spPr>
          <a:xfrm>
            <a:off x="7979678" y="3495121"/>
            <a:ext cx="172641" cy="389253"/>
          </a:xfrm>
          <a:prstGeom prst="rect">
            <a:avLst/>
          </a:prstGeom>
        </p:spPr>
        <p:txBody>
          <a:bodyPr lIns="0" tIns="0" rIns="0" bIns="0" rtlCol="0" anchor="t">
            <a:spAutoFit/>
          </a:bodyPr>
          <a:lstStyle/>
          <a:p>
            <a:pPr algn="ctr">
              <a:lnSpc>
                <a:spcPts val="3220"/>
              </a:lnSpc>
            </a:pPr>
            <a:r>
              <a:rPr lang="en-US" sz="2300" b="1">
                <a:solidFill>
                  <a:srgbClr val="000000"/>
                </a:solidFill>
                <a:latin typeface="Canva Sans Bold"/>
                <a:ea typeface="Canva Sans Bold"/>
                <a:cs typeface="Canva Sans Bold"/>
                <a:sym typeface="Canva Sans Bold"/>
              </a:rPr>
              <a:t>3</a:t>
            </a: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56896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1125083"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[‹16›]</a:t>
            </a:r>
          </a:p>
        </p:txBody>
      </p:sp>
      <p:sp>
        <p:nvSpPr>
          <p:cNvPr id="17" name="TextBox 17"/>
          <p:cNvSpPr txBox="1"/>
          <p:nvPr/>
        </p:nvSpPr>
        <p:spPr>
          <a:xfrm>
            <a:off x="568960" y="300561"/>
            <a:ext cx="7443796" cy="403543"/>
          </a:xfrm>
          <a:prstGeom prst="rect">
            <a:avLst/>
          </a:prstGeom>
        </p:spPr>
        <p:txBody>
          <a:bodyPr lIns="0" tIns="0" rIns="0" bIns="0" rtlCol="0" anchor="t">
            <a:spAutoFit/>
          </a:bodyPr>
          <a:lstStyle/>
          <a:p>
            <a:pPr algn="l">
              <a:lnSpc>
                <a:spcPts val="3246"/>
              </a:lnSpc>
            </a:pPr>
            <a:r>
              <a:rPr lang="en-US" sz="2603">
                <a:solidFill>
                  <a:srgbClr val="000000"/>
                </a:solidFill>
                <a:latin typeface="Hammersmith One"/>
                <a:ea typeface="Hammersmith One"/>
                <a:cs typeface="Hammersmith One"/>
                <a:sym typeface="Hammersmith One"/>
              </a:rPr>
              <a:t>Growth Trajectory: My Key Learning Outcomes</a:t>
            </a:r>
          </a:p>
        </p:txBody>
      </p:sp>
      <p:sp>
        <p:nvSpPr>
          <p:cNvPr id="18" name="TextBox 18"/>
          <p:cNvSpPr txBox="1"/>
          <p:nvPr/>
        </p:nvSpPr>
        <p:spPr>
          <a:xfrm>
            <a:off x="586890" y="1199476"/>
            <a:ext cx="9039169" cy="1710373"/>
          </a:xfrm>
          <a:prstGeom prst="rect">
            <a:avLst/>
          </a:prstGeom>
        </p:spPr>
        <p:txBody>
          <a:bodyPr lIns="0" tIns="0" rIns="0" bIns="0" rtlCol="0" anchor="t">
            <a:spAutoFit/>
          </a:bodyPr>
          <a:lstStyle/>
          <a:p>
            <a:pPr algn="just">
              <a:lnSpc>
                <a:spcPts val="1973"/>
              </a:lnSpc>
            </a:pPr>
            <a:r>
              <a:rPr lang="en-US" sz="1242">
                <a:solidFill>
                  <a:srgbClr val="000000"/>
                </a:solidFill>
                <a:latin typeface="Hammersmith One"/>
                <a:ea typeface="Hammersmith One"/>
                <a:cs typeface="Hammersmith One"/>
                <a:sym typeface="Hammersmith One"/>
              </a:rPr>
              <a:t>    This internship acted as a transformative catalyst, significantly enhancing both my technical expertise and professional competencies. Immersed in real-world projects, I bridged theoretical knowledge with practical application, gaining mastery over modern web development practices, software design, and project workflows. Beyond technical skills, the experience honed critical thinking, problem-solving, time management, and effective communication, enabling me to approach challenges methodically and deliver precise solutions. Over the course of the internship, I achieved key learning outcomes that strengthened my technical acumen while cultivating the professional sophistication required to excel in collaborative, fast-paced, and results-driven environments.</a:t>
            </a:r>
          </a:p>
        </p:txBody>
      </p:sp>
      <p:grpSp>
        <p:nvGrpSpPr>
          <p:cNvPr id="19" name="Group 19"/>
          <p:cNvGrpSpPr/>
          <p:nvPr/>
        </p:nvGrpSpPr>
        <p:grpSpPr>
          <a:xfrm>
            <a:off x="894620" y="3219881"/>
            <a:ext cx="4243793" cy="154785"/>
            <a:chOff x="0" y="0"/>
            <a:chExt cx="10222905" cy="372863"/>
          </a:xfrm>
        </p:grpSpPr>
        <p:sp>
          <p:nvSpPr>
            <p:cNvPr id="20" name="Freeform 20"/>
            <p:cNvSpPr/>
            <p:nvPr/>
          </p:nvSpPr>
          <p:spPr>
            <a:xfrm>
              <a:off x="6350" y="6350"/>
              <a:ext cx="10210165" cy="360172"/>
            </a:xfrm>
            <a:custGeom>
              <a:avLst/>
              <a:gdLst/>
              <a:ahLst/>
              <a:cxnLst/>
              <a:rect l="l" t="t" r="r" b="b"/>
              <a:pathLst>
                <a:path w="10210165" h="360172">
                  <a:moveTo>
                    <a:pt x="0" y="151384"/>
                  </a:moveTo>
                  <a:cubicBezTo>
                    <a:pt x="0" y="67818"/>
                    <a:pt x="70104" y="0"/>
                    <a:pt x="156464" y="0"/>
                  </a:cubicBezTo>
                  <a:lnTo>
                    <a:pt x="10053701" y="0"/>
                  </a:lnTo>
                  <a:cubicBezTo>
                    <a:pt x="10140188" y="0"/>
                    <a:pt x="10210165" y="67818"/>
                    <a:pt x="10210165" y="151384"/>
                  </a:cubicBezTo>
                  <a:lnTo>
                    <a:pt x="10210165" y="208788"/>
                  </a:lnTo>
                  <a:cubicBezTo>
                    <a:pt x="10210165" y="292354"/>
                    <a:pt x="10140061" y="360172"/>
                    <a:pt x="10053701" y="360172"/>
                  </a:cubicBezTo>
                  <a:lnTo>
                    <a:pt x="156464" y="360172"/>
                  </a:lnTo>
                  <a:cubicBezTo>
                    <a:pt x="70104" y="360172"/>
                    <a:pt x="0" y="292354"/>
                    <a:pt x="0" y="208788"/>
                  </a:cubicBezTo>
                  <a:close/>
                </a:path>
              </a:pathLst>
            </a:custGeom>
            <a:solidFill>
              <a:srgbClr val="3D3D42"/>
            </a:solidFill>
          </p:spPr>
        </p:sp>
        <p:sp>
          <p:nvSpPr>
            <p:cNvPr id="21" name="Freeform 21"/>
            <p:cNvSpPr/>
            <p:nvPr/>
          </p:nvSpPr>
          <p:spPr>
            <a:xfrm>
              <a:off x="0" y="0"/>
              <a:ext cx="10222865" cy="372872"/>
            </a:xfrm>
            <a:custGeom>
              <a:avLst/>
              <a:gdLst/>
              <a:ahLst/>
              <a:cxnLst/>
              <a:rect l="l" t="t" r="r" b="b"/>
              <a:pathLst>
                <a:path w="10222865" h="372872">
                  <a:moveTo>
                    <a:pt x="0" y="157734"/>
                  </a:moveTo>
                  <a:cubicBezTo>
                    <a:pt x="0" y="70358"/>
                    <a:pt x="73152" y="0"/>
                    <a:pt x="162814" y="0"/>
                  </a:cubicBezTo>
                  <a:lnTo>
                    <a:pt x="10060051" y="0"/>
                  </a:lnTo>
                  <a:lnTo>
                    <a:pt x="10060051" y="6350"/>
                  </a:lnTo>
                  <a:lnTo>
                    <a:pt x="10060051" y="0"/>
                  </a:lnTo>
                  <a:cubicBezTo>
                    <a:pt x="10149840" y="0"/>
                    <a:pt x="10222865" y="70358"/>
                    <a:pt x="10222865" y="157734"/>
                  </a:cubicBezTo>
                  <a:lnTo>
                    <a:pt x="10216515" y="157734"/>
                  </a:lnTo>
                  <a:lnTo>
                    <a:pt x="10222865" y="157734"/>
                  </a:lnTo>
                  <a:lnTo>
                    <a:pt x="10222865" y="215138"/>
                  </a:lnTo>
                  <a:lnTo>
                    <a:pt x="10216515" y="215138"/>
                  </a:lnTo>
                  <a:lnTo>
                    <a:pt x="10222865" y="215138"/>
                  </a:lnTo>
                  <a:cubicBezTo>
                    <a:pt x="10222865" y="302387"/>
                    <a:pt x="10149713" y="372872"/>
                    <a:pt x="10060051" y="372872"/>
                  </a:cubicBezTo>
                  <a:lnTo>
                    <a:pt x="10060051" y="366522"/>
                  </a:lnTo>
                  <a:lnTo>
                    <a:pt x="10060051" y="372872"/>
                  </a:lnTo>
                  <a:lnTo>
                    <a:pt x="162814" y="372872"/>
                  </a:lnTo>
                  <a:lnTo>
                    <a:pt x="162814" y="366522"/>
                  </a:lnTo>
                  <a:lnTo>
                    <a:pt x="162814" y="372872"/>
                  </a:lnTo>
                  <a:cubicBezTo>
                    <a:pt x="73152" y="372872"/>
                    <a:pt x="0" y="302514"/>
                    <a:pt x="0" y="215138"/>
                  </a:cubicBezTo>
                  <a:lnTo>
                    <a:pt x="0" y="157734"/>
                  </a:lnTo>
                  <a:lnTo>
                    <a:pt x="6350" y="157734"/>
                  </a:lnTo>
                  <a:lnTo>
                    <a:pt x="0" y="157734"/>
                  </a:lnTo>
                  <a:moveTo>
                    <a:pt x="12700" y="157734"/>
                  </a:moveTo>
                  <a:lnTo>
                    <a:pt x="12700" y="215138"/>
                  </a:lnTo>
                  <a:lnTo>
                    <a:pt x="6350" y="215138"/>
                  </a:lnTo>
                  <a:lnTo>
                    <a:pt x="12700" y="215138"/>
                  </a:lnTo>
                  <a:cubicBezTo>
                    <a:pt x="12700" y="295021"/>
                    <a:pt x="79756" y="360172"/>
                    <a:pt x="162814" y="360172"/>
                  </a:cubicBezTo>
                  <a:lnTo>
                    <a:pt x="10060051" y="360172"/>
                  </a:lnTo>
                  <a:cubicBezTo>
                    <a:pt x="10143236" y="360172"/>
                    <a:pt x="10210165" y="295021"/>
                    <a:pt x="10210165" y="215138"/>
                  </a:cubicBezTo>
                  <a:lnTo>
                    <a:pt x="10210165" y="157734"/>
                  </a:lnTo>
                  <a:cubicBezTo>
                    <a:pt x="10210165" y="77851"/>
                    <a:pt x="10143236" y="12700"/>
                    <a:pt x="10060051" y="12700"/>
                  </a:cubicBezTo>
                  <a:lnTo>
                    <a:pt x="162814" y="12700"/>
                  </a:lnTo>
                  <a:lnTo>
                    <a:pt x="162814" y="6350"/>
                  </a:lnTo>
                  <a:lnTo>
                    <a:pt x="162814" y="12700"/>
                  </a:lnTo>
                  <a:cubicBezTo>
                    <a:pt x="79756" y="12700"/>
                    <a:pt x="12700" y="77851"/>
                    <a:pt x="12700" y="157734"/>
                  </a:cubicBezTo>
                  <a:close/>
                </a:path>
              </a:pathLst>
            </a:custGeom>
            <a:solidFill>
              <a:srgbClr val="56565B"/>
            </a:solidFill>
          </p:spPr>
        </p:sp>
      </p:grpSp>
      <p:grpSp>
        <p:nvGrpSpPr>
          <p:cNvPr id="22" name="Group 22"/>
          <p:cNvGrpSpPr/>
          <p:nvPr/>
        </p:nvGrpSpPr>
        <p:grpSpPr>
          <a:xfrm>
            <a:off x="670309" y="3070244"/>
            <a:ext cx="453977" cy="453977"/>
            <a:chOff x="0" y="0"/>
            <a:chExt cx="1093588" cy="1093588"/>
          </a:xfrm>
        </p:grpSpPr>
        <p:sp>
          <p:nvSpPr>
            <p:cNvPr id="23" name="Freeform 23"/>
            <p:cNvSpPr/>
            <p:nvPr/>
          </p:nvSpPr>
          <p:spPr>
            <a:xfrm>
              <a:off x="6350" y="6350"/>
              <a:ext cx="1080897" cy="1080897"/>
            </a:xfrm>
            <a:custGeom>
              <a:avLst/>
              <a:gdLst/>
              <a:ahLst/>
              <a:cxnLst/>
              <a:rect l="l" t="t" r="r" b="b"/>
              <a:pathLst>
                <a:path w="1080897" h="1080897">
                  <a:moveTo>
                    <a:pt x="0" y="540385"/>
                  </a:moveTo>
                  <a:cubicBezTo>
                    <a:pt x="0" y="241935"/>
                    <a:pt x="241935" y="0"/>
                    <a:pt x="540385" y="0"/>
                  </a:cubicBezTo>
                  <a:cubicBezTo>
                    <a:pt x="838835" y="0"/>
                    <a:pt x="1080897" y="241935"/>
                    <a:pt x="1080897" y="540385"/>
                  </a:cubicBezTo>
                  <a:cubicBezTo>
                    <a:pt x="1080897" y="838835"/>
                    <a:pt x="838962" y="1080897"/>
                    <a:pt x="540385" y="1080897"/>
                  </a:cubicBezTo>
                  <a:cubicBezTo>
                    <a:pt x="241808" y="1080897"/>
                    <a:pt x="0" y="838962"/>
                    <a:pt x="0" y="540385"/>
                  </a:cubicBezTo>
                  <a:close/>
                </a:path>
              </a:pathLst>
            </a:custGeom>
            <a:solidFill>
              <a:srgbClr val="3D3D42"/>
            </a:solidFill>
          </p:spPr>
        </p:sp>
        <p:sp>
          <p:nvSpPr>
            <p:cNvPr id="24" name="Freeform 24"/>
            <p:cNvSpPr/>
            <p:nvPr/>
          </p:nvSpPr>
          <p:spPr>
            <a:xfrm>
              <a:off x="0" y="0"/>
              <a:ext cx="1093597" cy="1093597"/>
            </a:xfrm>
            <a:custGeom>
              <a:avLst/>
              <a:gdLst/>
              <a:ahLst/>
              <a:cxnLst/>
              <a:rect l="l" t="t" r="r" b="b"/>
              <a:pathLst>
                <a:path w="1093597" h="1093597">
                  <a:moveTo>
                    <a:pt x="0" y="546735"/>
                  </a:moveTo>
                  <a:cubicBezTo>
                    <a:pt x="0" y="244856"/>
                    <a:pt x="244856" y="0"/>
                    <a:pt x="546735" y="0"/>
                  </a:cubicBezTo>
                  <a:cubicBezTo>
                    <a:pt x="548640" y="0"/>
                    <a:pt x="550545" y="889"/>
                    <a:pt x="551688" y="2413"/>
                  </a:cubicBezTo>
                  <a:lnTo>
                    <a:pt x="546735" y="6350"/>
                  </a:lnTo>
                  <a:lnTo>
                    <a:pt x="546735" y="0"/>
                  </a:lnTo>
                  <a:lnTo>
                    <a:pt x="546735" y="6350"/>
                  </a:lnTo>
                  <a:lnTo>
                    <a:pt x="546735" y="0"/>
                  </a:lnTo>
                  <a:cubicBezTo>
                    <a:pt x="848741" y="0"/>
                    <a:pt x="1093597" y="244856"/>
                    <a:pt x="1093597" y="546735"/>
                  </a:cubicBezTo>
                  <a:cubicBezTo>
                    <a:pt x="1093597" y="549148"/>
                    <a:pt x="1092200" y="551307"/>
                    <a:pt x="1090041" y="552450"/>
                  </a:cubicBezTo>
                  <a:lnTo>
                    <a:pt x="1087247" y="546735"/>
                  </a:lnTo>
                  <a:lnTo>
                    <a:pt x="1093597" y="546735"/>
                  </a:lnTo>
                  <a:cubicBezTo>
                    <a:pt x="1093597" y="848741"/>
                    <a:pt x="848741" y="1093470"/>
                    <a:pt x="546862" y="1093470"/>
                  </a:cubicBezTo>
                  <a:lnTo>
                    <a:pt x="546862" y="1087120"/>
                  </a:lnTo>
                  <a:lnTo>
                    <a:pt x="546862" y="1080770"/>
                  </a:lnTo>
                  <a:lnTo>
                    <a:pt x="546862" y="1087120"/>
                  </a:lnTo>
                  <a:lnTo>
                    <a:pt x="546862" y="1093470"/>
                  </a:lnTo>
                  <a:cubicBezTo>
                    <a:pt x="244856" y="1093597"/>
                    <a:pt x="0" y="848741"/>
                    <a:pt x="0" y="546735"/>
                  </a:cubicBezTo>
                  <a:lnTo>
                    <a:pt x="6350" y="546735"/>
                  </a:lnTo>
                  <a:lnTo>
                    <a:pt x="0" y="546735"/>
                  </a:lnTo>
                  <a:moveTo>
                    <a:pt x="12700" y="546735"/>
                  </a:moveTo>
                  <a:lnTo>
                    <a:pt x="6350" y="546735"/>
                  </a:lnTo>
                  <a:lnTo>
                    <a:pt x="12700" y="546735"/>
                  </a:lnTo>
                  <a:cubicBezTo>
                    <a:pt x="12700" y="841756"/>
                    <a:pt x="251841" y="1080897"/>
                    <a:pt x="546735" y="1080897"/>
                  </a:cubicBezTo>
                  <a:cubicBezTo>
                    <a:pt x="550291" y="1080897"/>
                    <a:pt x="553085" y="1083691"/>
                    <a:pt x="553085" y="1087247"/>
                  </a:cubicBezTo>
                  <a:cubicBezTo>
                    <a:pt x="553085" y="1090803"/>
                    <a:pt x="550291" y="1093597"/>
                    <a:pt x="546735" y="1093597"/>
                  </a:cubicBezTo>
                  <a:cubicBezTo>
                    <a:pt x="543179" y="1093597"/>
                    <a:pt x="540385" y="1090803"/>
                    <a:pt x="540385" y="1087247"/>
                  </a:cubicBezTo>
                  <a:cubicBezTo>
                    <a:pt x="540385" y="1083691"/>
                    <a:pt x="543179" y="1080897"/>
                    <a:pt x="546735" y="1080897"/>
                  </a:cubicBezTo>
                  <a:cubicBezTo>
                    <a:pt x="841756" y="1080897"/>
                    <a:pt x="1080770" y="841756"/>
                    <a:pt x="1080770" y="546862"/>
                  </a:cubicBezTo>
                  <a:cubicBezTo>
                    <a:pt x="1080770" y="544449"/>
                    <a:pt x="1082167" y="542290"/>
                    <a:pt x="1084326" y="541147"/>
                  </a:cubicBezTo>
                  <a:lnTo>
                    <a:pt x="1087120" y="546862"/>
                  </a:lnTo>
                  <a:lnTo>
                    <a:pt x="1080770" y="546862"/>
                  </a:lnTo>
                  <a:cubicBezTo>
                    <a:pt x="1080897" y="251841"/>
                    <a:pt x="841756" y="12700"/>
                    <a:pt x="546735" y="12700"/>
                  </a:cubicBezTo>
                  <a:cubicBezTo>
                    <a:pt x="544830" y="12700"/>
                    <a:pt x="542925" y="11811"/>
                    <a:pt x="541782" y="10287"/>
                  </a:cubicBezTo>
                  <a:lnTo>
                    <a:pt x="546735" y="6350"/>
                  </a:lnTo>
                  <a:lnTo>
                    <a:pt x="546735" y="12700"/>
                  </a:lnTo>
                  <a:cubicBezTo>
                    <a:pt x="251841" y="12700"/>
                    <a:pt x="12700" y="251841"/>
                    <a:pt x="12700" y="546735"/>
                  </a:cubicBezTo>
                  <a:close/>
                </a:path>
              </a:pathLst>
            </a:custGeom>
            <a:solidFill>
              <a:srgbClr val="56565B"/>
            </a:solidFill>
          </p:spPr>
        </p:sp>
      </p:grpSp>
      <p:grpSp>
        <p:nvGrpSpPr>
          <p:cNvPr id="25" name="Group 25"/>
          <p:cNvGrpSpPr>
            <a:grpSpLocks noChangeAspect="1"/>
          </p:cNvGrpSpPr>
          <p:nvPr/>
        </p:nvGrpSpPr>
        <p:grpSpPr>
          <a:xfrm>
            <a:off x="785142" y="3157068"/>
            <a:ext cx="224311" cy="280410"/>
            <a:chOff x="0" y="0"/>
            <a:chExt cx="540345" cy="675482"/>
          </a:xfrm>
        </p:grpSpPr>
        <p:sp>
          <p:nvSpPr>
            <p:cNvPr id="26" name="Freeform 26" descr="preencoded.png"/>
            <p:cNvSpPr/>
            <p:nvPr/>
          </p:nvSpPr>
          <p:spPr>
            <a:xfrm>
              <a:off x="0" y="0"/>
              <a:ext cx="540385" cy="675513"/>
            </a:xfrm>
            <a:custGeom>
              <a:avLst/>
              <a:gdLst/>
              <a:ahLst/>
              <a:cxnLst/>
              <a:rect l="l" t="t" r="r" b="b"/>
              <a:pathLst>
                <a:path w="540385" h="675513">
                  <a:moveTo>
                    <a:pt x="0" y="0"/>
                  </a:moveTo>
                  <a:lnTo>
                    <a:pt x="540385" y="0"/>
                  </a:lnTo>
                  <a:lnTo>
                    <a:pt x="540385" y="675513"/>
                  </a:lnTo>
                  <a:lnTo>
                    <a:pt x="0" y="675513"/>
                  </a:lnTo>
                  <a:lnTo>
                    <a:pt x="0" y="0"/>
                  </a:lnTo>
                  <a:close/>
                </a:path>
              </a:pathLst>
            </a:custGeom>
            <a:blipFill>
              <a:blip r:embed="rId3"/>
              <a:stretch>
                <a:fillRect l="-711" r="-703" b="4"/>
              </a:stretch>
            </a:blipFill>
          </p:spPr>
        </p:sp>
      </p:grpSp>
      <p:sp>
        <p:nvSpPr>
          <p:cNvPr id="27" name="TextBox 27"/>
          <p:cNvSpPr txBox="1"/>
          <p:nvPr/>
        </p:nvSpPr>
        <p:spPr>
          <a:xfrm>
            <a:off x="822459" y="3671139"/>
            <a:ext cx="1869865" cy="212787"/>
          </a:xfrm>
          <a:prstGeom prst="rect">
            <a:avLst/>
          </a:prstGeom>
        </p:spPr>
        <p:txBody>
          <a:bodyPr lIns="0" tIns="0" rIns="0" bIns="0" rtlCol="0" anchor="t">
            <a:spAutoFit/>
          </a:bodyPr>
          <a:lstStyle/>
          <a:p>
            <a:pPr algn="l">
              <a:lnSpc>
                <a:spcPts val="1833"/>
              </a:lnSpc>
            </a:pPr>
            <a:r>
              <a:rPr lang="en-US" sz="1452">
                <a:solidFill>
                  <a:srgbClr val="000000"/>
                </a:solidFill>
                <a:latin typeface="Hammersmith One"/>
                <a:ea typeface="Hammersmith One"/>
                <a:cs typeface="Hammersmith One"/>
                <a:sym typeface="Hammersmith One"/>
              </a:rPr>
              <a:t>Technical Acumen</a:t>
            </a:r>
          </a:p>
        </p:txBody>
      </p:sp>
      <p:sp>
        <p:nvSpPr>
          <p:cNvPr id="28" name="TextBox 28"/>
          <p:cNvSpPr txBox="1"/>
          <p:nvPr/>
        </p:nvSpPr>
        <p:spPr>
          <a:xfrm>
            <a:off x="822459" y="3981616"/>
            <a:ext cx="4163887" cy="447210"/>
          </a:xfrm>
          <a:prstGeom prst="rect">
            <a:avLst/>
          </a:prstGeom>
        </p:spPr>
        <p:txBody>
          <a:bodyPr lIns="0" tIns="0" rIns="0" bIns="0" rtlCol="0" anchor="t">
            <a:spAutoFit/>
          </a:bodyPr>
          <a:lstStyle/>
          <a:p>
            <a:pPr algn="l">
              <a:lnSpc>
                <a:spcPts val="1868"/>
              </a:lnSpc>
            </a:pPr>
            <a:r>
              <a:rPr lang="en-US" sz="1176">
                <a:solidFill>
                  <a:srgbClr val="000000"/>
                </a:solidFill>
                <a:latin typeface="Hammersmith One"/>
                <a:ea typeface="Hammersmith One"/>
                <a:cs typeface="Hammersmith One"/>
                <a:sym typeface="Hammersmith One"/>
              </a:rPr>
              <a:t>Mastered new frameworks like React, Node and adopted clean coding standards.</a:t>
            </a:r>
          </a:p>
        </p:txBody>
      </p:sp>
      <p:grpSp>
        <p:nvGrpSpPr>
          <p:cNvPr id="29" name="Group 29"/>
          <p:cNvGrpSpPr/>
          <p:nvPr/>
        </p:nvGrpSpPr>
        <p:grpSpPr>
          <a:xfrm>
            <a:off x="5509725" y="3219881"/>
            <a:ext cx="4243875" cy="154785"/>
            <a:chOff x="0" y="0"/>
            <a:chExt cx="10223103" cy="372863"/>
          </a:xfrm>
        </p:grpSpPr>
        <p:sp>
          <p:nvSpPr>
            <p:cNvPr id="30" name="Freeform 30"/>
            <p:cNvSpPr/>
            <p:nvPr/>
          </p:nvSpPr>
          <p:spPr>
            <a:xfrm>
              <a:off x="6350" y="6350"/>
              <a:ext cx="10210419" cy="360172"/>
            </a:xfrm>
            <a:custGeom>
              <a:avLst/>
              <a:gdLst/>
              <a:ahLst/>
              <a:cxnLst/>
              <a:rect l="l" t="t" r="r" b="b"/>
              <a:pathLst>
                <a:path w="10210419" h="360172">
                  <a:moveTo>
                    <a:pt x="0" y="151384"/>
                  </a:moveTo>
                  <a:cubicBezTo>
                    <a:pt x="0" y="67818"/>
                    <a:pt x="70104" y="0"/>
                    <a:pt x="156464" y="0"/>
                  </a:cubicBezTo>
                  <a:lnTo>
                    <a:pt x="10053955" y="0"/>
                  </a:lnTo>
                  <a:cubicBezTo>
                    <a:pt x="10140442" y="0"/>
                    <a:pt x="10210419" y="67818"/>
                    <a:pt x="10210419" y="151384"/>
                  </a:cubicBezTo>
                  <a:lnTo>
                    <a:pt x="10210419" y="208788"/>
                  </a:lnTo>
                  <a:cubicBezTo>
                    <a:pt x="10210419" y="292354"/>
                    <a:pt x="10140315" y="360172"/>
                    <a:pt x="10053955" y="360172"/>
                  </a:cubicBezTo>
                  <a:lnTo>
                    <a:pt x="156464" y="360172"/>
                  </a:lnTo>
                  <a:cubicBezTo>
                    <a:pt x="70104" y="360172"/>
                    <a:pt x="0" y="292354"/>
                    <a:pt x="0" y="208788"/>
                  </a:cubicBezTo>
                  <a:close/>
                </a:path>
              </a:pathLst>
            </a:custGeom>
            <a:solidFill>
              <a:srgbClr val="3D3D42"/>
            </a:solidFill>
          </p:spPr>
        </p:sp>
        <p:sp>
          <p:nvSpPr>
            <p:cNvPr id="31" name="Freeform 31"/>
            <p:cNvSpPr/>
            <p:nvPr/>
          </p:nvSpPr>
          <p:spPr>
            <a:xfrm>
              <a:off x="0" y="0"/>
              <a:ext cx="10223119" cy="372872"/>
            </a:xfrm>
            <a:custGeom>
              <a:avLst/>
              <a:gdLst/>
              <a:ahLst/>
              <a:cxnLst/>
              <a:rect l="l" t="t" r="r" b="b"/>
              <a:pathLst>
                <a:path w="10223119" h="372872">
                  <a:moveTo>
                    <a:pt x="0" y="157734"/>
                  </a:moveTo>
                  <a:cubicBezTo>
                    <a:pt x="0" y="70358"/>
                    <a:pt x="73152" y="0"/>
                    <a:pt x="162814" y="0"/>
                  </a:cubicBezTo>
                  <a:lnTo>
                    <a:pt x="10060305" y="0"/>
                  </a:lnTo>
                  <a:lnTo>
                    <a:pt x="10060305" y="6350"/>
                  </a:lnTo>
                  <a:lnTo>
                    <a:pt x="10060305" y="0"/>
                  </a:lnTo>
                  <a:cubicBezTo>
                    <a:pt x="10150094" y="0"/>
                    <a:pt x="10223119" y="70358"/>
                    <a:pt x="10223119" y="157734"/>
                  </a:cubicBezTo>
                  <a:lnTo>
                    <a:pt x="10216769" y="157734"/>
                  </a:lnTo>
                  <a:lnTo>
                    <a:pt x="10223119" y="157734"/>
                  </a:lnTo>
                  <a:lnTo>
                    <a:pt x="10223119" y="215138"/>
                  </a:lnTo>
                  <a:lnTo>
                    <a:pt x="10216769" y="215138"/>
                  </a:lnTo>
                  <a:lnTo>
                    <a:pt x="10223119" y="215138"/>
                  </a:lnTo>
                  <a:cubicBezTo>
                    <a:pt x="10223119" y="302387"/>
                    <a:pt x="10149967" y="372872"/>
                    <a:pt x="10060305" y="372872"/>
                  </a:cubicBezTo>
                  <a:lnTo>
                    <a:pt x="10060305" y="366522"/>
                  </a:lnTo>
                  <a:lnTo>
                    <a:pt x="10060305" y="372872"/>
                  </a:lnTo>
                  <a:lnTo>
                    <a:pt x="162814" y="372872"/>
                  </a:lnTo>
                  <a:lnTo>
                    <a:pt x="162814" y="366522"/>
                  </a:lnTo>
                  <a:lnTo>
                    <a:pt x="162814" y="372872"/>
                  </a:lnTo>
                  <a:cubicBezTo>
                    <a:pt x="73152" y="372872"/>
                    <a:pt x="0" y="302514"/>
                    <a:pt x="0" y="215138"/>
                  </a:cubicBezTo>
                  <a:lnTo>
                    <a:pt x="0" y="157734"/>
                  </a:lnTo>
                  <a:lnTo>
                    <a:pt x="6350" y="157734"/>
                  </a:lnTo>
                  <a:lnTo>
                    <a:pt x="0" y="157734"/>
                  </a:lnTo>
                  <a:moveTo>
                    <a:pt x="12700" y="157734"/>
                  </a:moveTo>
                  <a:lnTo>
                    <a:pt x="12700" y="215138"/>
                  </a:lnTo>
                  <a:lnTo>
                    <a:pt x="6350" y="215138"/>
                  </a:lnTo>
                  <a:lnTo>
                    <a:pt x="12700" y="215138"/>
                  </a:lnTo>
                  <a:cubicBezTo>
                    <a:pt x="12700" y="295021"/>
                    <a:pt x="79756" y="360172"/>
                    <a:pt x="162814" y="360172"/>
                  </a:cubicBezTo>
                  <a:lnTo>
                    <a:pt x="10060305" y="360172"/>
                  </a:lnTo>
                  <a:cubicBezTo>
                    <a:pt x="10143490" y="360172"/>
                    <a:pt x="10210419" y="295021"/>
                    <a:pt x="10210419" y="215138"/>
                  </a:cubicBezTo>
                  <a:lnTo>
                    <a:pt x="10210419" y="157734"/>
                  </a:lnTo>
                  <a:cubicBezTo>
                    <a:pt x="10210419" y="77851"/>
                    <a:pt x="10143363" y="12700"/>
                    <a:pt x="10060305" y="12700"/>
                  </a:cubicBezTo>
                  <a:lnTo>
                    <a:pt x="162814" y="12700"/>
                  </a:lnTo>
                  <a:lnTo>
                    <a:pt x="162814" y="6350"/>
                  </a:lnTo>
                  <a:lnTo>
                    <a:pt x="162814" y="12700"/>
                  </a:lnTo>
                  <a:cubicBezTo>
                    <a:pt x="79756" y="12700"/>
                    <a:pt x="12700" y="77851"/>
                    <a:pt x="12700" y="157734"/>
                  </a:cubicBezTo>
                  <a:close/>
                </a:path>
              </a:pathLst>
            </a:custGeom>
            <a:solidFill>
              <a:srgbClr val="56565B"/>
            </a:solidFill>
          </p:spPr>
        </p:sp>
      </p:grpSp>
      <p:grpSp>
        <p:nvGrpSpPr>
          <p:cNvPr id="32" name="Group 32"/>
          <p:cNvGrpSpPr/>
          <p:nvPr/>
        </p:nvGrpSpPr>
        <p:grpSpPr>
          <a:xfrm>
            <a:off x="5282737" y="3032062"/>
            <a:ext cx="453977" cy="453977"/>
            <a:chOff x="0" y="0"/>
            <a:chExt cx="1093588" cy="1093588"/>
          </a:xfrm>
        </p:grpSpPr>
        <p:sp>
          <p:nvSpPr>
            <p:cNvPr id="33" name="Freeform 33"/>
            <p:cNvSpPr/>
            <p:nvPr/>
          </p:nvSpPr>
          <p:spPr>
            <a:xfrm>
              <a:off x="6350" y="6350"/>
              <a:ext cx="1080897" cy="1080897"/>
            </a:xfrm>
            <a:custGeom>
              <a:avLst/>
              <a:gdLst/>
              <a:ahLst/>
              <a:cxnLst/>
              <a:rect l="l" t="t" r="r" b="b"/>
              <a:pathLst>
                <a:path w="1080897" h="1080897">
                  <a:moveTo>
                    <a:pt x="0" y="540385"/>
                  </a:moveTo>
                  <a:cubicBezTo>
                    <a:pt x="0" y="241935"/>
                    <a:pt x="241935" y="0"/>
                    <a:pt x="540385" y="0"/>
                  </a:cubicBezTo>
                  <a:cubicBezTo>
                    <a:pt x="838835" y="0"/>
                    <a:pt x="1080897" y="241935"/>
                    <a:pt x="1080897" y="540385"/>
                  </a:cubicBezTo>
                  <a:cubicBezTo>
                    <a:pt x="1080897" y="838835"/>
                    <a:pt x="838962" y="1080897"/>
                    <a:pt x="540385" y="1080897"/>
                  </a:cubicBezTo>
                  <a:cubicBezTo>
                    <a:pt x="241808" y="1080897"/>
                    <a:pt x="0" y="838962"/>
                    <a:pt x="0" y="540385"/>
                  </a:cubicBezTo>
                  <a:close/>
                </a:path>
              </a:pathLst>
            </a:custGeom>
            <a:solidFill>
              <a:srgbClr val="3D3D42"/>
            </a:solidFill>
          </p:spPr>
        </p:sp>
        <p:sp>
          <p:nvSpPr>
            <p:cNvPr id="34" name="Freeform 34"/>
            <p:cNvSpPr/>
            <p:nvPr/>
          </p:nvSpPr>
          <p:spPr>
            <a:xfrm>
              <a:off x="0" y="0"/>
              <a:ext cx="1093597" cy="1093597"/>
            </a:xfrm>
            <a:custGeom>
              <a:avLst/>
              <a:gdLst/>
              <a:ahLst/>
              <a:cxnLst/>
              <a:rect l="l" t="t" r="r" b="b"/>
              <a:pathLst>
                <a:path w="1093597" h="1093597">
                  <a:moveTo>
                    <a:pt x="0" y="546735"/>
                  </a:moveTo>
                  <a:cubicBezTo>
                    <a:pt x="0" y="244856"/>
                    <a:pt x="244856" y="0"/>
                    <a:pt x="546735" y="0"/>
                  </a:cubicBezTo>
                  <a:cubicBezTo>
                    <a:pt x="548640" y="0"/>
                    <a:pt x="550545" y="889"/>
                    <a:pt x="551688" y="2413"/>
                  </a:cubicBezTo>
                  <a:lnTo>
                    <a:pt x="546735" y="6350"/>
                  </a:lnTo>
                  <a:lnTo>
                    <a:pt x="546735" y="0"/>
                  </a:lnTo>
                  <a:lnTo>
                    <a:pt x="546735" y="6350"/>
                  </a:lnTo>
                  <a:lnTo>
                    <a:pt x="546735" y="0"/>
                  </a:lnTo>
                  <a:cubicBezTo>
                    <a:pt x="848741" y="0"/>
                    <a:pt x="1093597" y="244856"/>
                    <a:pt x="1093597" y="546735"/>
                  </a:cubicBezTo>
                  <a:cubicBezTo>
                    <a:pt x="1093597" y="549148"/>
                    <a:pt x="1092200" y="551307"/>
                    <a:pt x="1090041" y="552450"/>
                  </a:cubicBezTo>
                  <a:lnTo>
                    <a:pt x="1087247" y="546735"/>
                  </a:lnTo>
                  <a:lnTo>
                    <a:pt x="1093597" y="546735"/>
                  </a:lnTo>
                  <a:cubicBezTo>
                    <a:pt x="1093597" y="848741"/>
                    <a:pt x="848741" y="1093470"/>
                    <a:pt x="546862" y="1093470"/>
                  </a:cubicBezTo>
                  <a:lnTo>
                    <a:pt x="546862" y="1087120"/>
                  </a:lnTo>
                  <a:lnTo>
                    <a:pt x="546862" y="1080770"/>
                  </a:lnTo>
                  <a:lnTo>
                    <a:pt x="546862" y="1087120"/>
                  </a:lnTo>
                  <a:lnTo>
                    <a:pt x="546862" y="1093470"/>
                  </a:lnTo>
                  <a:cubicBezTo>
                    <a:pt x="244856" y="1093597"/>
                    <a:pt x="0" y="848741"/>
                    <a:pt x="0" y="546735"/>
                  </a:cubicBezTo>
                  <a:lnTo>
                    <a:pt x="6350" y="546735"/>
                  </a:lnTo>
                  <a:lnTo>
                    <a:pt x="0" y="546735"/>
                  </a:lnTo>
                  <a:moveTo>
                    <a:pt x="12700" y="546735"/>
                  </a:moveTo>
                  <a:lnTo>
                    <a:pt x="6350" y="546735"/>
                  </a:lnTo>
                  <a:lnTo>
                    <a:pt x="12700" y="546735"/>
                  </a:lnTo>
                  <a:cubicBezTo>
                    <a:pt x="12700" y="841756"/>
                    <a:pt x="251841" y="1080897"/>
                    <a:pt x="546735" y="1080897"/>
                  </a:cubicBezTo>
                  <a:cubicBezTo>
                    <a:pt x="550291" y="1080897"/>
                    <a:pt x="553085" y="1083691"/>
                    <a:pt x="553085" y="1087247"/>
                  </a:cubicBezTo>
                  <a:cubicBezTo>
                    <a:pt x="553085" y="1090803"/>
                    <a:pt x="550291" y="1093597"/>
                    <a:pt x="546735" y="1093597"/>
                  </a:cubicBezTo>
                  <a:cubicBezTo>
                    <a:pt x="543179" y="1093597"/>
                    <a:pt x="540385" y="1090803"/>
                    <a:pt x="540385" y="1087247"/>
                  </a:cubicBezTo>
                  <a:cubicBezTo>
                    <a:pt x="540385" y="1083691"/>
                    <a:pt x="543179" y="1080897"/>
                    <a:pt x="546735" y="1080897"/>
                  </a:cubicBezTo>
                  <a:cubicBezTo>
                    <a:pt x="841756" y="1080897"/>
                    <a:pt x="1080770" y="841756"/>
                    <a:pt x="1080770" y="546862"/>
                  </a:cubicBezTo>
                  <a:cubicBezTo>
                    <a:pt x="1080770" y="544449"/>
                    <a:pt x="1082167" y="542290"/>
                    <a:pt x="1084326" y="541147"/>
                  </a:cubicBezTo>
                  <a:lnTo>
                    <a:pt x="1087120" y="546862"/>
                  </a:lnTo>
                  <a:lnTo>
                    <a:pt x="1080770" y="546862"/>
                  </a:lnTo>
                  <a:cubicBezTo>
                    <a:pt x="1080897" y="251841"/>
                    <a:pt x="841756" y="12700"/>
                    <a:pt x="546735" y="12700"/>
                  </a:cubicBezTo>
                  <a:cubicBezTo>
                    <a:pt x="544830" y="12700"/>
                    <a:pt x="542925" y="11811"/>
                    <a:pt x="541782" y="10287"/>
                  </a:cubicBezTo>
                  <a:lnTo>
                    <a:pt x="546735" y="6350"/>
                  </a:lnTo>
                  <a:lnTo>
                    <a:pt x="546735" y="12700"/>
                  </a:lnTo>
                  <a:cubicBezTo>
                    <a:pt x="251841" y="12700"/>
                    <a:pt x="12700" y="251841"/>
                    <a:pt x="12700" y="546735"/>
                  </a:cubicBezTo>
                  <a:close/>
                </a:path>
              </a:pathLst>
            </a:custGeom>
            <a:solidFill>
              <a:srgbClr val="56565B"/>
            </a:solidFill>
          </p:spPr>
        </p:sp>
      </p:grpSp>
      <p:grpSp>
        <p:nvGrpSpPr>
          <p:cNvPr id="35" name="Group 35"/>
          <p:cNvGrpSpPr>
            <a:grpSpLocks noChangeAspect="1"/>
          </p:cNvGrpSpPr>
          <p:nvPr/>
        </p:nvGrpSpPr>
        <p:grpSpPr>
          <a:xfrm>
            <a:off x="5397569" y="3095492"/>
            <a:ext cx="224311" cy="280410"/>
            <a:chOff x="0" y="0"/>
            <a:chExt cx="540345" cy="675482"/>
          </a:xfrm>
        </p:grpSpPr>
        <p:sp>
          <p:nvSpPr>
            <p:cNvPr id="36" name="Freeform 36" descr="preencoded.png"/>
            <p:cNvSpPr/>
            <p:nvPr/>
          </p:nvSpPr>
          <p:spPr>
            <a:xfrm>
              <a:off x="0" y="0"/>
              <a:ext cx="540385" cy="675513"/>
            </a:xfrm>
            <a:custGeom>
              <a:avLst/>
              <a:gdLst/>
              <a:ahLst/>
              <a:cxnLst/>
              <a:rect l="l" t="t" r="r" b="b"/>
              <a:pathLst>
                <a:path w="540385" h="675513">
                  <a:moveTo>
                    <a:pt x="0" y="0"/>
                  </a:moveTo>
                  <a:lnTo>
                    <a:pt x="540385" y="0"/>
                  </a:lnTo>
                  <a:lnTo>
                    <a:pt x="540385" y="675513"/>
                  </a:lnTo>
                  <a:lnTo>
                    <a:pt x="0" y="675513"/>
                  </a:lnTo>
                  <a:lnTo>
                    <a:pt x="0" y="0"/>
                  </a:lnTo>
                  <a:close/>
                </a:path>
              </a:pathLst>
            </a:custGeom>
            <a:blipFill>
              <a:blip r:embed="rId4"/>
              <a:stretch>
                <a:fillRect l="-711" r="-703" b="4"/>
              </a:stretch>
            </a:blipFill>
          </p:spPr>
        </p:sp>
      </p:grpSp>
      <p:sp>
        <p:nvSpPr>
          <p:cNvPr id="37" name="TextBox 37"/>
          <p:cNvSpPr txBox="1"/>
          <p:nvPr/>
        </p:nvSpPr>
        <p:spPr>
          <a:xfrm>
            <a:off x="5434886" y="3671139"/>
            <a:ext cx="2437934" cy="212787"/>
          </a:xfrm>
          <a:prstGeom prst="rect">
            <a:avLst/>
          </a:prstGeom>
        </p:spPr>
        <p:txBody>
          <a:bodyPr lIns="0" tIns="0" rIns="0" bIns="0" rtlCol="0" anchor="t">
            <a:spAutoFit/>
          </a:bodyPr>
          <a:lstStyle/>
          <a:p>
            <a:pPr algn="l">
              <a:lnSpc>
                <a:spcPts val="1833"/>
              </a:lnSpc>
            </a:pPr>
            <a:r>
              <a:rPr lang="en-US" sz="1452">
                <a:solidFill>
                  <a:srgbClr val="000000"/>
                </a:solidFill>
                <a:latin typeface="Hammersmith One"/>
                <a:ea typeface="Hammersmith One"/>
                <a:cs typeface="Hammersmith One"/>
                <a:sym typeface="Hammersmith One"/>
              </a:rPr>
              <a:t>Refined Debugging Skills</a:t>
            </a:r>
          </a:p>
        </p:txBody>
      </p:sp>
      <p:sp>
        <p:nvSpPr>
          <p:cNvPr id="38" name="TextBox 38"/>
          <p:cNvSpPr txBox="1"/>
          <p:nvPr/>
        </p:nvSpPr>
        <p:spPr>
          <a:xfrm>
            <a:off x="5464539" y="4017944"/>
            <a:ext cx="4163969" cy="447210"/>
          </a:xfrm>
          <a:prstGeom prst="rect">
            <a:avLst/>
          </a:prstGeom>
        </p:spPr>
        <p:txBody>
          <a:bodyPr lIns="0" tIns="0" rIns="0" bIns="0" rtlCol="0" anchor="t">
            <a:spAutoFit/>
          </a:bodyPr>
          <a:lstStyle/>
          <a:p>
            <a:pPr algn="l">
              <a:lnSpc>
                <a:spcPts val="1868"/>
              </a:lnSpc>
            </a:pPr>
            <a:r>
              <a:rPr lang="en-US" sz="1176">
                <a:solidFill>
                  <a:srgbClr val="000000"/>
                </a:solidFill>
                <a:latin typeface="Hammersmith One"/>
                <a:ea typeface="Hammersmith One"/>
                <a:cs typeface="Hammersmith One"/>
                <a:sym typeface="Hammersmith One"/>
              </a:rPr>
              <a:t>Proficiently used developer tools to diagnose and fix complex issues.</a:t>
            </a:r>
          </a:p>
        </p:txBody>
      </p:sp>
      <p:grpSp>
        <p:nvGrpSpPr>
          <p:cNvPr id="39" name="Group 39"/>
          <p:cNvGrpSpPr/>
          <p:nvPr/>
        </p:nvGrpSpPr>
        <p:grpSpPr>
          <a:xfrm>
            <a:off x="894620" y="4969126"/>
            <a:ext cx="4243793" cy="154785"/>
            <a:chOff x="0" y="0"/>
            <a:chExt cx="10222905" cy="372863"/>
          </a:xfrm>
        </p:grpSpPr>
        <p:sp>
          <p:nvSpPr>
            <p:cNvPr id="40" name="Freeform 40"/>
            <p:cNvSpPr/>
            <p:nvPr/>
          </p:nvSpPr>
          <p:spPr>
            <a:xfrm>
              <a:off x="6350" y="6350"/>
              <a:ext cx="10210165" cy="360172"/>
            </a:xfrm>
            <a:custGeom>
              <a:avLst/>
              <a:gdLst/>
              <a:ahLst/>
              <a:cxnLst/>
              <a:rect l="l" t="t" r="r" b="b"/>
              <a:pathLst>
                <a:path w="10210165" h="360172">
                  <a:moveTo>
                    <a:pt x="0" y="151384"/>
                  </a:moveTo>
                  <a:cubicBezTo>
                    <a:pt x="0" y="67818"/>
                    <a:pt x="70104" y="0"/>
                    <a:pt x="156464" y="0"/>
                  </a:cubicBezTo>
                  <a:lnTo>
                    <a:pt x="10053701" y="0"/>
                  </a:lnTo>
                  <a:cubicBezTo>
                    <a:pt x="10140188" y="0"/>
                    <a:pt x="10210165" y="67818"/>
                    <a:pt x="10210165" y="151384"/>
                  </a:cubicBezTo>
                  <a:lnTo>
                    <a:pt x="10210165" y="208788"/>
                  </a:lnTo>
                  <a:cubicBezTo>
                    <a:pt x="10210165" y="292354"/>
                    <a:pt x="10140061" y="360172"/>
                    <a:pt x="10053701" y="360172"/>
                  </a:cubicBezTo>
                  <a:lnTo>
                    <a:pt x="156464" y="360172"/>
                  </a:lnTo>
                  <a:cubicBezTo>
                    <a:pt x="70104" y="360172"/>
                    <a:pt x="0" y="292354"/>
                    <a:pt x="0" y="208788"/>
                  </a:cubicBezTo>
                  <a:close/>
                </a:path>
              </a:pathLst>
            </a:custGeom>
            <a:solidFill>
              <a:srgbClr val="3D3D42"/>
            </a:solidFill>
          </p:spPr>
        </p:sp>
        <p:sp>
          <p:nvSpPr>
            <p:cNvPr id="41" name="Freeform 41"/>
            <p:cNvSpPr/>
            <p:nvPr/>
          </p:nvSpPr>
          <p:spPr>
            <a:xfrm>
              <a:off x="0" y="0"/>
              <a:ext cx="10222865" cy="372872"/>
            </a:xfrm>
            <a:custGeom>
              <a:avLst/>
              <a:gdLst/>
              <a:ahLst/>
              <a:cxnLst/>
              <a:rect l="l" t="t" r="r" b="b"/>
              <a:pathLst>
                <a:path w="10222865" h="372872">
                  <a:moveTo>
                    <a:pt x="0" y="157734"/>
                  </a:moveTo>
                  <a:cubicBezTo>
                    <a:pt x="0" y="70358"/>
                    <a:pt x="73152" y="0"/>
                    <a:pt x="162814" y="0"/>
                  </a:cubicBezTo>
                  <a:lnTo>
                    <a:pt x="10060051" y="0"/>
                  </a:lnTo>
                  <a:lnTo>
                    <a:pt x="10060051" y="6350"/>
                  </a:lnTo>
                  <a:lnTo>
                    <a:pt x="10060051" y="0"/>
                  </a:lnTo>
                  <a:cubicBezTo>
                    <a:pt x="10149840" y="0"/>
                    <a:pt x="10222865" y="70358"/>
                    <a:pt x="10222865" y="157734"/>
                  </a:cubicBezTo>
                  <a:lnTo>
                    <a:pt x="10216515" y="157734"/>
                  </a:lnTo>
                  <a:lnTo>
                    <a:pt x="10222865" y="157734"/>
                  </a:lnTo>
                  <a:lnTo>
                    <a:pt x="10222865" y="215138"/>
                  </a:lnTo>
                  <a:lnTo>
                    <a:pt x="10216515" y="215138"/>
                  </a:lnTo>
                  <a:lnTo>
                    <a:pt x="10222865" y="215138"/>
                  </a:lnTo>
                  <a:cubicBezTo>
                    <a:pt x="10222865" y="302387"/>
                    <a:pt x="10149713" y="372872"/>
                    <a:pt x="10060051" y="372872"/>
                  </a:cubicBezTo>
                  <a:lnTo>
                    <a:pt x="10060051" y="366522"/>
                  </a:lnTo>
                  <a:lnTo>
                    <a:pt x="10060051" y="372872"/>
                  </a:lnTo>
                  <a:lnTo>
                    <a:pt x="162814" y="372872"/>
                  </a:lnTo>
                  <a:lnTo>
                    <a:pt x="162814" y="366522"/>
                  </a:lnTo>
                  <a:lnTo>
                    <a:pt x="162814" y="372872"/>
                  </a:lnTo>
                  <a:cubicBezTo>
                    <a:pt x="73152" y="372872"/>
                    <a:pt x="0" y="302514"/>
                    <a:pt x="0" y="215138"/>
                  </a:cubicBezTo>
                  <a:lnTo>
                    <a:pt x="0" y="157734"/>
                  </a:lnTo>
                  <a:lnTo>
                    <a:pt x="6350" y="157734"/>
                  </a:lnTo>
                  <a:lnTo>
                    <a:pt x="0" y="157734"/>
                  </a:lnTo>
                  <a:moveTo>
                    <a:pt x="12700" y="157734"/>
                  </a:moveTo>
                  <a:lnTo>
                    <a:pt x="12700" y="215138"/>
                  </a:lnTo>
                  <a:lnTo>
                    <a:pt x="6350" y="215138"/>
                  </a:lnTo>
                  <a:lnTo>
                    <a:pt x="12700" y="215138"/>
                  </a:lnTo>
                  <a:cubicBezTo>
                    <a:pt x="12700" y="295021"/>
                    <a:pt x="79756" y="360172"/>
                    <a:pt x="162814" y="360172"/>
                  </a:cubicBezTo>
                  <a:lnTo>
                    <a:pt x="10060051" y="360172"/>
                  </a:lnTo>
                  <a:cubicBezTo>
                    <a:pt x="10143236" y="360172"/>
                    <a:pt x="10210165" y="295021"/>
                    <a:pt x="10210165" y="215138"/>
                  </a:cubicBezTo>
                  <a:lnTo>
                    <a:pt x="10210165" y="157734"/>
                  </a:lnTo>
                  <a:cubicBezTo>
                    <a:pt x="10210165" y="77851"/>
                    <a:pt x="10143236" y="12700"/>
                    <a:pt x="10060051" y="12700"/>
                  </a:cubicBezTo>
                  <a:lnTo>
                    <a:pt x="162814" y="12700"/>
                  </a:lnTo>
                  <a:lnTo>
                    <a:pt x="162814" y="6350"/>
                  </a:lnTo>
                  <a:lnTo>
                    <a:pt x="162814" y="12700"/>
                  </a:lnTo>
                  <a:cubicBezTo>
                    <a:pt x="79756" y="12700"/>
                    <a:pt x="12700" y="77851"/>
                    <a:pt x="12700" y="157734"/>
                  </a:cubicBezTo>
                  <a:close/>
                </a:path>
              </a:pathLst>
            </a:custGeom>
            <a:solidFill>
              <a:srgbClr val="56565B"/>
            </a:solidFill>
          </p:spPr>
        </p:sp>
      </p:grpSp>
      <p:grpSp>
        <p:nvGrpSpPr>
          <p:cNvPr id="42" name="Group 42"/>
          <p:cNvGrpSpPr/>
          <p:nvPr/>
        </p:nvGrpSpPr>
        <p:grpSpPr>
          <a:xfrm>
            <a:off x="672945" y="4819530"/>
            <a:ext cx="453977" cy="453977"/>
            <a:chOff x="0" y="0"/>
            <a:chExt cx="1093588" cy="1093588"/>
          </a:xfrm>
        </p:grpSpPr>
        <p:sp>
          <p:nvSpPr>
            <p:cNvPr id="43" name="Freeform 43"/>
            <p:cNvSpPr/>
            <p:nvPr/>
          </p:nvSpPr>
          <p:spPr>
            <a:xfrm>
              <a:off x="6350" y="6350"/>
              <a:ext cx="1080897" cy="1080897"/>
            </a:xfrm>
            <a:custGeom>
              <a:avLst/>
              <a:gdLst/>
              <a:ahLst/>
              <a:cxnLst/>
              <a:rect l="l" t="t" r="r" b="b"/>
              <a:pathLst>
                <a:path w="1080897" h="1080897">
                  <a:moveTo>
                    <a:pt x="0" y="540385"/>
                  </a:moveTo>
                  <a:cubicBezTo>
                    <a:pt x="0" y="241935"/>
                    <a:pt x="241935" y="0"/>
                    <a:pt x="540385" y="0"/>
                  </a:cubicBezTo>
                  <a:cubicBezTo>
                    <a:pt x="838835" y="0"/>
                    <a:pt x="1080897" y="241935"/>
                    <a:pt x="1080897" y="540385"/>
                  </a:cubicBezTo>
                  <a:cubicBezTo>
                    <a:pt x="1080897" y="838835"/>
                    <a:pt x="838962" y="1080897"/>
                    <a:pt x="540385" y="1080897"/>
                  </a:cubicBezTo>
                  <a:cubicBezTo>
                    <a:pt x="241808" y="1080897"/>
                    <a:pt x="0" y="838962"/>
                    <a:pt x="0" y="540385"/>
                  </a:cubicBezTo>
                  <a:close/>
                </a:path>
              </a:pathLst>
            </a:custGeom>
            <a:solidFill>
              <a:srgbClr val="3D3D42"/>
            </a:solidFill>
          </p:spPr>
        </p:sp>
        <p:sp>
          <p:nvSpPr>
            <p:cNvPr id="44" name="Freeform 44"/>
            <p:cNvSpPr/>
            <p:nvPr/>
          </p:nvSpPr>
          <p:spPr>
            <a:xfrm>
              <a:off x="0" y="0"/>
              <a:ext cx="1093597" cy="1093597"/>
            </a:xfrm>
            <a:custGeom>
              <a:avLst/>
              <a:gdLst/>
              <a:ahLst/>
              <a:cxnLst/>
              <a:rect l="l" t="t" r="r" b="b"/>
              <a:pathLst>
                <a:path w="1093597" h="1093597">
                  <a:moveTo>
                    <a:pt x="0" y="546735"/>
                  </a:moveTo>
                  <a:cubicBezTo>
                    <a:pt x="0" y="244856"/>
                    <a:pt x="244856" y="0"/>
                    <a:pt x="546735" y="0"/>
                  </a:cubicBezTo>
                  <a:cubicBezTo>
                    <a:pt x="548640" y="0"/>
                    <a:pt x="550545" y="889"/>
                    <a:pt x="551688" y="2413"/>
                  </a:cubicBezTo>
                  <a:lnTo>
                    <a:pt x="546735" y="6350"/>
                  </a:lnTo>
                  <a:lnTo>
                    <a:pt x="546735" y="0"/>
                  </a:lnTo>
                  <a:lnTo>
                    <a:pt x="546735" y="6350"/>
                  </a:lnTo>
                  <a:lnTo>
                    <a:pt x="546735" y="0"/>
                  </a:lnTo>
                  <a:cubicBezTo>
                    <a:pt x="848741" y="0"/>
                    <a:pt x="1093597" y="244856"/>
                    <a:pt x="1093597" y="546735"/>
                  </a:cubicBezTo>
                  <a:cubicBezTo>
                    <a:pt x="1093597" y="549148"/>
                    <a:pt x="1092200" y="551307"/>
                    <a:pt x="1090041" y="552450"/>
                  </a:cubicBezTo>
                  <a:lnTo>
                    <a:pt x="1087247" y="546735"/>
                  </a:lnTo>
                  <a:lnTo>
                    <a:pt x="1093597" y="546735"/>
                  </a:lnTo>
                  <a:cubicBezTo>
                    <a:pt x="1093597" y="848741"/>
                    <a:pt x="848741" y="1093470"/>
                    <a:pt x="546862" y="1093470"/>
                  </a:cubicBezTo>
                  <a:lnTo>
                    <a:pt x="546862" y="1087120"/>
                  </a:lnTo>
                  <a:lnTo>
                    <a:pt x="546862" y="1080770"/>
                  </a:lnTo>
                  <a:lnTo>
                    <a:pt x="546862" y="1087120"/>
                  </a:lnTo>
                  <a:lnTo>
                    <a:pt x="546862" y="1093470"/>
                  </a:lnTo>
                  <a:cubicBezTo>
                    <a:pt x="244856" y="1093597"/>
                    <a:pt x="0" y="848741"/>
                    <a:pt x="0" y="546735"/>
                  </a:cubicBezTo>
                  <a:lnTo>
                    <a:pt x="6350" y="546735"/>
                  </a:lnTo>
                  <a:lnTo>
                    <a:pt x="0" y="546735"/>
                  </a:lnTo>
                  <a:moveTo>
                    <a:pt x="12700" y="546735"/>
                  </a:moveTo>
                  <a:lnTo>
                    <a:pt x="6350" y="546735"/>
                  </a:lnTo>
                  <a:lnTo>
                    <a:pt x="12700" y="546735"/>
                  </a:lnTo>
                  <a:cubicBezTo>
                    <a:pt x="12700" y="841756"/>
                    <a:pt x="251841" y="1080897"/>
                    <a:pt x="546735" y="1080897"/>
                  </a:cubicBezTo>
                  <a:cubicBezTo>
                    <a:pt x="550291" y="1080897"/>
                    <a:pt x="553085" y="1083691"/>
                    <a:pt x="553085" y="1087247"/>
                  </a:cubicBezTo>
                  <a:cubicBezTo>
                    <a:pt x="553085" y="1090803"/>
                    <a:pt x="550291" y="1093597"/>
                    <a:pt x="546735" y="1093597"/>
                  </a:cubicBezTo>
                  <a:cubicBezTo>
                    <a:pt x="543179" y="1093597"/>
                    <a:pt x="540385" y="1090803"/>
                    <a:pt x="540385" y="1087247"/>
                  </a:cubicBezTo>
                  <a:cubicBezTo>
                    <a:pt x="540385" y="1083691"/>
                    <a:pt x="543179" y="1080897"/>
                    <a:pt x="546735" y="1080897"/>
                  </a:cubicBezTo>
                  <a:cubicBezTo>
                    <a:pt x="841756" y="1080897"/>
                    <a:pt x="1080770" y="841756"/>
                    <a:pt x="1080770" y="546862"/>
                  </a:cubicBezTo>
                  <a:cubicBezTo>
                    <a:pt x="1080770" y="544449"/>
                    <a:pt x="1082167" y="542290"/>
                    <a:pt x="1084326" y="541147"/>
                  </a:cubicBezTo>
                  <a:lnTo>
                    <a:pt x="1087120" y="546862"/>
                  </a:lnTo>
                  <a:lnTo>
                    <a:pt x="1080770" y="546862"/>
                  </a:lnTo>
                  <a:cubicBezTo>
                    <a:pt x="1080897" y="251841"/>
                    <a:pt x="841756" y="12700"/>
                    <a:pt x="546735" y="12700"/>
                  </a:cubicBezTo>
                  <a:cubicBezTo>
                    <a:pt x="544830" y="12700"/>
                    <a:pt x="542925" y="11811"/>
                    <a:pt x="541782" y="10287"/>
                  </a:cubicBezTo>
                  <a:lnTo>
                    <a:pt x="546735" y="6350"/>
                  </a:lnTo>
                  <a:lnTo>
                    <a:pt x="546735" y="12700"/>
                  </a:lnTo>
                  <a:cubicBezTo>
                    <a:pt x="251841" y="12700"/>
                    <a:pt x="12700" y="251841"/>
                    <a:pt x="12700" y="546735"/>
                  </a:cubicBezTo>
                  <a:close/>
                </a:path>
              </a:pathLst>
            </a:custGeom>
            <a:solidFill>
              <a:srgbClr val="56565B"/>
            </a:solidFill>
          </p:spPr>
        </p:sp>
      </p:grpSp>
      <p:grpSp>
        <p:nvGrpSpPr>
          <p:cNvPr id="45" name="Group 45"/>
          <p:cNvGrpSpPr>
            <a:grpSpLocks noChangeAspect="1"/>
          </p:cNvGrpSpPr>
          <p:nvPr/>
        </p:nvGrpSpPr>
        <p:grpSpPr>
          <a:xfrm>
            <a:off x="785142" y="4933724"/>
            <a:ext cx="224311" cy="280410"/>
            <a:chOff x="0" y="0"/>
            <a:chExt cx="540345" cy="675482"/>
          </a:xfrm>
        </p:grpSpPr>
        <p:sp>
          <p:nvSpPr>
            <p:cNvPr id="46" name="Freeform 46" descr="preencoded.png"/>
            <p:cNvSpPr/>
            <p:nvPr/>
          </p:nvSpPr>
          <p:spPr>
            <a:xfrm>
              <a:off x="0" y="0"/>
              <a:ext cx="540385" cy="675513"/>
            </a:xfrm>
            <a:custGeom>
              <a:avLst/>
              <a:gdLst/>
              <a:ahLst/>
              <a:cxnLst/>
              <a:rect l="l" t="t" r="r" b="b"/>
              <a:pathLst>
                <a:path w="540385" h="675513">
                  <a:moveTo>
                    <a:pt x="0" y="0"/>
                  </a:moveTo>
                  <a:lnTo>
                    <a:pt x="540385" y="0"/>
                  </a:lnTo>
                  <a:lnTo>
                    <a:pt x="540385" y="675513"/>
                  </a:lnTo>
                  <a:lnTo>
                    <a:pt x="0" y="675513"/>
                  </a:lnTo>
                  <a:lnTo>
                    <a:pt x="0" y="0"/>
                  </a:lnTo>
                  <a:close/>
                </a:path>
              </a:pathLst>
            </a:custGeom>
            <a:blipFill>
              <a:blip r:embed="rId5"/>
              <a:stretch>
                <a:fillRect l="-711" r="-703" b="4"/>
              </a:stretch>
            </a:blipFill>
          </p:spPr>
        </p:sp>
      </p:grpSp>
      <p:sp>
        <p:nvSpPr>
          <p:cNvPr id="47" name="TextBox 47"/>
          <p:cNvSpPr txBox="1"/>
          <p:nvPr/>
        </p:nvSpPr>
        <p:spPr>
          <a:xfrm>
            <a:off x="822459" y="5389493"/>
            <a:ext cx="2515533" cy="212787"/>
          </a:xfrm>
          <a:prstGeom prst="rect">
            <a:avLst/>
          </a:prstGeom>
        </p:spPr>
        <p:txBody>
          <a:bodyPr lIns="0" tIns="0" rIns="0" bIns="0" rtlCol="0" anchor="t">
            <a:spAutoFit/>
          </a:bodyPr>
          <a:lstStyle/>
          <a:p>
            <a:pPr algn="l">
              <a:lnSpc>
                <a:spcPts val="1833"/>
              </a:lnSpc>
            </a:pPr>
            <a:r>
              <a:rPr lang="en-US" sz="1452">
                <a:solidFill>
                  <a:srgbClr val="000000"/>
                </a:solidFill>
                <a:latin typeface="Hammersmith One"/>
                <a:ea typeface="Hammersmith One"/>
                <a:cs typeface="Hammersmith One"/>
                <a:sym typeface="Hammersmith One"/>
              </a:rPr>
              <a:t>Effective Time Management</a:t>
            </a:r>
          </a:p>
        </p:txBody>
      </p:sp>
      <p:sp>
        <p:nvSpPr>
          <p:cNvPr id="48" name="TextBox 48"/>
          <p:cNvSpPr txBox="1"/>
          <p:nvPr/>
        </p:nvSpPr>
        <p:spPr>
          <a:xfrm>
            <a:off x="822459" y="5655713"/>
            <a:ext cx="4163887" cy="447210"/>
          </a:xfrm>
          <a:prstGeom prst="rect">
            <a:avLst/>
          </a:prstGeom>
        </p:spPr>
        <p:txBody>
          <a:bodyPr lIns="0" tIns="0" rIns="0" bIns="0" rtlCol="0" anchor="t">
            <a:spAutoFit/>
          </a:bodyPr>
          <a:lstStyle/>
          <a:p>
            <a:pPr algn="l">
              <a:lnSpc>
                <a:spcPts val="1868"/>
              </a:lnSpc>
            </a:pPr>
            <a:r>
              <a:rPr lang="en-US" sz="1176">
                <a:solidFill>
                  <a:srgbClr val="000000"/>
                </a:solidFill>
                <a:latin typeface="Hammersmith One"/>
                <a:ea typeface="Hammersmith One"/>
                <a:cs typeface="Hammersmith One"/>
                <a:sym typeface="Hammersmith One"/>
              </a:rPr>
              <a:t>Successfully managed multiple tasks and deadlines in a virtual setting.</a:t>
            </a:r>
          </a:p>
        </p:txBody>
      </p:sp>
      <p:grpSp>
        <p:nvGrpSpPr>
          <p:cNvPr id="49" name="Group 49"/>
          <p:cNvGrpSpPr/>
          <p:nvPr/>
        </p:nvGrpSpPr>
        <p:grpSpPr>
          <a:xfrm>
            <a:off x="5507048" y="4919144"/>
            <a:ext cx="4243875" cy="154785"/>
            <a:chOff x="0" y="0"/>
            <a:chExt cx="10223103" cy="372863"/>
          </a:xfrm>
        </p:grpSpPr>
        <p:sp>
          <p:nvSpPr>
            <p:cNvPr id="50" name="Freeform 50"/>
            <p:cNvSpPr/>
            <p:nvPr/>
          </p:nvSpPr>
          <p:spPr>
            <a:xfrm>
              <a:off x="6350" y="6350"/>
              <a:ext cx="10210419" cy="360172"/>
            </a:xfrm>
            <a:custGeom>
              <a:avLst/>
              <a:gdLst/>
              <a:ahLst/>
              <a:cxnLst/>
              <a:rect l="l" t="t" r="r" b="b"/>
              <a:pathLst>
                <a:path w="10210419" h="360172">
                  <a:moveTo>
                    <a:pt x="0" y="151384"/>
                  </a:moveTo>
                  <a:cubicBezTo>
                    <a:pt x="0" y="67818"/>
                    <a:pt x="70104" y="0"/>
                    <a:pt x="156464" y="0"/>
                  </a:cubicBezTo>
                  <a:lnTo>
                    <a:pt x="10053955" y="0"/>
                  </a:lnTo>
                  <a:cubicBezTo>
                    <a:pt x="10140442" y="0"/>
                    <a:pt x="10210419" y="67818"/>
                    <a:pt x="10210419" y="151384"/>
                  </a:cubicBezTo>
                  <a:lnTo>
                    <a:pt x="10210419" y="208788"/>
                  </a:lnTo>
                  <a:cubicBezTo>
                    <a:pt x="10210419" y="292354"/>
                    <a:pt x="10140315" y="360172"/>
                    <a:pt x="10053955" y="360172"/>
                  </a:cubicBezTo>
                  <a:lnTo>
                    <a:pt x="156464" y="360172"/>
                  </a:lnTo>
                  <a:cubicBezTo>
                    <a:pt x="70104" y="360172"/>
                    <a:pt x="0" y="292354"/>
                    <a:pt x="0" y="208788"/>
                  </a:cubicBezTo>
                  <a:close/>
                </a:path>
              </a:pathLst>
            </a:custGeom>
            <a:solidFill>
              <a:srgbClr val="3D3D42"/>
            </a:solidFill>
          </p:spPr>
        </p:sp>
        <p:sp>
          <p:nvSpPr>
            <p:cNvPr id="51" name="Freeform 51"/>
            <p:cNvSpPr/>
            <p:nvPr/>
          </p:nvSpPr>
          <p:spPr>
            <a:xfrm>
              <a:off x="0" y="0"/>
              <a:ext cx="10223119" cy="372872"/>
            </a:xfrm>
            <a:custGeom>
              <a:avLst/>
              <a:gdLst/>
              <a:ahLst/>
              <a:cxnLst/>
              <a:rect l="l" t="t" r="r" b="b"/>
              <a:pathLst>
                <a:path w="10223119" h="372872">
                  <a:moveTo>
                    <a:pt x="0" y="157734"/>
                  </a:moveTo>
                  <a:cubicBezTo>
                    <a:pt x="0" y="70358"/>
                    <a:pt x="73152" y="0"/>
                    <a:pt x="162814" y="0"/>
                  </a:cubicBezTo>
                  <a:lnTo>
                    <a:pt x="10060305" y="0"/>
                  </a:lnTo>
                  <a:lnTo>
                    <a:pt x="10060305" y="6350"/>
                  </a:lnTo>
                  <a:lnTo>
                    <a:pt x="10060305" y="0"/>
                  </a:lnTo>
                  <a:cubicBezTo>
                    <a:pt x="10150094" y="0"/>
                    <a:pt x="10223119" y="70358"/>
                    <a:pt x="10223119" y="157734"/>
                  </a:cubicBezTo>
                  <a:lnTo>
                    <a:pt x="10216769" y="157734"/>
                  </a:lnTo>
                  <a:lnTo>
                    <a:pt x="10223119" y="157734"/>
                  </a:lnTo>
                  <a:lnTo>
                    <a:pt x="10223119" y="215138"/>
                  </a:lnTo>
                  <a:lnTo>
                    <a:pt x="10216769" y="215138"/>
                  </a:lnTo>
                  <a:lnTo>
                    <a:pt x="10223119" y="215138"/>
                  </a:lnTo>
                  <a:cubicBezTo>
                    <a:pt x="10223119" y="302387"/>
                    <a:pt x="10149967" y="372872"/>
                    <a:pt x="10060305" y="372872"/>
                  </a:cubicBezTo>
                  <a:lnTo>
                    <a:pt x="10060305" y="366522"/>
                  </a:lnTo>
                  <a:lnTo>
                    <a:pt x="10060305" y="372872"/>
                  </a:lnTo>
                  <a:lnTo>
                    <a:pt x="162814" y="372872"/>
                  </a:lnTo>
                  <a:lnTo>
                    <a:pt x="162814" y="366522"/>
                  </a:lnTo>
                  <a:lnTo>
                    <a:pt x="162814" y="372872"/>
                  </a:lnTo>
                  <a:cubicBezTo>
                    <a:pt x="73152" y="372872"/>
                    <a:pt x="0" y="302514"/>
                    <a:pt x="0" y="215138"/>
                  </a:cubicBezTo>
                  <a:lnTo>
                    <a:pt x="0" y="157734"/>
                  </a:lnTo>
                  <a:lnTo>
                    <a:pt x="6350" y="157734"/>
                  </a:lnTo>
                  <a:lnTo>
                    <a:pt x="0" y="157734"/>
                  </a:lnTo>
                  <a:moveTo>
                    <a:pt x="12700" y="157734"/>
                  </a:moveTo>
                  <a:lnTo>
                    <a:pt x="12700" y="215138"/>
                  </a:lnTo>
                  <a:lnTo>
                    <a:pt x="6350" y="215138"/>
                  </a:lnTo>
                  <a:lnTo>
                    <a:pt x="12700" y="215138"/>
                  </a:lnTo>
                  <a:cubicBezTo>
                    <a:pt x="12700" y="295021"/>
                    <a:pt x="79756" y="360172"/>
                    <a:pt x="162814" y="360172"/>
                  </a:cubicBezTo>
                  <a:lnTo>
                    <a:pt x="10060305" y="360172"/>
                  </a:lnTo>
                  <a:cubicBezTo>
                    <a:pt x="10143490" y="360172"/>
                    <a:pt x="10210419" y="295021"/>
                    <a:pt x="10210419" y="215138"/>
                  </a:cubicBezTo>
                  <a:lnTo>
                    <a:pt x="10210419" y="157734"/>
                  </a:lnTo>
                  <a:cubicBezTo>
                    <a:pt x="10210419" y="77851"/>
                    <a:pt x="10143363" y="12700"/>
                    <a:pt x="10060305" y="12700"/>
                  </a:cubicBezTo>
                  <a:lnTo>
                    <a:pt x="162814" y="12700"/>
                  </a:lnTo>
                  <a:lnTo>
                    <a:pt x="162814" y="6350"/>
                  </a:lnTo>
                  <a:lnTo>
                    <a:pt x="162814" y="12700"/>
                  </a:lnTo>
                  <a:cubicBezTo>
                    <a:pt x="79756" y="12700"/>
                    <a:pt x="12700" y="77851"/>
                    <a:pt x="12700" y="157734"/>
                  </a:cubicBezTo>
                  <a:close/>
                </a:path>
              </a:pathLst>
            </a:custGeom>
            <a:solidFill>
              <a:srgbClr val="56565B"/>
            </a:solidFill>
          </p:spPr>
        </p:sp>
      </p:grpSp>
      <p:grpSp>
        <p:nvGrpSpPr>
          <p:cNvPr id="52" name="Group 52"/>
          <p:cNvGrpSpPr/>
          <p:nvPr/>
        </p:nvGrpSpPr>
        <p:grpSpPr>
          <a:xfrm>
            <a:off x="5282737" y="4769507"/>
            <a:ext cx="453977" cy="453977"/>
            <a:chOff x="0" y="0"/>
            <a:chExt cx="1093588" cy="1093588"/>
          </a:xfrm>
        </p:grpSpPr>
        <p:sp>
          <p:nvSpPr>
            <p:cNvPr id="53" name="Freeform 53"/>
            <p:cNvSpPr/>
            <p:nvPr/>
          </p:nvSpPr>
          <p:spPr>
            <a:xfrm>
              <a:off x="6350" y="6350"/>
              <a:ext cx="1080897" cy="1080897"/>
            </a:xfrm>
            <a:custGeom>
              <a:avLst/>
              <a:gdLst/>
              <a:ahLst/>
              <a:cxnLst/>
              <a:rect l="l" t="t" r="r" b="b"/>
              <a:pathLst>
                <a:path w="1080897" h="1080897">
                  <a:moveTo>
                    <a:pt x="0" y="540385"/>
                  </a:moveTo>
                  <a:cubicBezTo>
                    <a:pt x="0" y="241935"/>
                    <a:pt x="241935" y="0"/>
                    <a:pt x="540385" y="0"/>
                  </a:cubicBezTo>
                  <a:cubicBezTo>
                    <a:pt x="838835" y="0"/>
                    <a:pt x="1080897" y="241935"/>
                    <a:pt x="1080897" y="540385"/>
                  </a:cubicBezTo>
                  <a:cubicBezTo>
                    <a:pt x="1080897" y="838835"/>
                    <a:pt x="838962" y="1080897"/>
                    <a:pt x="540385" y="1080897"/>
                  </a:cubicBezTo>
                  <a:cubicBezTo>
                    <a:pt x="241808" y="1080897"/>
                    <a:pt x="0" y="838962"/>
                    <a:pt x="0" y="540385"/>
                  </a:cubicBezTo>
                  <a:close/>
                </a:path>
              </a:pathLst>
            </a:custGeom>
            <a:solidFill>
              <a:srgbClr val="3D3D42"/>
            </a:solidFill>
          </p:spPr>
        </p:sp>
        <p:sp>
          <p:nvSpPr>
            <p:cNvPr id="54" name="Freeform 54"/>
            <p:cNvSpPr/>
            <p:nvPr/>
          </p:nvSpPr>
          <p:spPr>
            <a:xfrm>
              <a:off x="0" y="0"/>
              <a:ext cx="1093597" cy="1093597"/>
            </a:xfrm>
            <a:custGeom>
              <a:avLst/>
              <a:gdLst/>
              <a:ahLst/>
              <a:cxnLst/>
              <a:rect l="l" t="t" r="r" b="b"/>
              <a:pathLst>
                <a:path w="1093597" h="1093597">
                  <a:moveTo>
                    <a:pt x="0" y="546735"/>
                  </a:moveTo>
                  <a:cubicBezTo>
                    <a:pt x="0" y="244856"/>
                    <a:pt x="244856" y="0"/>
                    <a:pt x="546735" y="0"/>
                  </a:cubicBezTo>
                  <a:cubicBezTo>
                    <a:pt x="548640" y="0"/>
                    <a:pt x="550545" y="889"/>
                    <a:pt x="551688" y="2413"/>
                  </a:cubicBezTo>
                  <a:lnTo>
                    <a:pt x="546735" y="6350"/>
                  </a:lnTo>
                  <a:lnTo>
                    <a:pt x="546735" y="0"/>
                  </a:lnTo>
                  <a:lnTo>
                    <a:pt x="546735" y="6350"/>
                  </a:lnTo>
                  <a:lnTo>
                    <a:pt x="546735" y="0"/>
                  </a:lnTo>
                  <a:cubicBezTo>
                    <a:pt x="848741" y="0"/>
                    <a:pt x="1093597" y="244856"/>
                    <a:pt x="1093597" y="546735"/>
                  </a:cubicBezTo>
                  <a:cubicBezTo>
                    <a:pt x="1093597" y="549148"/>
                    <a:pt x="1092200" y="551307"/>
                    <a:pt x="1090041" y="552450"/>
                  </a:cubicBezTo>
                  <a:lnTo>
                    <a:pt x="1087247" y="546735"/>
                  </a:lnTo>
                  <a:lnTo>
                    <a:pt x="1093597" y="546735"/>
                  </a:lnTo>
                  <a:cubicBezTo>
                    <a:pt x="1093597" y="848741"/>
                    <a:pt x="848741" y="1093470"/>
                    <a:pt x="546862" y="1093470"/>
                  </a:cubicBezTo>
                  <a:lnTo>
                    <a:pt x="546862" y="1087120"/>
                  </a:lnTo>
                  <a:lnTo>
                    <a:pt x="546862" y="1080770"/>
                  </a:lnTo>
                  <a:lnTo>
                    <a:pt x="546862" y="1087120"/>
                  </a:lnTo>
                  <a:lnTo>
                    <a:pt x="546862" y="1093470"/>
                  </a:lnTo>
                  <a:cubicBezTo>
                    <a:pt x="244856" y="1093597"/>
                    <a:pt x="0" y="848741"/>
                    <a:pt x="0" y="546735"/>
                  </a:cubicBezTo>
                  <a:lnTo>
                    <a:pt x="6350" y="546735"/>
                  </a:lnTo>
                  <a:lnTo>
                    <a:pt x="0" y="546735"/>
                  </a:lnTo>
                  <a:moveTo>
                    <a:pt x="12700" y="546735"/>
                  </a:moveTo>
                  <a:lnTo>
                    <a:pt x="6350" y="546735"/>
                  </a:lnTo>
                  <a:lnTo>
                    <a:pt x="12700" y="546735"/>
                  </a:lnTo>
                  <a:cubicBezTo>
                    <a:pt x="12700" y="841756"/>
                    <a:pt x="251841" y="1080897"/>
                    <a:pt x="546735" y="1080897"/>
                  </a:cubicBezTo>
                  <a:cubicBezTo>
                    <a:pt x="550291" y="1080897"/>
                    <a:pt x="553085" y="1083691"/>
                    <a:pt x="553085" y="1087247"/>
                  </a:cubicBezTo>
                  <a:cubicBezTo>
                    <a:pt x="553085" y="1090803"/>
                    <a:pt x="550291" y="1093597"/>
                    <a:pt x="546735" y="1093597"/>
                  </a:cubicBezTo>
                  <a:cubicBezTo>
                    <a:pt x="543179" y="1093597"/>
                    <a:pt x="540385" y="1090803"/>
                    <a:pt x="540385" y="1087247"/>
                  </a:cubicBezTo>
                  <a:cubicBezTo>
                    <a:pt x="540385" y="1083691"/>
                    <a:pt x="543179" y="1080897"/>
                    <a:pt x="546735" y="1080897"/>
                  </a:cubicBezTo>
                  <a:cubicBezTo>
                    <a:pt x="841756" y="1080897"/>
                    <a:pt x="1080770" y="841756"/>
                    <a:pt x="1080770" y="546862"/>
                  </a:cubicBezTo>
                  <a:cubicBezTo>
                    <a:pt x="1080770" y="544449"/>
                    <a:pt x="1082167" y="542290"/>
                    <a:pt x="1084326" y="541147"/>
                  </a:cubicBezTo>
                  <a:lnTo>
                    <a:pt x="1087120" y="546862"/>
                  </a:lnTo>
                  <a:lnTo>
                    <a:pt x="1080770" y="546862"/>
                  </a:lnTo>
                  <a:cubicBezTo>
                    <a:pt x="1080897" y="251841"/>
                    <a:pt x="841756" y="12700"/>
                    <a:pt x="546735" y="12700"/>
                  </a:cubicBezTo>
                  <a:cubicBezTo>
                    <a:pt x="544830" y="12700"/>
                    <a:pt x="542925" y="11811"/>
                    <a:pt x="541782" y="10287"/>
                  </a:cubicBezTo>
                  <a:lnTo>
                    <a:pt x="546735" y="6350"/>
                  </a:lnTo>
                  <a:lnTo>
                    <a:pt x="546735" y="12700"/>
                  </a:lnTo>
                  <a:cubicBezTo>
                    <a:pt x="251841" y="12700"/>
                    <a:pt x="12700" y="251841"/>
                    <a:pt x="12700" y="546735"/>
                  </a:cubicBezTo>
                  <a:close/>
                </a:path>
              </a:pathLst>
            </a:custGeom>
            <a:solidFill>
              <a:srgbClr val="56565B"/>
            </a:solidFill>
          </p:spPr>
        </p:sp>
      </p:grpSp>
      <p:grpSp>
        <p:nvGrpSpPr>
          <p:cNvPr id="55" name="Group 55"/>
          <p:cNvGrpSpPr>
            <a:grpSpLocks noChangeAspect="1"/>
          </p:cNvGrpSpPr>
          <p:nvPr/>
        </p:nvGrpSpPr>
        <p:grpSpPr>
          <a:xfrm>
            <a:off x="5397569" y="4856332"/>
            <a:ext cx="224311" cy="280410"/>
            <a:chOff x="0" y="0"/>
            <a:chExt cx="540345" cy="675482"/>
          </a:xfrm>
        </p:grpSpPr>
        <p:sp>
          <p:nvSpPr>
            <p:cNvPr id="56" name="Freeform 56" descr="preencoded.png"/>
            <p:cNvSpPr/>
            <p:nvPr/>
          </p:nvSpPr>
          <p:spPr>
            <a:xfrm>
              <a:off x="0" y="0"/>
              <a:ext cx="540385" cy="675513"/>
            </a:xfrm>
            <a:custGeom>
              <a:avLst/>
              <a:gdLst/>
              <a:ahLst/>
              <a:cxnLst/>
              <a:rect l="l" t="t" r="r" b="b"/>
              <a:pathLst>
                <a:path w="540385" h="675513">
                  <a:moveTo>
                    <a:pt x="0" y="0"/>
                  </a:moveTo>
                  <a:lnTo>
                    <a:pt x="540385" y="0"/>
                  </a:lnTo>
                  <a:lnTo>
                    <a:pt x="540385" y="675513"/>
                  </a:lnTo>
                  <a:lnTo>
                    <a:pt x="0" y="675513"/>
                  </a:lnTo>
                  <a:lnTo>
                    <a:pt x="0" y="0"/>
                  </a:lnTo>
                  <a:close/>
                </a:path>
              </a:pathLst>
            </a:custGeom>
            <a:blipFill>
              <a:blip r:embed="rId6"/>
              <a:stretch>
                <a:fillRect l="-711" r="-703" b="4"/>
              </a:stretch>
            </a:blipFill>
          </p:spPr>
        </p:sp>
      </p:grpSp>
      <p:sp>
        <p:nvSpPr>
          <p:cNvPr id="57" name="TextBox 57"/>
          <p:cNvSpPr txBox="1"/>
          <p:nvPr/>
        </p:nvSpPr>
        <p:spPr>
          <a:xfrm>
            <a:off x="5434886" y="5370402"/>
            <a:ext cx="3234762" cy="212787"/>
          </a:xfrm>
          <a:prstGeom prst="rect">
            <a:avLst/>
          </a:prstGeom>
        </p:spPr>
        <p:txBody>
          <a:bodyPr lIns="0" tIns="0" rIns="0" bIns="0" rtlCol="0" anchor="t">
            <a:spAutoFit/>
          </a:bodyPr>
          <a:lstStyle/>
          <a:p>
            <a:pPr algn="l">
              <a:lnSpc>
                <a:spcPts val="1833"/>
              </a:lnSpc>
            </a:pPr>
            <a:r>
              <a:rPr lang="en-US" sz="1452">
                <a:solidFill>
                  <a:srgbClr val="000000"/>
                </a:solidFill>
                <a:latin typeface="Hammersmith One"/>
                <a:ea typeface="Hammersmith One"/>
                <a:cs typeface="Hammersmith One"/>
                <a:sym typeface="Hammersmith One"/>
              </a:rPr>
              <a:t>Virtual Teamwork &amp; Communication</a:t>
            </a:r>
          </a:p>
        </p:txBody>
      </p:sp>
      <p:sp>
        <p:nvSpPr>
          <p:cNvPr id="58" name="TextBox 58"/>
          <p:cNvSpPr txBox="1"/>
          <p:nvPr/>
        </p:nvSpPr>
        <p:spPr>
          <a:xfrm>
            <a:off x="5434886" y="5655713"/>
            <a:ext cx="4163969" cy="447210"/>
          </a:xfrm>
          <a:prstGeom prst="rect">
            <a:avLst/>
          </a:prstGeom>
        </p:spPr>
        <p:txBody>
          <a:bodyPr lIns="0" tIns="0" rIns="0" bIns="0" rtlCol="0" anchor="t">
            <a:spAutoFit/>
          </a:bodyPr>
          <a:lstStyle/>
          <a:p>
            <a:pPr algn="l">
              <a:lnSpc>
                <a:spcPts val="1868"/>
              </a:lnSpc>
            </a:pPr>
            <a:r>
              <a:rPr lang="en-US" sz="1176">
                <a:solidFill>
                  <a:srgbClr val="000000"/>
                </a:solidFill>
                <a:latin typeface="Hammersmith One"/>
                <a:ea typeface="Hammersmith One"/>
                <a:cs typeface="Hammersmith One"/>
                <a:sym typeface="Hammersmith One"/>
              </a:rPr>
              <a:t>Collaborated seamlessly with remote colleagues, enhancing project delivery.</a:t>
            </a: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a:grpSpLocks noChangeAspect="1"/>
          </p:cNvGrpSpPr>
          <p:nvPr/>
        </p:nvGrpSpPr>
        <p:grpSpPr>
          <a:xfrm>
            <a:off x="0" y="685800"/>
            <a:ext cx="9753600" cy="6172200"/>
            <a:chOff x="0" y="0"/>
            <a:chExt cx="24384000" cy="13716000"/>
          </a:xfrm>
        </p:grpSpPr>
        <p:sp>
          <p:nvSpPr>
            <p:cNvPr id="7" name="Freeform 7"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8" name="Group 8"/>
          <p:cNvGrpSpPr/>
          <p:nvPr/>
        </p:nvGrpSpPr>
        <p:grpSpPr>
          <a:xfrm>
            <a:off x="0" y="731520"/>
            <a:ext cx="492443" cy="6583680"/>
            <a:chOff x="0" y="0"/>
            <a:chExt cx="656590" cy="8778240"/>
          </a:xfrm>
        </p:grpSpPr>
        <p:grpSp>
          <p:nvGrpSpPr>
            <p:cNvPr id="9" name="Group 9"/>
            <p:cNvGrpSpPr/>
            <p:nvPr/>
          </p:nvGrpSpPr>
          <p:grpSpPr>
            <a:xfrm>
              <a:off x="0" y="0"/>
              <a:ext cx="656590" cy="8778240"/>
              <a:chOff x="0" y="0"/>
              <a:chExt cx="656590" cy="8778240"/>
            </a:xfrm>
          </p:grpSpPr>
          <p:sp>
            <p:nvSpPr>
              <p:cNvPr id="10" name="Freeform 10"/>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11" name="Freeform 11"/>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2" name="TextBox 12"/>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3" name="Group 13"/>
          <p:cNvGrpSpPr/>
          <p:nvPr/>
        </p:nvGrpSpPr>
        <p:grpSpPr>
          <a:xfrm>
            <a:off x="-40640" y="690880"/>
            <a:ext cx="9834880" cy="81280"/>
            <a:chOff x="0" y="0"/>
            <a:chExt cx="13113173" cy="108373"/>
          </a:xfrm>
        </p:grpSpPr>
        <p:sp>
          <p:nvSpPr>
            <p:cNvPr id="14" name="Freeform 14"/>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5" name="Group 15"/>
          <p:cNvGrpSpPr/>
          <p:nvPr/>
        </p:nvGrpSpPr>
        <p:grpSpPr>
          <a:xfrm>
            <a:off x="568960" y="6908800"/>
            <a:ext cx="8453120" cy="406400"/>
            <a:chOff x="0" y="0"/>
            <a:chExt cx="11270827" cy="541867"/>
          </a:xfrm>
        </p:grpSpPr>
        <p:sp>
          <p:nvSpPr>
            <p:cNvPr id="16" name="Freeform 16"/>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7" name="TextBox 17"/>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8" name="TextBox 18"/>
          <p:cNvSpPr txBox="1"/>
          <p:nvPr/>
        </p:nvSpPr>
        <p:spPr>
          <a:xfrm>
            <a:off x="8625840" y="6873240"/>
            <a:ext cx="1059121"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[‹17›]</a:t>
            </a:r>
          </a:p>
        </p:txBody>
      </p:sp>
      <p:sp>
        <p:nvSpPr>
          <p:cNvPr id="19" name="TextBox 19"/>
          <p:cNvSpPr txBox="1"/>
          <p:nvPr/>
        </p:nvSpPr>
        <p:spPr>
          <a:xfrm>
            <a:off x="568960" y="129680"/>
            <a:ext cx="7396639" cy="454332"/>
          </a:xfrm>
          <a:prstGeom prst="rect">
            <a:avLst/>
          </a:prstGeom>
        </p:spPr>
        <p:txBody>
          <a:bodyPr lIns="0" tIns="0" rIns="0" bIns="0" rtlCol="0" anchor="t">
            <a:spAutoFit/>
          </a:bodyPr>
          <a:lstStyle/>
          <a:p>
            <a:pPr algn="l">
              <a:lnSpc>
                <a:spcPts val="3693"/>
              </a:lnSpc>
            </a:pPr>
            <a:r>
              <a:rPr lang="en-US" sz="2933">
                <a:solidFill>
                  <a:srgbClr val="000000"/>
                </a:solidFill>
                <a:latin typeface="Hammersmith One"/>
                <a:ea typeface="Hammersmith One"/>
                <a:cs typeface="Hammersmith One"/>
                <a:sym typeface="Hammersmith One"/>
              </a:rPr>
              <a:t>Looking Forward: Shaping My Future</a:t>
            </a:r>
          </a:p>
        </p:txBody>
      </p:sp>
      <p:sp>
        <p:nvSpPr>
          <p:cNvPr id="20" name="TextBox 20"/>
          <p:cNvSpPr txBox="1"/>
          <p:nvPr/>
        </p:nvSpPr>
        <p:spPr>
          <a:xfrm>
            <a:off x="731520" y="1097607"/>
            <a:ext cx="4538839" cy="1321696"/>
          </a:xfrm>
          <a:prstGeom prst="rect">
            <a:avLst/>
          </a:prstGeom>
        </p:spPr>
        <p:txBody>
          <a:bodyPr lIns="0" tIns="0" rIns="0" bIns="0" rtlCol="0" anchor="t">
            <a:spAutoFit/>
          </a:bodyPr>
          <a:lstStyle/>
          <a:p>
            <a:pPr algn="l">
              <a:lnSpc>
                <a:spcPts val="2102"/>
              </a:lnSpc>
            </a:pPr>
            <a:r>
              <a:rPr lang="en-US" sz="1300">
                <a:solidFill>
                  <a:srgbClr val="CFD0D8"/>
                </a:solidFill>
                <a:latin typeface="Hammersmith One"/>
                <a:ea typeface="Hammersmith One"/>
                <a:cs typeface="Hammersmith One"/>
                <a:sym typeface="Hammersmith One"/>
              </a:rPr>
              <a:t>      This internship enhanced my full-stack web development skills using the MERN stack. I built dynamic UIs with React, developed backend APIs with Node.js/Express, and managed MongoDB databases with Mongoose..</a:t>
            </a:r>
          </a:p>
        </p:txBody>
      </p:sp>
      <p:sp>
        <p:nvSpPr>
          <p:cNvPr id="21" name="TextBox 21"/>
          <p:cNvSpPr txBox="1"/>
          <p:nvPr/>
        </p:nvSpPr>
        <p:spPr>
          <a:xfrm>
            <a:off x="568960" y="4070985"/>
            <a:ext cx="9116001" cy="2121850"/>
          </a:xfrm>
          <a:prstGeom prst="rect">
            <a:avLst/>
          </a:prstGeom>
        </p:spPr>
        <p:txBody>
          <a:bodyPr lIns="0" tIns="0" rIns="0" bIns="0" rtlCol="0" anchor="t">
            <a:spAutoFit/>
          </a:bodyPr>
          <a:lstStyle/>
          <a:p>
            <a:pPr algn="l">
              <a:lnSpc>
                <a:spcPts val="2102"/>
              </a:lnSpc>
            </a:pPr>
            <a:r>
              <a:rPr lang="en-US" sz="1300">
                <a:solidFill>
                  <a:srgbClr val="CFD0D8"/>
                </a:solidFill>
                <a:latin typeface="Hammersmith One"/>
                <a:ea typeface="Hammersmith One"/>
                <a:cs typeface="Hammersmith One"/>
                <a:sym typeface="Hammersmith One"/>
              </a:rPr>
              <a:t>       I intend to further refine my expertise in serverless architectures while advancing the integration of machine learning into web applications. Focusing on scalable, efficient, and responsive systems, I aim to leverage serverless frameworks to streamline infrastructure management. Simultaneously, incorporating intelligent, data-driven functionalities—such as predictive analytics and personalized recommendations—will enhance application sophistication and user experience. This dual pursuit positions me at the forefront of contemporary web development, equipping me to design innovative, high-performance solutions that address complex, real-world challenges with technical precision and strategic foresight.</a:t>
            </a:r>
          </a:p>
          <a:p>
            <a:pPr algn="l">
              <a:lnSpc>
                <a:spcPts val="2102"/>
              </a:lnSpc>
            </a:pPr>
            <a:endParaRPr/>
          </a:p>
        </p:txBody>
      </p:sp>
      <p:sp>
        <p:nvSpPr>
          <p:cNvPr id="22" name="TextBox 22"/>
          <p:cNvSpPr txBox="1"/>
          <p:nvPr/>
        </p:nvSpPr>
        <p:spPr>
          <a:xfrm>
            <a:off x="817165" y="6121069"/>
            <a:ext cx="7956710" cy="554392"/>
          </a:xfrm>
          <a:prstGeom prst="rect">
            <a:avLst/>
          </a:prstGeom>
        </p:spPr>
        <p:txBody>
          <a:bodyPr lIns="0" tIns="0" rIns="0" bIns="0" rtlCol="0" anchor="t">
            <a:spAutoFit/>
          </a:bodyPr>
          <a:lstStyle/>
          <a:p>
            <a:pPr algn="l">
              <a:lnSpc>
                <a:spcPts val="2264"/>
              </a:lnSpc>
            </a:pPr>
            <a:r>
              <a:rPr lang="en-US" sz="1400">
                <a:solidFill>
                  <a:srgbClr val="CFD0D8"/>
                </a:solidFill>
                <a:latin typeface="Hammersmith One"/>
                <a:ea typeface="Hammersmith One"/>
                <a:cs typeface="Hammersmith One"/>
                <a:sym typeface="Hammersmith One"/>
              </a:rPr>
              <a:t>My goal is to contribute to innovative projects that leverage technology to create meaningful impact and foster positive user experiences.</a:t>
            </a:r>
          </a:p>
        </p:txBody>
      </p:sp>
      <p:sp>
        <p:nvSpPr>
          <p:cNvPr id="23" name="TextBox 23"/>
          <p:cNvSpPr txBox="1"/>
          <p:nvPr/>
        </p:nvSpPr>
        <p:spPr>
          <a:xfrm>
            <a:off x="731520" y="2543132"/>
            <a:ext cx="4654812" cy="1321696"/>
          </a:xfrm>
          <a:prstGeom prst="rect">
            <a:avLst/>
          </a:prstGeom>
        </p:spPr>
        <p:txBody>
          <a:bodyPr lIns="0" tIns="0" rIns="0" bIns="0" rtlCol="0" anchor="t">
            <a:spAutoFit/>
          </a:bodyPr>
          <a:lstStyle/>
          <a:p>
            <a:pPr algn="l">
              <a:lnSpc>
                <a:spcPts val="2102"/>
              </a:lnSpc>
            </a:pPr>
            <a:r>
              <a:rPr lang="en-US" sz="1300">
                <a:solidFill>
                  <a:srgbClr val="CFD0D8"/>
                </a:solidFill>
                <a:latin typeface="Hammersmith One"/>
                <a:ea typeface="Hammersmith One"/>
                <a:cs typeface="Hammersmith One"/>
                <a:sym typeface="Hammersmith One"/>
              </a:rPr>
              <a:t> I implemented JWT auth, handled file uploads, resolved CORS/routing issues, and gained hands-on experience with tools like Postman, MongoDB Compass, Git, sharpening my skills in RESTful API design, debugging, and end-to-end web development.</a:t>
            </a:r>
          </a:p>
        </p:txBody>
      </p:sp>
      <p:grpSp>
        <p:nvGrpSpPr>
          <p:cNvPr id="24" name="Group 24"/>
          <p:cNvGrpSpPr>
            <a:grpSpLocks noChangeAspect="1"/>
          </p:cNvGrpSpPr>
          <p:nvPr/>
        </p:nvGrpSpPr>
        <p:grpSpPr>
          <a:xfrm>
            <a:off x="5674289" y="801896"/>
            <a:ext cx="4079311" cy="3221464"/>
            <a:chOff x="0" y="0"/>
            <a:chExt cx="10474523" cy="6975872"/>
          </a:xfrm>
        </p:grpSpPr>
        <p:sp>
          <p:nvSpPr>
            <p:cNvPr id="25" name="Freeform 25" descr="preencoded.png"/>
            <p:cNvSpPr/>
            <p:nvPr/>
          </p:nvSpPr>
          <p:spPr>
            <a:xfrm>
              <a:off x="0" y="0"/>
              <a:ext cx="10474579" cy="6975856"/>
            </a:xfrm>
            <a:custGeom>
              <a:avLst/>
              <a:gdLst/>
              <a:ahLst/>
              <a:cxnLst/>
              <a:rect l="l" t="t" r="r" b="b"/>
              <a:pathLst>
                <a:path w="10474579" h="6975856">
                  <a:moveTo>
                    <a:pt x="0" y="0"/>
                  </a:moveTo>
                  <a:lnTo>
                    <a:pt x="10474579" y="0"/>
                  </a:lnTo>
                  <a:lnTo>
                    <a:pt x="10474579" y="6975856"/>
                  </a:lnTo>
                  <a:lnTo>
                    <a:pt x="0" y="6975856"/>
                  </a:lnTo>
                  <a:lnTo>
                    <a:pt x="0" y="0"/>
                  </a:lnTo>
                  <a:close/>
                </a:path>
              </a:pathLst>
            </a:custGeom>
            <a:blipFill>
              <a:blip r:embed="rId4"/>
              <a:stretch>
                <a:fillRect l="-39" r="-39"/>
              </a:stretch>
            </a:blipFill>
          </p:spPr>
        </p:sp>
      </p:gr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48768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103632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[‹18›]</a:t>
            </a:r>
          </a:p>
        </p:txBody>
      </p:sp>
      <p:sp>
        <p:nvSpPr>
          <p:cNvPr id="17" name="TextBox 17"/>
          <p:cNvSpPr txBox="1"/>
          <p:nvPr/>
        </p:nvSpPr>
        <p:spPr>
          <a:xfrm>
            <a:off x="91440" y="17145"/>
            <a:ext cx="9570720" cy="587375"/>
          </a:xfrm>
          <a:prstGeom prst="rect">
            <a:avLst/>
          </a:prstGeom>
        </p:spPr>
        <p:txBody>
          <a:bodyPr lIns="0" tIns="0" rIns="0" bIns="0" rtlCol="0" anchor="t">
            <a:spAutoFit/>
          </a:bodyPr>
          <a:lstStyle/>
          <a:p>
            <a:pPr algn="l">
              <a:lnSpc>
                <a:spcPts val="4608"/>
              </a:lnSpc>
            </a:pPr>
            <a:r>
              <a:rPr lang="en-US" sz="3840">
                <a:solidFill>
                  <a:srgbClr val="191966"/>
                </a:solidFill>
                <a:latin typeface="Times New Roman"/>
                <a:ea typeface="Times New Roman"/>
                <a:cs typeface="Times New Roman"/>
                <a:sym typeface="Times New Roman"/>
              </a:rPr>
              <a:t>REFERENCES</a:t>
            </a:r>
          </a:p>
        </p:txBody>
      </p:sp>
      <p:sp>
        <p:nvSpPr>
          <p:cNvPr id="18" name="TextBox 18"/>
          <p:cNvSpPr txBox="1"/>
          <p:nvPr/>
        </p:nvSpPr>
        <p:spPr>
          <a:xfrm>
            <a:off x="507901" y="1812815"/>
            <a:ext cx="8830370" cy="296935"/>
          </a:xfrm>
          <a:prstGeom prst="rect">
            <a:avLst/>
          </a:prstGeom>
        </p:spPr>
        <p:txBody>
          <a:bodyPr lIns="0" tIns="0" rIns="0" bIns="0" rtlCol="0" anchor="t">
            <a:spAutoFit/>
          </a:bodyPr>
          <a:lstStyle/>
          <a:p>
            <a:pPr marL="390699" lvl="1" indent="-195350" algn="ctr">
              <a:lnSpc>
                <a:spcPts val="2533"/>
              </a:lnSpc>
              <a:buFont typeface="Arial"/>
              <a:buChar char="•"/>
            </a:pPr>
            <a:r>
              <a:rPr lang="en-US" sz="1809">
                <a:solidFill>
                  <a:srgbClr val="000000"/>
                </a:solidFill>
                <a:latin typeface="Canva Sans"/>
                <a:ea typeface="Canva Sans"/>
                <a:cs typeface="Canva Sans"/>
                <a:sym typeface="Canva Sans"/>
              </a:rPr>
              <a:t>CodSoft Work Experience For Web Development Internship, GeeksforGeeks</a:t>
            </a:r>
          </a:p>
        </p:txBody>
      </p:sp>
      <p:sp>
        <p:nvSpPr>
          <p:cNvPr id="19" name="TextBox 19"/>
          <p:cNvSpPr txBox="1"/>
          <p:nvPr/>
        </p:nvSpPr>
        <p:spPr>
          <a:xfrm>
            <a:off x="492443" y="2540280"/>
            <a:ext cx="9261157" cy="2139315"/>
          </a:xfrm>
          <a:prstGeom prst="rect">
            <a:avLst/>
          </a:prstGeom>
        </p:spPr>
        <p:txBody>
          <a:bodyPr lIns="0" tIns="0" rIns="0" bIns="0" rtlCol="0" anchor="t">
            <a:spAutoFit/>
          </a:bodyPr>
          <a:lstStyle/>
          <a:p>
            <a:pPr marL="388622" lvl="1" indent="-194311" algn="l">
              <a:lnSpc>
                <a:spcPts val="2520"/>
              </a:lnSpc>
              <a:buFont typeface="Arial"/>
              <a:buChar char="•"/>
            </a:pPr>
            <a:r>
              <a:rPr lang="en-US" sz="1800">
                <a:solidFill>
                  <a:srgbClr val="000000"/>
                </a:solidFill>
                <a:latin typeface="Canva Sans"/>
                <a:ea typeface="Canva Sans"/>
                <a:cs typeface="Canva Sans"/>
                <a:sym typeface="Canva Sans"/>
              </a:rPr>
              <a:t>Welling, L., &amp; Thomson, L. (2017). PHP and MySQL Web Development (5th ed.). Addison-Wesley.</a:t>
            </a:r>
          </a:p>
          <a:p>
            <a:pPr marL="388622" lvl="1" indent="-194311" algn="l">
              <a:lnSpc>
                <a:spcPts val="2520"/>
              </a:lnSpc>
              <a:buFont typeface="Arial"/>
              <a:buChar char="•"/>
            </a:pPr>
            <a:r>
              <a:rPr lang="en-US" sz="1800">
                <a:solidFill>
                  <a:srgbClr val="000000"/>
                </a:solidFill>
                <a:latin typeface="Canva Sans"/>
                <a:ea typeface="Canva Sans"/>
                <a:cs typeface="Canva Sans"/>
                <a:sym typeface="Canva Sans"/>
              </a:rPr>
              <a:t>Duckett, J. (2014). HTML &amp; CSS: Design and Build Websites. Wiley.</a:t>
            </a:r>
          </a:p>
          <a:p>
            <a:pPr marL="388622" lvl="1" indent="-194311" algn="l">
              <a:lnSpc>
                <a:spcPts val="2520"/>
              </a:lnSpc>
              <a:buFont typeface="Arial"/>
              <a:buChar char="•"/>
            </a:pPr>
            <a:r>
              <a:rPr lang="en-US" sz="1800">
                <a:solidFill>
                  <a:srgbClr val="000000"/>
                </a:solidFill>
                <a:latin typeface="Canva Sans"/>
                <a:ea typeface="Canva Sans"/>
                <a:cs typeface="Canva Sans"/>
                <a:sym typeface="Canva Sans"/>
              </a:rPr>
              <a:t>Duckett, J. (2014). JavaScript and JQuery: Interactive Front-End Web Development. Wiley.</a:t>
            </a:r>
          </a:p>
          <a:p>
            <a:pPr marL="388622" lvl="1" indent="-194311" algn="l">
              <a:lnSpc>
                <a:spcPts val="2520"/>
              </a:lnSpc>
              <a:buFont typeface="Arial"/>
              <a:buChar char="•"/>
            </a:pPr>
            <a:r>
              <a:rPr lang="en-US" sz="1800">
                <a:solidFill>
                  <a:srgbClr val="000000"/>
                </a:solidFill>
                <a:latin typeface="Canva Sans"/>
                <a:ea typeface="Canva Sans"/>
                <a:cs typeface="Canva Sans"/>
                <a:sym typeface="Canva Sans"/>
              </a:rPr>
              <a:t>Flanagan, D. (2020). JavaScript: The Definitive Guide (7th ed.). O’Reilly Media.</a:t>
            </a:r>
          </a:p>
          <a:p>
            <a:pPr algn="l">
              <a:lnSpc>
                <a:spcPts val="2100"/>
              </a:lnSpc>
            </a:pPr>
            <a:endParaRPr/>
          </a:p>
        </p:txBody>
      </p:sp>
      <p:sp>
        <p:nvSpPr>
          <p:cNvPr id="20" name="TextBox 20"/>
          <p:cNvSpPr txBox="1"/>
          <p:nvPr/>
        </p:nvSpPr>
        <p:spPr>
          <a:xfrm>
            <a:off x="487680" y="1365775"/>
            <a:ext cx="6141385" cy="323215"/>
          </a:xfrm>
          <a:prstGeom prst="rect">
            <a:avLst/>
          </a:prstGeom>
        </p:spPr>
        <p:txBody>
          <a:bodyPr lIns="0" tIns="0" rIns="0" bIns="0" rtlCol="0" anchor="t">
            <a:spAutoFit/>
          </a:bodyPr>
          <a:lstStyle/>
          <a:p>
            <a:pPr marL="410211" lvl="1" indent="-205106" algn="ctr">
              <a:lnSpc>
                <a:spcPts val="2660"/>
              </a:lnSpc>
              <a:buFont typeface="Arial"/>
              <a:buChar char="•"/>
            </a:pPr>
            <a:r>
              <a:rPr lang="en-US" sz="1900" u="sng">
                <a:solidFill>
                  <a:srgbClr val="000000"/>
                </a:solidFill>
                <a:latin typeface="Canva Sans"/>
                <a:ea typeface="Canva Sans"/>
                <a:cs typeface="Canva Sans"/>
                <a:sym typeface="Canva Sans"/>
                <a:hlinkClick r:id="rId3" tooltip="https://link.springer.com/chapter/10.1007/978-1-4302-0582-1_1"/>
              </a:rPr>
              <a:t>Introduction to Web Development, Springer.com</a:t>
            </a:r>
          </a:p>
        </p:txBody>
      </p:sp>
      <p:sp>
        <p:nvSpPr>
          <p:cNvPr id="21" name="TextBox 21"/>
          <p:cNvSpPr txBox="1"/>
          <p:nvPr/>
        </p:nvSpPr>
        <p:spPr>
          <a:xfrm>
            <a:off x="492443" y="2119275"/>
            <a:ext cx="5674480" cy="297180"/>
          </a:xfrm>
          <a:prstGeom prst="rect">
            <a:avLst/>
          </a:prstGeom>
        </p:spPr>
        <p:txBody>
          <a:bodyPr lIns="0" tIns="0" rIns="0" bIns="0" rtlCol="0" anchor="t">
            <a:spAutoFit/>
          </a:bodyPr>
          <a:lstStyle/>
          <a:p>
            <a:pPr marL="388622" lvl="1" indent="-194311" algn="ctr">
              <a:lnSpc>
                <a:spcPts val="2520"/>
              </a:lnSpc>
              <a:buFont typeface="Arial"/>
              <a:buChar char="•"/>
            </a:pPr>
            <a:r>
              <a:rPr lang="en-US" sz="1800" u="sng">
                <a:solidFill>
                  <a:srgbClr val="000000"/>
                </a:solidFill>
                <a:latin typeface="Canva Sans"/>
                <a:ea typeface="Canva Sans"/>
                <a:cs typeface="Canva Sans"/>
                <a:sym typeface="Canva Sans"/>
                <a:hlinkClick r:id="rId4" tooltip="https://skillsbuild.org/adult-learners/explore-learning/web-developer"/>
              </a:rPr>
              <a:t>IBM Skillbuild, Web Development Fundamentals</a:t>
            </a:r>
          </a:p>
        </p:txBody>
      </p:sp>
      <p:sp>
        <p:nvSpPr>
          <p:cNvPr id="22" name="TextBox 22"/>
          <p:cNvSpPr txBox="1"/>
          <p:nvPr/>
        </p:nvSpPr>
        <p:spPr>
          <a:xfrm>
            <a:off x="507901" y="4571999"/>
            <a:ext cx="5435699" cy="300082"/>
          </a:xfrm>
          <a:prstGeom prst="rect">
            <a:avLst/>
          </a:prstGeom>
        </p:spPr>
        <p:txBody>
          <a:bodyPr wrap="square" lIns="0" tIns="0" rIns="0" bIns="0" rtlCol="0" anchor="t">
            <a:spAutoFit/>
          </a:bodyPr>
          <a:lstStyle/>
          <a:p>
            <a:pPr marL="388622" lvl="1" indent="-194311">
              <a:lnSpc>
                <a:spcPts val="2520"/>
              </a:lnSpc>
              <a:buFont typeface="Arial"/>
              <a:buChar char="•"/>
            </a:pPr>
            <a:r>
              <a:rPr lang="en-US" sz="1800" u="sng" dirty="0">
                <a:solidFill>
                  <a:srgbClr val="000000"/>
                </a:solidFill>
                <a:latin typeface="Canva Sans"/>
                <a:ea typeface="Canva Sans"/>
                <a:cs typeface="Canva Sans"/>
                <a:sym typeface="Canva Sans"/>
                <a:hlinkClick r:id="rId5" tooltip="https://github.com/Facelessism/CODSOFT"/>
              </a:rPr>
              <a:t>My </a:t>
            </a:r>
            <a:r>
              <a:rPr lang="en-US" sz="1800" u="sng" dirty="0" err="1">
                <a:solidFill>
                  <a:srgbClr val="000000"/>
                </a:solidFill>
                <a:latin typeface="Canva Sans"/>
                <a:ea typeface="Canva Sans"/>
                <a:cs typeface="Canva Sans"/>
                <a:sym typeface="Canva Sans"/>
                <a:hlinkClick r:id="rId5" tooltip="https://github.com/Facelessism/CODSOFT"/>
              </a:rPr>
              <a:t>GitHub</a:t>
            </a:r>
            <a:r>
              <a:rPr lang="en-US" sz="1800" u="sng" dirty="0">
                <a:solidFill>
                  <a:srgbClr val="000000"/>
                </a:solidFill>
                <a:latin typeface="Canva Sans"/>
                <a:ea typeface="Canva Sans"/>
                <a:cs typeface="Canva Sans"/>
                <a:sym typeface="Canva Sans"/>
                <a:hlinkClick r:id="rId5" tooltip="https://github.com/Facelessism/CODSOFT"/>
              </a:rPr>
              <a:t> Repository</a:t>
            </a: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0640" y="6786880"/>
            <a:ext cx="9834880" cy="81280"/>
            <a:chOff x="0" y="0"/>
            <a:chExt cx="13113173" cy="108373"/>
          </a:xfrm>
        </p:grpSpPr>
        <p:sp>
          <p:nvSpPr>
            <p:cNvPr id="3" name="Freeform 3"/>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4" name="Group 4"/>
          <p:cNvGrpSpPr>
            <a:grpSpLocks noChangeAspect="1"/>
          </p:cNvGrpSpPr>
          <p:nvPr/>
        </p:nvGrpSpPr>
        <p:grpSpPr>
          <a:xfrm>
            <a:off x="9022080" y="15031"/>
            <a:ext cx="731520" cy="716489"/>
            <a:chOff x="0" y="0"/>
            <a:chExt cx="975360" cy="955318"/>
          </a:xfrm>
        </p:grpSpPr>
        <p:sp>
          <p:nvSpPr>
            <p:cNvPr id="5" name="Freeform 5"/>
            <p:cNvSpPr/>
            <p:nvPr/>
          </p:nvSpPr>
          <p:spPr>
            <a:xfrm>
              <a:off x="0" y="0"/>
              <a:ext cx="975360" cy="955294"/>
            </a:xfrm>
            <a:custGeom>
              <a:avLst/>
              <a:gdLst/>
              <a:ahLst/>
              <a:cxnLst/>
              <a:rect l="l" t="t" r="r" b="b"/>
              <a:pathLst>
                <a:path w="975360" h="955294">
                  <a:moveTo>
                    <a:pt x="0" y="0"/>
                  </a:moveTo>
                  <a:lnTo>
                    <a:pt x="975360" y="0"/>
                  </a:lnTo>
                  <a:lnTo>
                    <a:pt x="975360" y="955294"/>
                  </a:lnTo>
                  <a:lnTo>
                    <a:pt x="0" y="955294"/>
                  </a:lnTo>
                  <a:lnTo>
                    <a:pt x="0" y="0"/>
                  </a:lnTo>
                  <a:close/>
                </a:path>
              </a:pathLst>
            </a:custGeom>
            <a:blipFill>
              <a:blip r:embed="rId2"/>
              <a:stretch>
                <a:fillRect b="-2"/>
              </a:stretch>
            </a:blipFill>
          </p:spPr>
        </p:sp>
      </p:grpSp>
      <p:grpSp>
        <p:nvGrpSpPr>
          <p:cNvPr id="6" name="Group 6"/>
          <p:cNvGrpSpPr/>
          <p:nvPr/>
        </p:nvGrpSpPr>
        <p:grpSpPr>
          <a:xfrm>
            <a:off x="0" y="731520"/>
            <a:ext cx="492443" cy="6583680"/>
            <a:chOff x="0" y="0"/>
            <a:chExt cx="656590" cy="8778240"/>
          </a:xfrm>
        </p:grpSpPr>
        <p:grpSp>
          <p:nvGrpSpPr>
            <p:cNvPr id="7" name="Group 7"/>
            <p:cNvGrpSpPr/>
            <p:nvPr/>
          </p:nvGrpSpPr>
          <p:grpSpPr>
            <a:xfrm>
              <a:off x="0" y="0"/>
              <a:ext cx="656590" cy="8778240"/>
              <a:chOff x="0" y="0"/>
              <a:chExt cx="656590" cy="8778240"/>
            </a:xfrm>
          </p:grpSpPr>
          <p:sp>
            <p:nvSpPr>
              <p:cNvPr id="8" name="Freeform 8"/>
              <p:cNvSpPr/>
              <p:nvPr/>
            </p:nvSpPr>
            <p:spPr>
              <a:xfrm>
                <a:off x="0" y="0"/>
                <a:ext cx="656590" cy="8778240"/>
              </a:xfrm>
              <a:custGeom>
                <a:avLst/>
                <a:gdLst/>
                <a:ahLst/>
                <a:cxnLst/>
                <a:rect l="l" t="t" r="r" b="b"/>
                <a:pathLst>
                  <a:path w="656590" h="8778240">
                    <a:moveTo>
                      <a:pt x="0" y="0"/>
                    </a:moveTo>
                    <a:lnTo>
                      <a:pt x="656590" y="0"/>
                    </a:lnTo>
                    <a:lnTo>
                      <a:pt x="656590" y="8778240"/>
                    </a:lnTo>
                    <a:lnTo>
                      <a:pt x="0" y="8778240"/>
                    </a:lnTo>
                    <a:close/>
                  </a:path>
                </a:pathLst>
              </a:custGeom>
              <a:solidFill>
                <a:srgbClr val="191966"/>
              </a:solidFill>
            </p:spPr>
          </p:sp>
          <p:sp>
            <p:nvSpPr>
              <p:cNvPr id="9" name="Freeform 9"/>
              <p:cNvSpPr/>
              <p:nvPr/>
            </p:nvSpPr>
            <p:spPr>
              <a:xfrm>
                <a:off x="-1524" y="-1524"/>
                <a:ext cx="659638" cy="8781288"/>
              </a:xfrm>
              <a:custGeom>
                <a:avLst/>
                <a:gdLst/>
                <a:ahLst/>
                <a:cxnLst/>
                <a:rect l="l" t="t" r="r" b="b"/>
                <a:pathLst>
                  <a:path w="659638" h="8781288">
                    <a:moveTo>
                      <a:pt x="1524" y="0"/>
                    </a:moveTo>
                    <a:lnTo>
                      <a:pt x="658114" y="0"/>
                    </a:lnTo>
                    <a:cubicBezTo>
                      <a:pt x="659003" y="0"/>
                      <a:pt x="659638" y="762"/>
                      <a:pt x="659638" y="1524"/>
                    </a:cubicBezTo>
                    <a:lnTo>
                      <a:pt x="659638" y="8779764"/>
                    </a:lnTo>
                    <a:cubicBezTo>
                      <a:pt x="659638" y="8780653"/>
                      <a:pt x="658876" y="8781288"/>
                      <a:pt x="658114" y="8781288"/>
                    </a:cubicBezTo>
                    <a:lnTo>
                      <a:pt x="1524" y="8781288"/>
                    </a:lnTo>
                    <a:cubicBezTo>
                      <a:pt x="635" y="8781288"/>
                      <a:pt x="0" y="8780526"/>
                      <a:pt x="0" y="8779764"/>
                    </a:cubicBezTo>
                    <a:lnTo>
                      <a:pt x="0" y="1524"/>
                    </a:lnTo>
                    <a:cubicBezTo>
                      <a:pt x="0" y="635"/>
                      <a:pt x="762" y="0"/>
                      <a:pt x="1524" y="0"/>
                    </a:cubicBezTo>
                    <a:moveTo>
                      <a:pt x="1524" y="3048"/>
                    </a:moveTo>
                    <a:lnTo>
                      <a:pt x="1524" y="1524"/>
                    </a:lnTo>
                    <a:lnTo>
                      <a:pt x="3048" y="1524"/>
                    </a:lnTo>
                    <a:lnTo>
                      <a:pt x="3048" y="8779764"/>
                    </a:lnTo>
                    <a:lnTo>
                      <a:pt x="1524" y="8779764"/>
                    </a:lnTo>
                    <a:lnTo>
                      <a:pt x="1524" y="8778240"/>
                    </a:lnTo>
                    <a:lnTo>
                      <a:pt x="658114" y="8778240"/>
                    </a:lnTo>
                    <a:lnTo>
                      <a:pt x="658114" y="8779764"/>
                    </a:lnTo>
                    <a:lnTo>
                      <a:pt x="656590" y="8779764"/>
                    </a:lnTo>
                    <a:lnTo>
                      <a:pt x="656590" y="1524"/>
                    </a:lnTo>
                    <a:lnTo>
                      <a:pt x="658114" y="1524"/>
                    </a:lnTo>
                    <a:lnTo>
                      <a:pt x="658114" y="3048"/>
                    </a:lnTo>
                    <a:lnTo>
                      <a:pt x="1524" y="3048"/>
                    </a:lnTo>
                    <a:close/>
                  </a:path>
                </a:pathLst>
              </a:custGeom>
              <a:solidFill>
                <a:srgbClr val="191966"/>
              </a:solidFill>
            </p:spPr>
          </p:sp>
        </p:grpSp>
        <p:sp>
          <p:nvSpPr>
            <p:cNvPr id="10" name="TextBox 10"/>
            <p:cNvSpPr txBox="1"/>
            <p:nvPr/>
          </p:nvSpPr>
          <p:spPr>
            <a:xfrm rot="-5400000">
              <a:off x="-3948430" y="4112260"/>
              <a:ext cx="8656320" cy="431800"/>
            </a:xfrm>
            <a:prstGeom prst="rect">
              <a:avLst/>
            </a:prstGeom>
          </p:spPr>
          <p:txBody>
            <a:bodyPr lIns="0" tIns="0" rIns="0" bIns="0" rtlCol="0" anchor="t">
              <a:spAutoFit/>
            </a:bodyPr>
            <a:lstStyle/>
            <a:p>
              <a:pPr algn="ctr">
                <a:lnSpc>
                  <a:spcPts val="2304"/>
                </a:lnSpc>
              </a:pPr>
              <a:r>
                <a:rPr lang="en-US" sz="1920" b="1">
                  <a:solidFill>
                    <a:srgbClr val="FFFFFF"/>
                  </a:solidFill>
                  <a:latin typeface="Arial Bold"/>
                  <a:ea typeface="Arial Bold"/>
                  <a:cs typeface="Arial Bold"/>
                  <a:sym typeface="Arial Bold"/>
                </a:rPr>
                <a:t>Parala Maharaja Engineering College</a:t>
              </a:r>
            </a:p>
          </p:txBody>
        </p:sp>
      </p:grpSp>
      <p:grpSp>
        <p:nvGrpSpPr>
          <p:cNvPr id="11" name="Group 11"/>
          <p:cNvGrpSpPr/>
          <p:nvPr/>
        </p:nvGrpSpPr>
        <p:grpSpPr>
          <a:xfrm>
            <a:off x="-40640" y="690880"/>
            <a:ext cx="9834880" cy="81280"/>
            <a:chOff x="0" y="0"/>
            <a:chExt cx="13113173" cy="108373"/>
          </a:xfrm>
        </p:grpSpPr>
        <p:sp>
          <p:nvSpPr>
            <p:cNvPr id="12" name="Freeform 12"/>
            <p:cNvSpPr/>
            <p:nvPr/>
          </p:nvSpPr>
          <p:spPr>
            <a:xfrm>
              <a:off x="54229" y="0"/>
              <a:ext cx="13004800" cy="108331"/>
            </a:xfrm>
            <a:custGeom>
              <a:avLst/>
              <a:gdLst/>
              <a:ahLst/>
              <a:cxnLst/>
              <a:rect l="l" t="t" r="r" b="b"/>
              <a:pathLst>
                <a:path w="13004800" h="108331">
                  <a:moveTo>
                    <a:pt x="0" y="0"/>
                  </a:moveTo>
                  <a:lnTo>
                    <a:pt x="13004800" y="0"/>
                  </a:lnTo>
                  <a:lnTo>
                    <a:pt x="13004800" y="108331"/>
                  </a:lnTo>
                  <a:lnTo>
                    <a:pt x="0" y="108331"/>
                  </a:lnTo>
                  <a:close/>
                </a:path>
              </a:pathLst>
            </a:custGeom>
            <a:solidFill>
              <a:srgbClr val="191966"/>
            </a:solidFill>
          </p:spPr>
        </p:sp>
      </p:grpSp>
      <p:grpSp>
        <p:nvGrpSpPr>
          <p:cNvPr id="13" name="Group 13"/>
          <p:cNvGrpSpPr/>
          <p:nvPr/>
        </p:nvGrpSpPr>
        <p:grpSpPr>
          <a:xfrm>
            <a:off x="487680" y="6908800"/>
            <a:ext cx="8453120" cy="406400"/>
            <a:chOff x="0" y="0"/>
            <a:chExt cx="11270827" cy="541867"/>
          </a:xfrm>
        </p:grpSpPr>
        <p:sp>
          <p:nvSpPr>
            <p:cNvPr id="14" name="Freeform 14"/>
            <p:cNvSpPr/>
            <p:nvPr/>
          </p:nvSpPr>
          <p:spPr>
            <a:xfrm>
              <a:off x="0" y="0"/>
              <a:ext cx="11270827" cy="541867"/>
            </a:xfrm>
            <a:custGeom>
              <a:avLst/>
              <a:gdLst/>
              <a:ahLst/>
              <a:cxnLst/>
              <a:rect l="l" t="t" r="r" b="b"/>
              <a:pathLst>
                <a:path w="11270827" h="541867">
                  <a:moveTo>
                    <a:pt x="0" y="0"/>
                  </a:moveTo>
                  <a:lnTo>
                    <a:pt x="11270827" y="0"/>
                  </a:lnTo>
                  <a:lnTo>
                    <a:pt x="11270827" y="541867"/>
                  </a:lnTo>
                  <a:lnTo>
                    <a:pt x="0" y="541867"/>
                  </a:lnTo>
                  <a:close/>
                </a:path>
              </a:pathLst>
            </a:custGeom>
            <a:solidFill>
              <a:srgbClr val="000000">
                <a:alpha val="0"/>
              </a:srgbClr>
            </a:solidFill>
          </p:spPr>
        </p:sp>
        <p:sp>
          <p:nvSpPr>
            <p:cNvPr id="15" name="TextBox 15"/>
            <p:cNvSpPr txBox="1"/>
            <p:nvPr/>
          </p:nvSpPr>
          <p:spPr>
            <a:xfrm>
              <a:off x="0" y="-19050"/>
              <a:ext cx="11270827" cy="560917"/>
            </a:xfrm>
            <a:prstGeom prst="rect">
              <a:avLst/>
            </a:prstGeom>
          </p:spPr>
          <p:txBody>
            <a:bodyPr lIns="0" tIns="0" rIns="0" bIns="0" rtlCol="0" anchor="ctr"/>
            <a:lstStyle/>
            <a:p>
              <a:pPr algn="l">
                <a:lnSpc>
                  <a:spcPts val="2304"/>
                </a:lnSpc>
              </a:pPr>
              <a:r>
                <a:rPr lang="en-US" sz="1920" b="1">
                  <a:solidFill>
                    <a:srgbClr val="191966"/>
                  </a:solidFill>
                  <a:latin typeface="Arial Bold"/>
                  <a:ea typeface="Arial Bold"/>
                  <a:cs typeface="Arial Bold"/>
                  <a:sym typeface="Arial Bold"/>
                </a:rPr>
                <a:t>Mr.Bighna Raj Bhattamishra (Regd.No. 2301109379)</a:t>
              </a:r>
            </a:p>
          </p:txBody>
        </p:sp>
      </p:grpSp>
      <p:sp>
        <p:nvSpPr>
          <p:cNvPr id="16" name="TextBox 16"/>
          <p:cNvSpPr txBox="1"/>
          <p:nvPr/>
        </p:nvSpPr>
        <p:spPr>
          <a:xfrm>
            <a:off x="8625840" y="6873240"/>
            <a:ext cx="1036320" cy="381000"/>
          </a:xfrm>
          <a:prstGeom prst="rect">
            <a:avLst/>
          </a:prstGeom>
        </p:spPr>
        <p:txBody>
          <a:bodyPr lIns="0" tIns="0" rIns="0" bIns="0" rtlCol="0" anchor="t">
            <a:spAutoFit/>
          </a:bodyPr>
          <a:lstStyle/>
          <a:p>
            <a:pPr algn="l">
              <a:lnSpc>
                <a:spcPts val="3071"/>
              </a:lnSpc>
            </a:pPr>
            <a:r>
              <a:rPr lang="en-US" sz="2559" b="1">
                <a:solidFill>
                  <a:srgbClr val="191966"/>
                </a:solidFill>
                <a:latin typeface="Tahoma Bold"/>
                <a:ea typeface="Tahoma Bold"/>
                <a:cs typeface="Tahoma Bold"/>
                <a:sym typeface="Tahoma Bold"/>
              </a:rPr>
              <a:t>[‹19›]</a:t>
            </a:r>
          </a:p>
        </p:txBody>
      </p:sp>
      <p:grpSp>
        <p:nvGrpSpPr>
          <p:cNvPr id="17" name="Group 17"/>
          <p:cNvGrpSpPr/>
          <p:nvPr/>
        </p:nvGrpSpPr>
        <p:grpSpPr>
          <a:xfrm>
            <a:off x="0" y="0"/>
            <a:ext cx="9753600" cy="731520"/>
            <a:chOff x="0" y="0"/>
            <a:chExt cx="13004800" cy="975360"/>
          </a:xfrm>
        </p:grpSpPr>
        <p:sp>
          <p:nvSpPr>
            <p:cNvPr id="18" name="Freeform 18"/>
            <p:cNvSpPr/>
            <p:nvPr/>
          </p:nvSpPr>
          <p:spPr>
            <a:xfrm>
              <a:off x="0" y="0"/>
              <a:ext cx="13004800" cy="975360"/>
            </a:xfrm>
            <a:custGeom>
              <a:avLst/>
              <a:gdLst/>
              <a:ahLst/>
              <a:cxnLst/>
              <a:rect l="l" t="t" r="r" b="b"/>
              <a:pathLst>
                <a:path w="13004800" h="975360">
                  <a:moveTo>
                    <a:pt x="0" y="0"/>
                  </a:moveTo>
                  <a:lnTo>
                    <a:pt x="13004800" y="0"/>
                  </a:lnTo>
                  <a:lnTo>
                    <a:pt x="13004800" y="975360"/>
                  </a:lnTo>
                  <a:lnTo>
                    <a:pt x="0" y="975360"/>
                  </a:lnTo>
                  <a:close/>
                </a:path>
              </a:pathLst>
            </a:custGeom>
            <a:solidFill>
              <a:srgbClr val="000000">
                <a:alpha val="0"/>
              </a:srgbClr>
            </a:solidFill>
          </p:spPr>
        </p:sp>
        <p:sp>
          <p:nvSpPr>
            <p:cNvPr id="19" name="TextBox 19"/>
            <p:cNvSpPr txBox="1"/>
            <p:nvPr/>
          </p:nvSpPr>
          <p:spPr>
            <a:xfrm>
              <a:off x="0" y="-19050"/>
              <a:ext cx="13004800" cy="994410"/>
            </a:xfrm>
            <a:prstGeom prst="rect">
              <a:avLst/>
            </a:prstGeom>
          </p:spPr>
          <p:txBody>
            <a:bodyPr lIns="0" tIns="0" rIns="0" bIns="0" rtlCol="0" anchor="ctr"/>
            <a:lstStyle/>
            <a:p>
              <a:pPr algn="l">
                <a:lnSpc>
                  <a:spcPts val="2304"/>
                </a:lnSpc>
              </a:pPr>
              <a:r>
                <a:rPr lang="en-US" sz="1920">
                  <a:solidFill>
                    <a:srgbClr val="191966"/>
                  </a:solidFill>
                  <a:latin typeface="Arial"/>
                  <a:ea typeface="Arial"/>
                  <a:cs typeface="Arial"/>
                  <a:sym typeface="Arial"/>
                </a:rPr>
                <a:t>TECHNICAL SEMINAR PRESENTATION-2025 </a:t>
              </a:r>
            </a:p>
          </p:txBody>
        </p:sp>
      </p:grpSp>
      <p:sp>
        <p:nvSpPr>
          <p:cNvPr id="20" name="TextBox 20"/>
          <p:cNvSpPr txBox="1"/>
          <p:nvPr/>
        </p:nvSpPr>
        <p:spPr>
          <a:xfrm>
            <a:off x="660400" y="3143885"/>
            <a:ext cx="9001760" cy="1466850"/>
          </a:xfrm>
          <a:prstGeom prst="rect">
            <a:avLst/>
          </a:prstGeom>
        </p:spPr>
        <p:txBody>
          <a:bodyPr lIns="0" tIns="0" rIns="0" bIns="0" rtlCol="0" anchor="t">
            <a:spAutoFit/>
          </a:bodyPr>
          <a:lstStyle/>
          <a:p>
            <a:pPr algn="ctr">
              <a:lnSpc>
                <a:spcPts val="11687"/>
              </a:lnSpc>
            </a:pPr>
            <a:r>
              <a:rPr lang="en-US" sz="9739">
                <a:solidFill>
                  <a:srgbClr val="0070C0"/>
                </a:solidFill>
                <a:latin typeface="Abril Fatface"/>
                <a:ea typeface="Abril Fatface"/>
                <a:cs typeface="Abril Fatface"/>
                <a:sym typeface="Abril Fatface"/>
              </a:rPr>
              <a:t>THANK YOU</a:t>
            </a:r>
          </a:p>
        </p:txBody>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2861</Words>
  <Application>Microsoft Office PowerPoint</Application>
  <PresentationFormat>Custom</PresentationFormat>
  <Paragraphs>221</Paragraphs>
  <Slides>19</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19</vt:i4>
      </vt:variant>
    </vt:vector>
  </HeadingPairs>
  <TitlesOfParts>
    <vt:vector size="32" baseType="lpstr">
      <vt:lpstr>Arial</vt:lpstr>
      <vt:lpstr>Arial Bold</vt:lpstr>
      <vt:lpstr>Tahoma Bold</vt:lpstr>
      <vt:lpstr>Canva Sans Bold</vt:lpstr>
      <vt:lpstr>Poppins Bold</vt:lpstr>
      <vt:lpstr>Calibri</vt:lpstr>
      <vt:lpstr>Hammersmith One</vt:lpstr>
      <vt:lpstr>Arimo Bold</vt:lpstr>
      <vt:lpstr>Arimo</vt:lpstr>
      <vt:lpstr>Canva Sans</vt:lpstr>
      <vt:lpstr>Times New Roman</vt:lpstr>
      <vt:lpstr>Abril Fatface</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PPT Format_PMEC 2024.pptx</dc:title>
  <cp:lastModifiedBy>gorachand</cp:lastModifiedBy>
  <cp:revision>5</cp:revision>
  <dcterms:created xsi:type="dcterms:W3CDTF">2006-08-16T00:00:00Z</dcterms:created>
  <dcterms:modified xsi:type="dcterms:W3CDTF">2025-10-17T17:41:03Z</dcterms:modified>
  <dc:identifier>DAG19fkjtzM</dc:identifier>
</cp:coreProperties>
</file>